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8" r:id="rId4"/>
    <p:sldId id="261" r:id="rId6"/>
    <p:sldId id="262" r:id="rId7"/>
    <p:sldId id="289" r:id="rId8"/>
    <p:sldId id="287" r:id="rId9"/>
    <p:sldId id="291" r:id="rId10"/>
    <p:sldId id="292" r:id="rId11"/>
    <p:sldId id="293" r:id="rId12"/>
    <p:sldId id="295" r:id="rId13"/>
    <p:sldId id="294" r:id="rId14"/>
    <p:sldId id="296" r:id="rId15"/>
    <p:sldId id="297" r:id="rId16"/>
    <p:sldId id="284" r:id="rId17"/>
    <p:sldId id="283" r:id="rId18"/>
    <p:sldId id="290" r:id="rId19"/>
    <p:sldId id="269" r:id="rId20"/>
    <p:sldId id="268" r:id="rId21"/>
    <p:sldId id="270" r:id="rId22"/>
    <p:sldId id="271" r:id="rId23"/>
    <p:sldId id="273" r:id="rId24"/>
    <p:sldId id="272" r:id="rId25"/>
    <p:sldId id="263" r:id="rId26"/>
    <p:sldId id="274" r:id="rId27"/>
    <p:sldId id="275" r:id="rId28"/>
    <p:sldId id="276" r:id="rId29"/>
    <p:sldId id="264" r:id="rId30"/>
    <p:sldId id="277" r:id="rId31"/>
    <p:sldId id="278" r:id="rId32"/>
    <p:sldId id="279" r:id="rId33"/>
    <p:sldId id="280" r:id="rId34"/>
    <p:sldId id="281" r:id="rId35"/>
    <p:sldId id="265" r:id="rId36"/>
    <p:sldId id="282" r:id="rId37"/>
    <p:sldId id="266" r:id="rId38"/>
    <p:sldId id="299" r:id="rId39"/>
    <p:sldId id="298" r:id="rId40"/>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71694195" name="猫巷 ° -" initials="猫"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36482"/>
    <a:srgbClr val="ADB9CA"/>
    <a:srgbClr val="BFBFBF"/>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4" autoAdjust="0"/>
    <p:restoredTop sz="94980" autoAdjust="0"/>
  </p:normalViewPr>
  <p:slideViewPr>
    <p:cSldViewPr snapToGrid="0" showGuides="1">
      <p:cViewPr varScale="1">
        <p:scale>
          <a:sx n="93" d="100"/>
          <a:sy n="93" d="100"/>
        </p:scale>
        <p:origin x="88" y="324"/>
      </p:cViewPr>
      <p:guideLst>
        <p:guide orient="horz" pos="218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5" Type="http://schemas.openxmlformats.org/officeDocument/2006/relationships/tags" Target="tags/tag125.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171694195" dt="2024-11-27T19:18:22.219"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8F2A2-17FC-4DFB-856E-7BEAC42EB4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65890-5ECB-4181-9EEB-660B8F0F0DB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D65890-5ECB-4181-9EEB-660B8F0F0DB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
        <p:nvSpPr>
          <p:cNvPr id="11" name="TextBox 10"/>
          <p:cNvSpPr txBox="1"/>
          <p:nvPr userDrawn="1"/>
        </p:nvSpPr>
        <p:spPr>
          <a:xfrm>
            <a:off x="1907704" y="673957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6B962D-FA0A-49C6-9276-26C29FCF77C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4D9A6F4-C2DD-4E07-8026-62CFF7D39E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tile tx="19050" ty="31750" sx="93000" sy="87000" flip="none" algn="tl"/>
        </a:blipFill>
        <a:effectLst/>
      </p:bgPr>
    </p:bg>
    <p:spTree>
      <p:nvGrpSpPr>
        <p:cNvPr id="1" name=""/>
        <p:cNvGrpSpPr/>
        <p:nvPr/>
      </p:nvGrpSpPr>
      <p:grpSpPr>
        <a:xfrm>
          <a:off x="0" y="0"/>
          <a:ext cx="0" cy="0"/>
          <a:chOff x="0" y="0"/>
          <a:chExt cx="0" cy="0"/>
        </a:xfrm>
      </p:grpSpPr>
      <p:grpSp>
        <p:nvGrpSpPr>
          <p:cNvPr id="7" name="组合 6"/>
          <p:cNvGrpSpPr/>
          <p:nvPr userDrawn="1"/>
        </p:nvGrpSpPr>
        <p:grpSpPr>
          <a:xfrm>
            <a:off x="362361" y="362330"/>
            <a:ext cx="3023096" cy="595613"/>
            <a:chOff x="645390" y="362330"/>
            <a:chExt cx="3023096" cy="595613"/>
          </a:xfrm>
        </p:grpSpPr>
        <p:sp>
          <p:nvSpPr>
            <p:cNvPr id="8" name="矩形: 圆角 7"/>
            <p:cNvSpPr/>
            <p:nvPr/>
          </p:nvSpPr>
          <p:spPr>
            <a:xfrm>
              <a:off x="645390" y="362330"/>
              <a:ext cx="3023096" cy="595613"/>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9" name="文本框 8"/>
            <p:cNvSpPr txBox="1"/>
            <p:nvPr/>
          </p:nvSpPr>
          <p:spPr>
            <a:xfrm>
              <a:off x="931256" y="416537"/>
              <a:ext cx="2573944" cy="400110"/>
            </a:xfrm>
            <a:prstGeom prst="rect">
              <a:avLst/>
            </a:prstGeom>
            <a:noFill/>
          </p:spPr>
          <p:txBody>
            <a:bodyPr wrap="square" rtlCol="0">
              <a:spAutoFit/>
            </a:bodyPr>
            <a:lstStyle>
              <a:defPPr>
                <a:defRPr lang="en-US"/>
              </a:defPPr>
              <a:lvl1pPr>
                <a:defRPr sz="2400" spc="300">
                  <a:solidFill>
                    <a:srgbClr val="0033B5"/>
                  </a:solidFill>
                  <a:latin typeface="字魂35号-经典雅黑" panose="00000500000000000000" pitchFamily="2" charset="-122"/>
                  <a:ea typeface="字魂35号-经典雅黑" panose="00000500000000000000" pitchFamily="2" charset="-122"/>
                </a:defRPr>
              </a:lvl1pPr>
            </a:lstStyle>
            <a:p>
              <a:r>
                <a:rPr lang="zh-CN" altLang="en-US" sz="2000" dirty="0">
                  <a:solidFill>
                    <a:srgbClr val="536482"/>
                  </a:solidFill>
                  <a:latin typeface="+mj-ea"/>
                  <a:ea typeface="+mj-ea"/>
                </a:rPr>
                <a:t>现代企业管理模板</a:t>
              </a:r>
              <a:endParaRPr lang="zh-CN" altLang="en-US" sz="2000" dirty="0">
                <a:solidFill>
                  <a:srgbClr val="536482"/>
                </a:solidFill>
                <a:latin typeface="+mj-ea"/>
                <a:ea typeface="+mj-ea"/>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7.xml"/><Relationship Id="rId20" Type="http://schemas.openxmlformats.org/officeDocument/2006/relationships/slideLayout" Target="../slideLayouts/slideLayout8.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9" Type="http://schemas.openxmlformats.org/officeDocument/2006/relationships/notesSlide" Target="../notesSlides/notesSlide9.xml"/><Relationship Id="rId28" Type="http://schemas.openxmlformats.org/officeDocument/2006/relationships/slideLayout" Target="../slideLayouts/slideLayout8.xml"/><Relationship Id="rId27" Type="http://schemas.openxmlformats.org/officeDocument/2006/relationships/tags" Target="../tags/tag40.xml"/><Relationship Id="rId26" Type="http://schemas.openxmlformats.org/officeDocument/2006/relationships/tags" Target="../tags/tag39.xml"/><Relationship Id="rId25" Type="http://schemas.openxmlformats.org/officeDocument/2006/relationships/tags" Target="../tags/tag38.xml"/><Relationship Id="rId24" Type="http://schemas.openxmlformats.org/officeDocument/2006/relationships/tags" Target="../tags/tag37.xml"/><Relationship Id="rId23" Type="http://schemas.openxmlformats.org/officeDocument/2006/relationships/tags" Target="../tags/tag36.xml"/><Relationship Id="rId22" Type="http://schemas.openxmlformats.org/officeDocument/2006/relationships/tags" Target="../tags/tag35.xml"/><Relationship Id="rId21" Type="http://schemas.openxmlformats.org/officeDocument/2006/relationships/tags" Target="../tags/tag34.xml"/><Relationship Id="rId20" Type="http://schemas.openxmlformats.org/officeDocument/2006/relationships/tags" Target="../tags/tag33.xml"/><Relationship Id="rId2" Type="http://schemas.openxmlformats.org/officeDocument/2006/relationships/image" Target="../media/image8.png"/><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microsoft.com/office/2007/relationships/hdphoto" Target="../media/image14.wdp"/><Relationship Id="rId5" Type="http://schemas.openxmlformats.org/officeDocument/2006/relationships/image" Target="../media/image13.png"/><Relationship Id="rId4" Type="http://schemas.openxmlformats.org/officeDocument/2006/relationships/tags" Target="../tags/tag42.xml"/><Relationship Id="rId3" Type="http://schemas.microsoft.com/office/2007/relationships/hdphoto" Target="../media/image12.wdp"/><Relationship Id="rId2" Type="http://schemas.openxmlformats.org/officeDocument/2006/relationships/image" Target="../media/image11.png"/><Relationship Id="rId18" Type="http://schemas.openxmlformats.org/officeDocument/2006/relationships/notesSlide" Target="../notesSlides/notesSlide11.xml"/><Relationship Id="rId17" Type="http://schemas.openxmlformats.org/officeDocument/2006/relationships/slideLayout" Target="../slideLayouts/slideLayout8.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41.xml"/></Relationships>
</file>

<file path=ppt/slides/_rels/slide12.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3" Type="http://schemas.openxmlformats.org/officeDocument/2006/relationships/notesSlide" Target="../notesSlides/notesSlide12.xml"/><Relationship Id="rId12" Type="http://schemas.openxmlformats.org/officeDocument/2006/relationships/slideLayout" Target="../slideLayouts/slideLayout8.xml"/><Relationship Id="rId11" Type="http://schemas.microsoft.com/office/2007/relationships/hdphoto" Target="../media/image16.wdp"/><Relationship Id="rId10" Type="http://schemas.openxmlformats.org/officeDocument/2006/relationships/image" Target="../media/image15.png"/><Relationship Id="rId1" Type="http://schemas.openxmlformats.org/officeDocument/2006/relationships/tags" Target="../tags/tag53.xml"/></Relationships>
</file>

<file path=ppt/slides/_rels/slide13.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microsoft.com/office/2007/relationships/hdphoto" Target="../media/image16.wdp"/><Relationship Id="rId14" Type="http://schemas.openxmlformats.org/officeDocument/2006/relationships/notesSlide" Target="../notesSlides/notesSlide13.xml"/><Relationship Id="rId13" Type="http://schemas.openxmlformats.org/officeDocument/2006/relationships/slideLayout" Target="../slideLayouts/slideLayout8.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microsoft.com/office/2007/relationships/hdphoto" Target="../media/image14.wdp"/><Relationship Id="rId5" Type="http://schemas.openxmlformats.org/officeDocument/2006/relationships/image" Target="../media/image13.png"/><Relationship Id="rId4" Type="http://schemas.openxmlformats.org/officeDocument/2006/relationships/tags" Target="../tags/tag73.xml"/><Relationship Id="rId3" Type="http://schemas.microsoft.com/office/2007/relationships/hdphoto" Target="../media/image12.wdp"/><Relationship Id="rId2" Type="http://schemas.openxmlformats.org/officeDocument/2006/relationships/image" Target="../media/image11.png"/><Relationship Id="rId18" Type="http://schemas.openxmlformats.org/officeDocument/2006/relationships/notesSlide" Target="../notesSlides/notesSlide14.xml"/><Relationship Id="rId17" Type="http://schemas.openxmlformats.org/officeDocument/2006/relationships/slideLayout" Target="../slideLayouts/slideLayout8.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72.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image" Target="../media/image22.png"/><Relationship Id="rId8" Type="http://schemas.microsoft.com/office/2007/relationships/hdphoto" Target="../media/image21.wdp"/><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18.png"/><Relationship Id="rId3" Type="http://schemas.openxmlformats.org/officeDocument/2006/relationships/image" Target="../media/image4.png"/><Relationship Id="rId2" Type="http://schemas.openxmlformats.org/officeDocument/2006/relationships/image" Target="../media/image17.png"/><Relationship Id="rId14" Type="http://schemas.openxmlformats.org/officeDocument/2006/relationships/notesSlide" Target="../notesSlides/notesSlide16.xml"/><Relationship Id="rId13" Type="http://schemas.openxmlformats.org/officeDocument/2006/relationships/slideLayout" Target="../slideLayouts/slideLayout8.xml"/><Relationship Id="rId12" Type="http://schemas.microsoft.com/office/2007/relationships/hdphoto" Target="../media/image25.wdp"/><Relationship Id="rId11" Type="http://schemas.openxmlformats.org/officeDocument/2006/relationships/image" Target="../media/image24.png"/><Relationship Id="rId10" Type="http://schemas.microsoft.com/office/2007/relationships/hdphoto" Target="../media/image23.wdp"/><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8" Type="http://schemas.openxmlformats.org/officeDocument/2006/relationships/comments" Target="../comments/comment1.xml"/><Relationship Id="rId27" Type="http://schemas.openxmlformats.org/officeDocument/2006/relationships/notesSlide" Target="../notesSlides/notesSlide17.xml"/><Relationship Id="rId26" Type="http://schemas.openxmlformats.org/officeDocument/2006/relationships/slideLayout" Target="../slideLayouts/slideLayout8.xml"/><Relationship Id="rId25" Type="http://schemas.openxmlformats.org/officeDocument/2006/relationships/tags" Target="../tags/tag103.xml"/><Relationship Id="rId24" Type="http://schemas.openxmlformats.org/officeDocument/2006/relationships/tags" Target="../tags/tag102.xml"/><Relationship Id="rId23" Type="http://schemas.openxmlformats.org/officeDocument/2006/relationships/tags" Target="../tags/tag101.xml"/><Relationship Id="rId22" Type="http://schemas.openxmlformats.org/officeDocument/2006/relationships/tags" Target="../tags/tag100.xml"/><Relationship Id="rId21" Type="http://schemas.openxmlformats.org/officeDocument/2006/relationships/tags" Target="../tags/tag99.xml"/><Relationship Id="rId20" Type="http://schemas.openxmlformats.org/officeDocument/2006/relationships/tags" Target="../tags/tag98.xml"/><Relationship Id="rId2" Type="http://schemas.openxmlformats.org/officeDocument/2006/relationships/image" Target="../media/image8.png"/><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8.xml"/><Relationship Id="rId2" Type="http://schemas.microsoft.com/office/2007/relationships/hdphoto" Target="../media/image27.wdp"/><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9" Type="http://schemas.openxmlformats.org/officeDocument/2006/relationships/image" Target="../media/image30.png"/><Relationship Id="rId8" Type="http://schemas.microsoft.com/office/2007/relationships/hdphoto" Target="../media/image29.wdp"/><Relationship Id="rId7" Type="http://schemas.openxmlformats.org/officeDocument/2006/relationships/image" Target="../media/image28.png"/><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1" Type="http://schemas.openxmlformats.org/officeDocument/2006/relationships/notesSlide" Target="../notesSlides/notesSlide19.xml"/><Relationship Id="rId10" Type="http://schemas.openxmlformats.org/officeDocument/2006/relationships/slideLayout" Target="../slideLayouts/slideLayout8.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17.png"/><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8.xml"/><Relationship Id="rId2" Type="http://schemas.microsoft.com/office/2007/relationships/hdphoto" Target="../media/image32.wdp"/><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slideLayout" Target="../slideLayouts/slideLayout8.xml"/><Relationship Id="rId7" Type="http://schemas.openxmlformats.org/officeDocument/2006/relationships/image" Target="../media/image4.png"/><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18.png"/><Relationship Id="rId3" Type="http://schemas.openxmlformats.org/officeDocument/2006/relationships/image" Target="../media/image2.png"/><Relationship Id="rId2" Type="http://schemas.microsoft.com/office/2007/relationships/hdphoto" Target="../media/image34.wdp"/><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8.xml"/><Relationship Id="rId4" Type="http://schemas.microsoft.com/office/2007/relationships/hdphoto" Target="../media/image38.wdp"/><Relationship Id="rId3" Type="http://schemas.openxmlformats.org/officeDocument/2006/relationships/image" Target="../media/image37.png"/><Relationship Id="rId2" Type="http://schemas.microsoft.com/office/2007/relationships/hdphoto" Target="../media/image36.wdp"/><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3" Type="http://schemas.openxmlformats.org/officeDocument/2006/relationships/notesSlide" Target="../notesSlides/notesSlide27.xml"/><Relationship Id="rId22" Type="http://schemas.openxmlformats.org/officeDocument/2006/relationships/slideLayout" Target="../slideLayouts/slideLayout8.xml"/><Relationship Id="rId21" Type="http://schemas.openxmlformats.org/officeDocument/2006/relationships/tags" Target="../tags/tag124.xml"/><Relationship Id="rId20" Type="http://schemas.openxmlformats.org/officeDocument/2006/relationships/tags" Target="../tags/tag123.xml"/><Relationship Id="rId2" Type="http://schemas.openxmlformats.org/officeDocument/2006/relationships/tags" Target="../tags/tag105.xml"/><Relationship Id="rId19" Type="http://schemas.openxmlformats.org/officeDocument/2006/relationships/tags" Target="../tags/tag122.xml"/><Relationship Id="rId18" Type="http://schemas.openxmlformats.org/officeDocument/2006/relationships/tags" Target="../tags/tag121.xml"/><Relationship Id="rId17" Type="http://schemas.openxmlformats.org/officeDocument/2006/relationships/tags" Target="../tags/tag120.xml"/><Relationship Id="rId16" Type="http://schemas.openxmlformats.org/officeDocument/2006/relationships/tags" Target="../tags/tag119.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microsoft.com/office/2007/relationships/hdphoto" Target="../media/image29.wdp"/><Relationship Id="rId7" Type="http://schemas.openxmlformats.org/officeDocument/2006/relationships/image" Target="../media/image28.png"/><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0" Type="http://schemas.openxmlformats.org/officeDocument/2006/relationships/notesSlide" Target="../notesSlides/notesSlide28.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8.xml"/><Relationship Id="rId7" Type="http://schemas.microsoft.com/office/2007/relationships/hdphoto" Target="../media/image40.wdp"/><Relationship Id="rId6" Type="http://schemas.openxmlformats.org/officeDocument/2006/relationships/image" Target="../media/image39.png"/><Relationship Id="rId5" Type="http://schemas.openxmlformats.org/officeDocument/2006/relationships/image" Target="../media/image8.png"/><Relationship Id="rId4" Type="http://schemas.openxmlformats.org/officeDocument/2006/relationships/image" Target="../media/image6.png"/><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43.png"/><Relationship Id="rId4" Type="http://schemas.openxmlformats.org/officeDocument/2006/relationships/image" Target="../media/image6.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alphaModFix amt="16000"/>
            <a:lum/>
          </a:blip>
          <a:srcRect/>
          <a:tile tx="0" ty="0" sx="100000" sy="100000" flip="none" algn="tl"/>
        </a:blipFill>
        <a:effectLst/>
      </p:bgPr>
    </p:bg>
    <p:spTree>
      <p:nvGrpSpPr>
        <p:cNvPr id="1" name=""/>
        <p:cNvGrpSpPr/>
        <p:nvPr/>
      </p:nvGrpSpPr>
      <p:grpSpPr>
        <a:xfrm>
          <a:off x="0" y="0"/>
          <a:ext cx="0" cy="0"/>
          <a:chOff x="0" y="0"/>
          <a:chExt cx="0" cy="0"/>
        </a:xfrm>
      </p:grpSpPr>
      <p:grpSp>
        <p:nvGrpSpPr>
          <p:cNvPr id="27" name="组合 26"/>
          <p:cNvGrpSpPr/>
          <p:nvPr/>
        </p:nvGrpSpPr>
        <p:grpSpPr>
          <a:xfrm>
            <a:off x="224643" y="4774774"/>
            <a:ext cx="11900598" cy="3666159"/>
            <a:chOff x="145701" y="4173883"/>
            <a:chExt cx="11900598" cy="3666159"/>
          </a:xfrm>
        </p:grpSpPr>
        <p:pic>
          <p:nvPicPr>
            <p:cNvPr id="22" name="图片 21"/>
            <p:cNvPicPr>
              <a:picLocks noChangeAspect="1"/>
            </p:cNvPicPr>
            <p:nvPr/>
          </p:nvPicPr>
          <p:blipFill>
            <a:blip r:embed="rId2" cstate="screen"/>
            <a:stretch>
              <a:fillRect/>
            </a:stretch>
          </p:blipFill>
          <p:spPr>
            <a:xfrm>
              <a:off x="329613" y="4454433"/>
              <a:ext cx="681514" cy="2426189"/>
            </a:xfrm>
            <a:prstGeom prst="rect">
              <a:avLst/>
            </a:prstGeom>
          </p:spPr>
        </p:pic>
        <p:pic>
          <p:nvPicPr>
            <p:cNvPr id="24" name="图片 23"/>
            <p:cNvPicPr>
              <a:picLocks noChangeAspect="1"/>
            </p:cNvPicPr>
            <p:nvPr/>
          </p:nvPicPr>
          <p:blipFill>
            <a:blip r:embed="rId3" cstate="screen"/>
            <a:stretch>
              <a:fillRect/>
            </a:stretch>
          </p:blipFill>
          <p:spPr>
            <a:xfrm>
              <a:off x="145701" y="5303520"/>
              <a:ext cx="349913" cy="1554480"/>
            </a:xfrm>
            <a:prstGeom prst="rect">
              <a:avLst/>
            </a:prstGeom>
          </p:spPr>
        </p:pic>
        <p:pic>
          <p:nvPicPr>
            <p:cNvPr id="26" name="图片 25"/>
            <p:cNvPicPr>
              <a:picLocks noChangeAspect="1"/>
            </p:cNvPicPr>
            <p:nvPr/>
          </p:nvPicPr>
          <p:blipFill>
            <a:blip r:embed="rId4" cstate="screen"/>
            <a:stretch>
              <a:fillRect/>
            </a:stretch>
          </p:blipFill>
          <p:spPr>
            <a:xfrm>
              <a:off x="1306037" y="4797571"/>
              <a:ext cx="523156" cy="2060429"/>
            </a:xfrm>
            <a:prstGeom prst="rect">
              <a:avLst/>
            </a:prstGeom>
          </p:spPr>
        </p:pic>
        <p:pic>
          <p:nvPicPr>
            <p:cNvPr id="32" name="图片 31"/>
            <p:cNvPicPr>
              <a:picLocks noChangeAspect="1"/>
            </p:cNvPicPr>
            <p:nvPr/>
          </p:nvPicPr>
          <p:blipFill>
            <a:blip r:embed="rId5" cstate="screen"/>
            <a:stretch>
              <a:fillRect/>
            </a:stretch>
          </p:blipFill>
          <p:spPr>
            <a:xfrm>
              <a:off x="2124104" y="5812970"/>
              <a:ext cx="235236" cy="1045029"/>
            </a:xfrm>
            <a:prstGeom prst="rect">
              <a:avLst/>
            </a:prstGeom>
          </p:spPr>
        </p:pic>
        <p:pic>
          <p:nvPicPr>
            <p:cNvPr id="33" name="图片 32"/>
            <p:cNvPicPr>
              <a:picLocks noChangeAspect="1"/>
            </p:cNvPicPr>
            <p:nvPr/>
          </p:nvPicPr>
          <p:blipFill>
            <a:blip r:embed="rId6" cstate="screen"/>
            <a:stretch>
              <a:fillRect/>
            </a:stretch>
          </p:blipFill>
          <p:spPr>
            <a:xfrm>
              <a:off x="2465023" y="4557474"/>
              <a:ext cx="523155" cy="2324101"/>
            </a:xfrm>
            <a:prstGeom prst="rect">
              <a:avLst/>
            </a:prstGeom>
          </p:spPr>
        </p:pic>
        <p:pic>
          <p:nvPicPr>
            <p:cNvPr id="34" name="图片 33"/>
            <p:cNvPicPr>
              <a:picLocks noChangeAspect="1"/>
            </p:cNvPicPr>
            <p:nvPr/>
          </p:nvPicPr>
          <p:blipFill>
            <a:blip r:embed="rId4" cstate="screen"/>
            <a:stretch>
              <a:fillRect/>
            </a:stretch>
          </p:blipFill>
          <p:spPr>
            <a:xfrm>
              <a:off x="3255264" y="4173883"/>
              <a:ext cx="681514" cy="2684116"/>
            </a:xfrm>
            <a:prstGeom prst="rect">
              <a:avLst/>
            </a:prstGeom>
          </p:spPr>
        </p:pic>
        <p:pic>
          <p:nvPicPr>
            <p:cNvPr id="35" name="图片 34"/>
            <p:cNvPicPr>
              <a:picLocks noChangeAspect="1"/>
            </p:cNvPicPr>
            <p:nvPr/>
          </p:nvPicPr>
          <p:blipFill>
            <a:blip r:embed="rId6" cstate="screen"/>
            <a:stretch>
              <a:fillRect/>
            </a:stretch>
          </p:blipFill>
          <p:spPr>
            <a:xfrm>
              <a:off x="4080322" y="5515941"/>
              <a:ext cx="523155" cy="2324101"/>
            </a:xfrm>
            <a:prstGeom prst="rect">
              <a:avLst/>
            </a:prstGeom>
          </p:spPr>
        </p:pic>
        <p:pic>
          <p:nvPicPr>
            <p:cNvPr id="36" name="图片 35"/>
            <p:cNvPicPr>
              <a:picLocks noChangeAspect="1"/>
            </p:cNvPicPr>
            <p:nvPr/>
          </p:nvPicPr>
          <p:blipFill>
            <a:blip r:embed="rId4"/>
            <a:stretch>
              <a:fillRect/>
            </a:stretch>
          </p:blipFill>
          <p:spPr>
            <a:xfrm>
              <a:off x="4603477" y="4425404"/>
              <a:ext cx="816077" cy="3214087"/>
            </a:xfrm>
            <a:prstGeom prst="rect">
              <a:avLst/>
            </a:prstGeom>
          </p:spPr>
        </p:pic>
        <p:pic>
          <p:nvPicPr>
            <p:cNvPr id="37" name="图片 36"/>
            <p:cNvPicPr>
              <a:picLocks noChangeAspect="1"/>
            </p:cNvPicPr>
            <p:nvPr/>
          </p:nvPicPr>
          <p:blipFill>
            <a:blip r:embed="rId7" cstate="screen"/>
            <a:stretch>
              <a:fillRect/>
            </a:stretch>
          </p:blipFill>
          <p:spPr>
            <a:xfrm>
              <a:off x="5252314" y="5303520"/>
              <a:ext cx="443307" cy="1578173"/>
            </a:xfrm>
            <a:prstGeom prst="rect">
              <a:avLst/>
            </a:prstGeom>
          </p:spPr>
        </p:pic>
        <p:pic>
          <p:nvPicPr>
            <p:cNvPr id="38" name="图片 37"/>
            <p:cNvPicPr>
              <a:picLocks noChangeAspect="1"/>
            </p:cNvPicPr>
            <p:nvPr/>
          </p:nvPicPr>
          <p:blipFill>
            <a:blip r:embed="rId2" cstate="screen"/>
            <a:stretch>
              <a:fillRect/>
            </a:stretch>
          </p:blipFill>
          <p:spPr>
            <a:xfrm>
              <a:off x="8443949" y="4395407"/>
              <a:ext cx="687984" cy="2449223"/>
            </a:xfrm>
            <a:prstGeom prst="rect">
              <a:avLst/>
            </a:prstGeom>
          </p:spPr>
        </p:pic>
        <p:pic>
          <p:nvPicPr>
            <p:cNvPr id="39" name="图片 38"/>
            <p:cNvPicPr>
              <a:picLocks noChangeAspect="1"/>
            </p:cNvPicPr>
            <p:nvPr/>
          </p:nvPicPr>
          <p:blipFill>
            <a:blip r:embed="rId4" cstate="screen"/>
            <a:stretch>
              <a:fillRect/>
            </a:stretch>
          </p:blipFill>
          <p:spPr>
            <a:xfrm>
              <a:off x="5873541" y="4784202"/>
              <a:ext cx="523156" cy="2060429"/>
            </a:xfrm>
            <a:prstGeom prst="rect">
              <a:avLst/>
            </a:prstGeom>
          </p:spPr>
        </p:pic>
        <p:pic>
          <p:nvPicPr>
            <p:cNvPr id="40" name="图片 39"/>
            <p:cNvPicPr>
              <a:picLocks noChangeAspect="1"/>
            </p:cNvPicPr>
            <p:nvPr/>
          </p:nvPicPr>
          <p:blipFill>
            <a:blip r:embed="rId5" cstate="screen"/>
            <a:stretch>
              <a:fillRect/>
            </a:stretch>
          </p:blipFill>
          <p:spPr>
            <a:xfrm>
              <a:off x="6691608" y="5799601"/>
              <a:ext cx="235236" cy="1045029"/>
            </a:xfrm>
            <a:prstGeom prst="rect">
              <a:avLst/>
            </a:prstGeom>
          </p:spPr>
        </p:pic>
        <p:pic>
          <p:nvPicPr>
            <p:cNvPr id="41" name="图片 40"/>
            <p:cNvPicPr>
              <a:picLocks noChangeAspect="1"/>
            </p:cNvPicPr>
            <p:nvPr/>
          </p:nvPicPr>
          <p:blipFill>
            <a:blip r:embed="rId6" cstate="screen"/>
            <a:stretch>
              <a:fillRect/>
            </a:stretch>
          </p:blipFill>
          <p:spPr>
            <a:xfrm>
              <a:off x="7061171" y="4537314"/>
              <a:ext cx="523155" cy="2324101"/>
            </a:xfrm>
            <a:prstGeom prst="rect">
              <a:avLst/>
            </a:prstGeom>
          </p:spPr>
        </p:pic>
        <p:pic>
          <p:nvPicPr>
            <p:cNvPr id="43" name="图片 42"/>
            <p:cNvPicPr>
              <a:picLocks noChangeAspect="1"/>
            </p:cNvPicPr>
            <p:nvPr/>
          </p:nvPicPr>
          <p:blipFill>
            <a:blip r:embed="rId3" cstate="screen"/>
            <a:stretch>
              <a:fillRect/>
            </a:stretch>
          </p:blipFill>
          <p:spPr>
            <a:xfrm>
              <a:off x="8255222" y="5326143"/>
              <a:ext cx="349913" cy="1554480"/>
            </a:xfrm>
            <a:prstGeom prst="rect">
              <a:avLst/>
            </a:prstGeom>
          </p:spPr>
        </p:pic>
        <p:pic>
          <p:nvPicPr>
            <p:cNvPr id="44" name="图片 43"/>
            <p:cNvPicPr>
              <a:picLocks noChangeAspect="1"/>
            </p:cNvPicPr>
            <p:nvPr/>
          </p:nvPicPr>
          <p:blipFill>
            <a:blip r:embed="rId4" cstate="screen"/>
            <a:stretch>
              <a:fillRect/>
            </a:stretch>
          </p:blipFill>
          <p:spPr>
            <a:xfrm>
              <a:off x="9415558" y="4820194"/>
              <a:ext cx="523156" cy="2060429"/>
            </a:xfrm>
            <a:prstGeom prst="rect">
              <a:avLst/>
            </a:prstGeom>
          </p:spPr>
        </p:pic>
        <p:pic>
          <p:nvPicPr>
            <p:cNvPr id="45" name="图片 44"/>
            <p:cNvPicPr>
              <a:picLocks noChangeAspect="1"/>
            </p:cNvPicPr>
            <p:nvPr/>
          </p:nvPicPr>
          <p:blipFill>
            <a:blip r:embed="rId5" cstate="screen"/>
            <a:stretch>
              <a:fillRect/>
            </a:stretch>
          </p:blipFill>
          <p:spPr>
            <a:xfrm>
              <a:off x="10233625" y="5835593"/>
              <a:ext cx="235236" cy="1045029"/>
            </a:xfrm>
            <a:prstGeom prst="rect">
              <a:avLst/>
            </a:prstGeom>
          </p:spPr>
        </p:pic>
        <p:pic>
          <p:nvPicPr>
            <p:cNvPr id="46" name="图片 45"/>
            <p:cNvPicPr>
              <a:picLocks noChangeAspect="1"/>
            </p:cNvPicPr>
            <p:nvPr/>
          </p:nvPicPr>
          <p:blipFill>
            <a:blip r:embed="rId6" cstate="screen"/>
            <a:stretch>
              <a:fillRect/>
            </a:stretch>
          </p:blipFill>
          <p:spPr>
            <a:xfrm>
              <a:off x="10574544" y="4580097"/>
              <a:ext cx="523155" cy="2324101"/>
            </a:xfrm>
            <a:prstGeom prst="rect">
              <a:avLst/>
            </a:prstGeom>
          </p:spPr>
        </p:pic>
        <p:pic>
          <p:nvPicPr>
            <p:cNvPr id="47" name="图片 46"/>
            <p:cNvPicPr>
              <a:picLocks noChangeAspect="1"/>
            </p:cNvPicPr>
            <p:nvPr/>
          </p:nvPicPr>
          <p:blipFill>
            <a:blip r:embed="rId4" cstate="screen"/>
            <a:stretch>
              <a:fillRect/>
            </a:stretch>
          </p:blipFill>
          <p:spPr>
            <a:xfrm>
              <a:off x="11364785" y="4196506"/>
              <a:ext cx="681514" cy="2684116"/>
            </a:xfrm>
            <a:prstGeom prst="rect">
              <a:avLst/>
            </a:prstGeom>
          </p:spPr>
        </p:pic>
        <p:pic>
          <p:nvPicPr>
            <p:cNvPr id="48" name="图片 47"/>
            <p:cNvPicPr>
              <a:picLocks noChangeAspect="1"/>
            </p:cNvPicPr>
            <p:nvPr/>
          </p:nvPicPr>
          <p:blipFill>
            <a:blip r:embed="rId4" cstate="screen"/>
            <a:stretch>
              <a:fillRect/>
            </a:stretch>
          </p:blipFill>
          <p:spPr>
            <a:xfrm>
              <a:off x="7606374" y="5437105"/>
              <a:ext cx="523156" cy="2060429"/>
            </a:xfrm>
            <a:prstGeom prst="rect">
              <a:avLst/>
            </a:prstGeom>
          </p:spPr>
        </p:pic>
      </p:grpSp>
      <p:grpSp>
        <p:nvGrpSpPr>
          <p:cNvPr id="29" name="组合 28"/>
          <p:cNvGrpSpPr/>
          <p:nvPr/>
        </p:nvGrpSpPr>
        <p:grpSpPr>
          <a:xfrm>
            <a:off x="1672602" y="1776446"/>
            <a:ext cx="8846795" cy="3364789"/>
            <a:chOff x="1593660" y="1641553"/>
            <a:chExt cx="8846795" cy="3364789"/>
          </a:xfrm>
        </p:grpSpPr>
        <p:sp>
          <p:nvSpPr>
            <p:cNvPr id="52" name="矩形: 圆角 51"/>
            <p:cNvSpPr/>
            <p:nvPr/>
          </p:nvSpPr>
          <p:spPr>
            <a:xfrm>
              <a:off x="2036020" y="1947380"/>
              <a:ext cx="8003838" cy="1618781"/>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3" name="文本框 72"/>
            <p:cNvSpPr txBox="1"/>
            <p:nvPr/>
          </p:nvSpPr>
          <p:spPr>
            <a:xfrm>
              <a:off x="2514864" y="2311999"/>
              <a:ext cx="7046150" cy="923330"/>
            </a:xfrm>
            <a:prstGeom prst="rect">
              <a:avLst/>
            </a:prstGeom>
            <a:noFill/>
          </p:spPr>
          <p:txBody>
            <a:bodyPr wrap="square" rtlCol="0">
              <a:spAutoFit/>
            </a:bodyPr>
            <a:lstStyle/>
            <a:p>
              <a:pPr algn="ctr"/>
              <a:r>
                <a:rPr lang="zh-CN" altLang="en-US" sz="5400" spc="600" dirty="0">
                  <a:solidFill>
                    <a:srgbClr val="536482"/>
                  </a:solidFill>
                  <a:latin typeface="方正正黑简体" panose="02000000000000000000" pitchFamily="2" charset="-122"/>
                  <a:ea typeface="方正正黑简体" panose="02000000000000000000" pitchFamily="2" charset="-122"/>
                  <a:cs typeface="+mn-ea"/>
                  <a:sym typeface="+mn-lt"/>
                </a:rPr>
                <a:t>李东生的变革领导力</a:t>
              </a:r>
              <a:endParaRPr lang="zh-CN" altLang="en-US" sz="5400" spc="600" dirty="0">
                <a:solidFill>
                  <a:srgbClr val="536482"/>
                </a:solidFill>
                <a:latin typeface="方正正黑简体" panose="02000000000000000000" pitchFamily="2" charset="-122"/>
                <a:ea typeface="方正正黑简体" panose="02000000000000000000" pitchFamily="2" charset="-122"/>
                <a:cs typeface="+mn-ea"/>
                <a:sym typeface="+mn-lt"/>
              </a:endParaRPr>
            </a:p>
          </p:txBody>
        </p:sp>
        <p:sp>
          <p:nvSpPr>
            <p:cNvPr id="55" name="文本框 54"/>
            <p:cNvSpPr txBox="1"/>
            <p:nvPr/>
          </p:nvSpPr>
          <p:spPr>
            <a:xfrm>
              <a:off x="3182855" y="4083012"/>
              <a:ext cx="6269799" cy="923330"/>
            </a:xfrm>
            <a:prstGeom prst="rect">
              <a:avLst/>
            </a:prstGeom>
            <a:noFill/>
          </p:spPr>
          <p:txBody>
            <a:bodyPr wrap="square" rtlCol="0">
              <a:spAutoFit/>
            </a:bodyPr>
            <a:lstStyle/>
            <a:p>
              <a:r>
                <a:rPr lang="zh-CN" altLang="en-US" dirty="0">
                  <a:solidFill>
                    <a:srgbClr val="536482"/>
                  </a:solidFill>
                  <a:cs typeface="+mn-ea"/>
                  <a:sym typeface="+mn-lt"/>
                </a:rPr>
                <a:t>汇报人：管科</a:t>
              </a:r>
              <a:r>
                <a:rPr lang="en-US" altLang="zh-CN" dirty="0">
                  <a:solidFill>
                    <a:srgbClr val="536482"/>
                  </a:solidFill>
                  <a:cs typeface="+mn-ea"/>
                  <a:sym typeface="+mn-lt"/>
                </a:rPr>
                <a:t>1</a:t>
              </a:r>
              <a:r>
                <a:rPr lang="zh-CN" altLang="en-US" dirty="0">
                  <a:solidFill>
                    <a:srgbClr val="536482"/>
                  </a:solidFill>
                  <a:cs typeface="+mn-ea"/>
                  <a:sym typeface="+mn-lt"/>
                </a:rPr>
                <a:t>班     刘一晨      唐岚</a:t>
              </a:r>
              <a:endParaRPr lang="en-US" altLang="zh-CN" dirty="0">
                <a:solidFill>
                  <a:srgbClr val="536482"/>
                </a:solidFill>
                <a:cs typeface="+mn-ea"/>
                <a:sym typeface="+mn-lt"/>
              </a:endParaRPr>
            </a:p>
            <a:p>
              <a:endParaRPr lang="en-US" altLang="zh-CN" dirty="0">
                <a:solidFill>
                  <a:srgbClr val="536482"/>
                </a:solidFill>
                <a:cs typeface="+mn-ea"/>
                <a:sym typeface="+mn-lt"/>
              </a:endParaRPr>
            </a:p>
            <a:p>
              <a:r>
                <a:rPr lang="zh-CN" altLang="en-US" dirty="0">
                  <a:solidFill>
                    <a:srgbClr val="536482"/>
                  </a:solidFill>
                  <a:cs typeface="+mn-ea"/>
                  <a:sym typeface="+mn-lt"/>
                </a:rPr>
                <a:t>汇报时间：</a:t>
              </a:r>
              <a:r>
                <a:rPr lang="en-US" altLang="zh-CN" dirty="0">
                  <a:solidFill>
                    <a:srgbClr val="536482"/>
                  </a:solidFill>
                  <a:cs typeface="+mn-ea"/>
                  <a:sym typeface="+mn-lt"/>
                </a:rPr>
                <a:t>2024</a:t>
              </a:r>
              <a:r>
                <a:rPr lang="zh-CN" altLang="en-US" dirty="0">
                  <a:solidFill>
                    <a:srgbClr val="536482"/>
                  </a:solidFill>
                  <a:cs typeface="+mn-ea"/>
                  <a:sym typeface="+mn-lt"/>
                </a:rPr>
                <a:t>年</a:t>
              </a:r>
              <a:r>
                <a:rPr lang="en-US" altLang="zh-CN" dirty="0">
                  <a:solidFill>
                    <a:srgbClr val="536482"/>
                  </a:solidFill>
                  <a:cs typeface="+mn-ea"/>
                  <a:sym typeface="+mn-lt"/>
                </a:rPr>
                <a:t>12</a:t>
              </a:r>
              <a:r>
                <a:rPr lang="zh-CN" altLang="en-US" dirty="0">
                  <a:solidFill>
                    <a:srgbClr val="536482"/>
                  </a:solidFill>
                  <a:cs typeface="+mn-ea"/>
                  <a:sym typeface="+mn-lt"/>
                </a:rPr>
                <a:t>月</a:t>
              </a:r>
              <a:r>
                <a:rPr lang="en-US" altLang="zh-CN" dirty="0">
                  <a:solidFill>
                    <a:srgbClr val="536482"/>
                  </a:solidFill>
                  <a:cs typeface="+mn-ea"/>
                  <a:sym typeface="+mn-lt"/>
                </a:rPr>
                <a:t>2</a:t>
              </a:r>
              <a:r>
                <a:rPr lang="zh-CN" altLang="en-US" dirty="0">
                  <a:solidFill>
                    <a:srgbClr val="536482"/>
                  </a:solidFill>
                  <a:cs typeface="+mn-ea"/>
                  <a:sym typeface="+mn-lt"/>
                </a:rPr>
                <a:t>号</a:t>
              </a:r>
              <a:endParaRPr lang="zh-CN" altLang="en-US" dirty="0">
                <a:solidFill>
                  <a:srgbClr val="536482"/>
                </a:solidFill>
                <a:cs typeface="+mn-ea"/>
                <a:sym typeface="+mn-lt"/>
              </a:endParaRPr>
            </a:p>
          </p:txBody>
        </p:sp>
        <p:sp>
          <p:nvSpPr>
            <p:cNvPr id="56" name="矩形: 圆角 55"/>
            <p:cNvSpPr/>
            <p:nvPr/>
          </p:nvSpPr>
          <p:spPr>
            <a:xfrm>
              <a:off x="1593660" y="1641553"/>
              <a:ext cx="8846795" cy="2230691"/>
            </a:xfrm>
            <a:prstGeom prst="roundRect">
              <a:avLst>
                <a:gd name="adj" fmla="val 50000"/>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31" name="组合 30"/>
          <p:cNvGrpSpPr/>
          <p:nvPr/>
        </p:nvGrpSpPr>
        <p:grpSpPr>
          <a:xfrm>
            <a:off x="4804384" y="1031269"/>
            <a:ext cx="2583229" cy="426529"/>
            <a:chOff x="4781808" y="1483448"/>
            <a:chExt cx="2988473" cy="493441"/>
          </a:xfrm>
        </p:grpSpPr>
        <p:sp>
          <p:nvSpPr>
            <p:cNvPr id="84" name="六边形 83"/>
            <p:cNvSpPr/>
            <p:nvPr/>
          </p:nvSpPr>
          <p:spPr>
            <a:xfrm>
              <a:off x="4781808"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案</a:t>
              </a:r>
              <a:endParaRPr lang="zh-CN" altLang="en-US" sz="1400" dirty="0">
                <a:cs typeface="+mn-ea"/>
                <a:sym typeface="+mn-lt"/>
              </a:endParaRPr>
            </a:p>
          </p:txBody>
        </p:sp>
        <p:sp>
          <p:nvSpPr>
            <p:cNvPr id="85" name="六边形 84"/>
            <p:cNvSpPr/>
            <p:nvPr/>
          </p:nvSpPr>
          <p:spPr>
            <a:xfrm>
              <a:off x="558716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例</a:t>
              </a:r>
              <a:endParaRPr lang="zh-CN" altLang="en-US" sz="1400" dirty="0">
                <a:cs typeface="+mn-ea"/>
                <a:sym typeface="+mn-lt"/>
              </a:endParaRPr>
            </a:p>
          </p:txBody>
        </p:sp>
        <p:sp>
          <p:nvSpPr>
            <p:cNvPr id="86" name="六边形 85"/>
            <p:cNvSpPr/>
            <p:nvPr/>
          </p:nvSpPr>
          <p:spPr>
            <a:xfrm>
              <a:off x="6392530"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分</a:t>
              </a:r>
              <a:endParaRPr lang="zh-CN" altLang="en-US" sz="1400" dirty="0">
                <a:cs typeface="+mn-ea"/>
                <a:sym typeface="+mn-lt"/>
              </a:endParaRPr>
            </a:p>
          </p:txBody>
        </p:sp>
        <p:sp>
          <p:nvSpPr>
            <p:cNvPr id="87" name="六边形 86"/>
            <p:cNvSpPr/>
            <p:nvPr/>
          </p:nvSpPr>
          <p:spPr>
            <a:xfrm>
              <a:off x="719788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析</a:t>
              </a:r>
              <a:endParaRPr lang="zh-CN" altLang="en-US" sz="14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Vertical)">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0" name="组合 69"/>
          <p:cNvGrpSpPr/>
          <p:nvPr/>
        </p:nvGrpSpPr>
        <p:grpSpPr>
          <a:xfrm>
            <a:off x="1196988" y="376834"/>
            <a:ext cx="9793013" cy="3666159"/>
            <a:chOff x="145701" y="4173883"/>
            <a:chExt cx="9793013" cy="3666159"/>
          </a:xfrm>
        </p:grpSpPr>
        <p:pic>
          <p:nvPicPr>
            <p:cNvPr id="71" name="图片 70"/>
            <p:cNvPicPr>
              <a:picLocks noChangeAspect="1"/>
            </p:cNvPicPr>
            <p:nvPr/>
          </p:nvPicPr>
          <p:blipFill>
            <a:blip r:embed="rId1" cstate="screen"/>
            <a:stretch>
              <a:fillRect/>
            </a:stretch>
          </p:blipFill>
          <p:spPr>
            <a:xfrm>
              <a:off x="329613" y="4454433"/>
              <a:ext cx="681514" cy="2426189"/>
            </a:xfrm>
            <a:prstGeom prst="rect">
              <a:avLst/>
            </a:prstGeom>
          </p:spPr>
        </p:pic>
        <p:pic>
          <p:nvPicPr>
            <p:cNvPr id="72" name="图片 71"/>
            <p:cNvPicPr>
              <a:picLocks noChangeAspect="1"/>
            </p:cNvPicPr>
            <p:nvPr/>
          </p:nvPicPr>
          <p:blipFill>
            <a:blip r:embed="rId2" cstate="screen"/>
            <a:stretch>
              <a:fillRect/>
            </a:stretch>
          </p:blipFill>
          <p:spPr>
            <a:xfrm>
              <a:off x="145701" y="5303520"/>
              <a:ext cx="349913" cy="1554480"/>
            </a:xfrm>
            <a:prstGeom prst="rect">
              <a:avLst/>
            </a:prstGeom>
          </p:spPr>
        </p:pic>
        <p:pic>
          <p:nvPicPr>
            <p:cNvPr id="73" name="图片 72"/>
            <p:cNvPicPr>
              <a:picLocks noChangeAspect="1"/>
            </p:cNvPicPr>
            <p:nvPr/>
          </p:nvPicPr>
          <p:blipFill>
            <a:blip r:embed="rId3" cstate="screen"/>
            <a:stretch>
              <a:fillRect/>
            </a:stretch>
          </p:blipFill>
          <p:spPr>
            <a:xfrm>
              <a:off x="1306037" y="4797571"/>
              <a:ext cx="523156" cy="2060429"/>
            </a:xfrm>
            <a:prstGeom prst="rect">
              <a:avLst/>
            </a:prstGeom>
          </p:spPr>
        </p:pic>
        <p:pic>
          <p:nvPicPr>
            <p:cNvPr id="74" name="图片 73"/>
            <p:cNvPicPr>
              <a:picLocks noChangeAspect="1"/>
            </p:cNvPicPr>
            <p:nvPr/>
          </p:nvPicPr>
          <p:blipFill>
            <a:blip r:embed="rId4" cstate="screen"/>
            <a:stretch>
              <a:fillRect/>
            </a:stretch>
          </p:blipFill>
          <p:spPr>
            <a:xfrm>
              <a:off x="2124104" y="5812970"/>
              <a:ext cx="235236" cy="1045029"/>
            </a:xfrm>
            <a:prstGeom prst="rect">
              <a:avLst/>
            </a:prstGeom>
          </p:spPr>
        </p:pic>
        <p:pic>
          <p:nvPicPr>
            <p:cNvPr id="75" name="图片 74"/>
            <p:cNvPicPr>
              <a:picLocks noChangeAspect="1"/>
            </p:cNvPicPr>
            <p:nvPr/>
          </p:nvPicPr>
          <p:blipFill>
            <a:blip r:embed="rId5" cstate="screen"/>
            <a:stretch>
              <a:fillRect/>
            </a:stretch>
          </p:blipFill>
          <p:spPr>
            <a:xfrm>
              <a:off x="2465023" y="4557474"/>
              <a:ext cx="523155" cy="2324101"/>
            </a:xfrm>
            <a:prstGeom prst="rect">
              <a:avLst/>
            </a:prstGeom>
          </p:spPr>
        </p:pic>
        <p:pic>
          <p:nvPicPr>
            <p:cNvPr id="76" name="图片 75"/>
            <p:cNvPicPr>
              <a:picLocks noChangeAspect="1"/>
            </p:cNvPicPr>
            <p:nvPr/>
          </p:nvPicPr>
          <p:blipFill>
            <a:blip r:embed="rId3" cstate="screen"/>
            <a:stretch>
              <a:fillRect/>
            </a:stretch>
          </p:blipFill>
          <p:spPr>
            <a:xfrm>
              <a:off x="3255264" y="4173883"/>
              <a:ext cx="681514" cy="2684116"/>
            </a:xfrm>
            <a:prstGeom prst="rect">
              <a:avLst/>
            </a:prstGeom>
          </p:spPr>
        </p:pic>
        <p:pic>
          <p:nvPicPr>
            <p:cNvPr id="77" name="图片 76"/>
            <p:cNvPicPr>
              <a:picLocks noChangeAspect="1"/>
            </p:cNvPicPr>
            <p:nvPr/>
          </p:nvPicPr>
          <p:blipFill>
            <a:blip r:embed="rId5" cstate="screen"/>
            <a:stretch>
              <a:fillRect/>
            </a:stretch>
          </p:blipFill>
          <p:spPr>
            <a:xfrm>
              <a:off x="4080322" y="5515941"/>
              <a:ext cx="523155" cy="2324101"/>
            </a:xfrm>
            <a:prstGeom prst="rect">
              <a:avLst/>
            </a:prstGeom>
          </p:spPr>
        </p:pic>
        <p:pic>
          <p:nvPicPr>
            <p:cNvPr id="78" name="图片 77"/>
            <p:cNvPicPr>
              <a:picLocks noChangeAspect="1"/>
            </p:cNvPicPr>
            <p:nvPr/>
          </p:nvPicPr>
          <p:blipFill>
            <a:blip r:embed="rId3"/>
            <a:stretch>
              <a:fillRect/>
            </a:stretch>
          </p:blipFill>
          <p:spPr>
            <a:xfrm>
              <a:off x="4603477" y="4425404"/>
              <a:ext cx="816077" cy="3214087"/>
            </a:xfrm>
            <a:prstGeom prst="rect">
              <a:avLst/>
            </a:prstGeom>
          </p:spPr>
        </p:pic>
        <p:pic>
          <p:nvPicPr>
            <p:cNvPr id="79" name="图片 78"/>
            <p:cNvPicPr>
              <a:picLocks noChangeAspect="1"/>
            </p:cNvPicPr>
            <p:nvPr/>
          </p:nvPicPr>
          <p:blipFill>
            <a:blip r:embed="rId6" cstate="screen"/>
            <a:stretch>
              <a:fillRect/>
            </a:stretch>
          </p:blipFill>
          <p:spPr>
            <a:xfrm>
              <a:off x="5252314" y="5303520"/>
              <a:ext cx="443307" cy="1578173"/>
            </a:xfrm>
            <a:prstGeom prst="rect">
              <a:avLst/>
            </a:prstGeom>
          </p:spPr>
        </p:pic>
        <p:pic>
          <p:nvPicPr>
            <p:cNvPr id="80" name="图片 79"/>
            <p:cNvPicPr>
              <a:picLocks noChangeAspect="1"/>
            </p:cNvPicPr>
            <p:nvPr/>
          </p:nvPicPr>
          <p:blipFill>
            <a:blip r:embed="rId1" cstate="screen"/>
            <a:stretch>
              <a:fillRect/>
            </a:stretch>
          </p:blipFill>
          <p:spPr>
            <a:xfrm>
              <a:off x="8443949" y="4395407"/>
              <a:ext cx="687984" cy="2449223"/>
            </a:xfrm>
            <a:prstGeom prst="rect">
              <a:avLst/>
            </a:prstGeom>
          </p:spPr>
        </p:pic>
        <p:pic>
          <p:nvPicPr>
            <p:cNvPr id="81" name="图片 80"/>
            <p:cNvPicPr>
              <a:picLocks noChangeAspect="1"/>
            </p:cNvPicPr>
            <p:nvPr/>
          </p:nvPicPr>
          <p:blipFill>
            <a:blip r:embed="rId3" cstate="screen"/>
            <a:stretch>
              <a:fillRect/>
            </a:stretch>
          </p:blipFill>
          <p:spPr>
            <a:xfrm>
              <a:off x="5873541" y="4784202"/>
              <a:ext cx="523156" cy="2060429"/>
            </a:xfrm>
            <a:prstGeom prst="rect">
              <a:avLst/>
            </a:prstGeom>
          </p:spPr>
        </p:pic>
        <p:pic>
          <p:nvPicPr>
            <p:cNvPr id="82" name="图片 81"/>
            <p:cNvPicPr>
              <a:picLocks noChangeAspect="1"/>
            </p:cNvPicPr>
            <p:nvPr/>
          </p:nvPicPr>
          <p:blipFill>
            <a:blip r:embed="rId4" cstate="screen"/>
            <a:stretch>
              <a:fillRect/>
            </a:stretch>
          </p:blipFill>
          <p:spPr>
            <a:xfrm>
              <a:off x="6691608" y="5799601"/>
              <a:ext cx="235236" cy="1045029"/>
            </a:xfrm>
            <a:prstGeom prst="rect">
              <a:avLst/>
            </a:prstGeom>
          </p:spPr>
        </p:pic>
        <p:pic>
          <p:nvPicPr>
            <p:cNvPr id="83" name="图片 82"/>
            <p:cNvPicPr>
              <a:picLocks noChangeAspect="1"/>
            </p:cNvPicPr>
            <p:nvPr/>
          </p:nvPicPr>
          <p:blipFill>
            <a:blip r:embed="rId5" cstate="screen"/>
            <a:stretch>
              <a:fillRect/>
            </a:stretch>
          </p:blipFill>
          <p:spPr>
            <a:xfrm>
              <a:off x="7061171" y="4537314"/>
              <a:ext cx="523155" cy="2324101"/>
            </a:xfrm>
            <a:prstGeom prst="rect">
              <a:avLst/>
            </a:prstGeom>
          </p:spPr>
        </p:pic>
        <p:pic>
          <p:nvPicPr>
            <p:cNvPr id="84" name="图片 83"/>
            <p:cNvPicPr>
              <a:picLocks noChangeAspect="1"/>
            </p:cNvPicPr>
            <p:nvPr/>
          </p:nvPicPr>
          <p:blipFill>
            <a:blip r:embed="rId2" cstate="screen"/>
            <a:stretch>
              <a:fillRect/>
            </a:stretch>
          </p:blipFill>
          <p:spPr>
            <a:xfrm>
              <a:off x="8255222" y="5326143"/>
              <a:ext cx="349913" cy="1554480"/>
            </a:xfrm>
            <a:prstGeom prst="rect">
              <a:avLst/>
            </a:prstGeom>
          </p:spPr>
        </p:pic>
        <p:pic>
          <p:nvPicPr>
            <p:cNvPr id="85" name="图片 84"/>
            <p:cNvPicPr>
              <a:picLocks noChangeAspect="1"/>
            </p:cNvPicPr>
            <p:nvPr/>
          </p:nvPicPr>
          <p:blipFill>
            <a:blip r:embed="rId3" cstate="screen"/>
            <a:stretch>
              <a:fillRect/>
            </a:stretch>
          </p:blipFill>
          <p:spPr>
            <a:xfrm>
              <a:off x="9415558" y="4820194"/>
              <a:ext cx="523156" cy="2060429"/>
            </a:xfrm>
            <a:prstGeom prst="rect">
              <a:avLst/>
            </a:prstGeom>
          </p:spPr>
        </p:pic>
        <p:pic>
          <p:nvPicPr>
            <p:cNvPr id="89" name="图片 88"/>
            <p:cNvPicPr>
              <a:picLocks noChangeAspect="1"/>
            </p:cNvPicPr>
            <p:nvPr/>
          </p:nvPicPr>
          <p:blipFill>
            <a:blip r:embed="rId3" cstate="screen"/>
            <a:stretch>
              <a:fillRect/>
            </a:stretch>
          </p:blipFill>
          <p:spPr>
            <a:xfrm>
              <a:off x="7606374" y="5437105"/>
              <a:ext cx="523156" cy="2060429"/>
            </a:xfrm>
            <a:prstGeom prst="rect">
              <a:avLst/>
            </a:prstGeom>
          </p:spPr>
        </p:pic>
      </p:grpSp>
      <p:sp>
        <p:nvSpPr>
          <p:cNvPr id="69" name="矩形: 圆角 68"/>
          <p:cNvSpPr/>
          <p:nvPr/>
        </p:nvSpPr>
        <p:spPr>
          <a:xfrm>
            <a:off x="919455" y="1388423"/>
            <a:ext cx="10398491" cy="4081154"/>
          </a:xfrm>
          <a:prstGeom prst="roundRect">
            <a:avLst>
              <a:gd name="adj" fmla="val 1247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文本框 27"/>
          <p:cNvSpPr txBox="1"/>
          <p:nvPr/>
        </p:nvSpPr>
        <p:spPr>
          <a:xfrm>
            <a:off x="1873192" y="2859980"/>
            <a:ext cx="3272079" cy="830997"/>
          </a:xfrm>
          <a:prstGeom prst="rect">
            <a:avLst/>
          </a:prstGeom>
          <a:noFill/>
        </p:spPr>
        <p:txBody>
          <a:bodyPr wrap="square" rtlCol="0">
            <a:spAutoFit/>
          </a:bodyPr>
          <a:lstStyle/>
          <a:p>
            <a:r>
              <a:rPr lang="en-US" altLang="zh-CN" sz="2400" spc="300" dirty="0">
                <a:solidFill>
                  <a:srgbClr val="536482"/>
                </a:solidFill>
                <a:cs typeface="+mn-ea"/>
                <a:sym typeface="+mn-lt"/>
              </a:rPr>
              <a:t>02.</a:t>
            </a:r>
            <a:r>
              <a:rPr lang="zh-CN" altLang="en-US" sz="2400" spc="300" dirty="0">
                <a:solidFill>
                  <a:srgbClr val="536482"/>
                </a:solidFill>
                <a:cs typeface="+mn-ea"/>
                <a:sym typeface="+mn-lt"/>
              </a:rPr>
              <a:t>启动第四次变革原因及推动措施</a:t>
            </a:r>
            <a:endParaRPr lang="zh-CN" altLang="en-US" sz="2400" spc="300" dirty="0">
              <a:solidFill>
                <a:srgbClr val="536482"/>
              </a:solidFill>
              <a:cs typeface="+mn-ea"/>
              <a:sym typeface="+mn-lt"/>
            </a:endParaRPr>
          </a:p>
        </p:txBody>
      </p:sp>
      <p:sp>
        <p:nvSpPr>
          <p:cNvPr id="31" name="文本框 30"/>
          <p:cNvSpPr txBox="1"/>
          <p:nvPr/>
        </p:nvSpPr>
        <p:spPr>
          <a:xfrm>
            <a:off x="1875750" y="4006517"/>
            <a:ext cx="3453882" cy="830997"/>
          </a:xfrm>
          <a:prstGeom prst="rect">
            <a:avLst/>
          </a:prstGeom>
          <a:noFill/>
        </p:spPr>
        <p:txBody>
          <a:bodyPr wrap="square" rtlCol="0">
            <a:spAutoFit/>
          </a:bodyPr>
          <a:lstStyle/>
          <a:p>
            <a:r>
              <a:rPr lang="en-US" altLang="zh-CN" sz="2400" spc="300" dirty="0">
                <a:solidFill>
                  <a:srgbClr val="536482"/>
                </a:solidFill>
                <a:cs typeface="+mn-ea"/>
                <a:sym typeface="+mn-lt"/>
              </a:rPr>
              <a:t>03.</a:t>
            </a:r>
            <a:r>
              <a:rPr lang="zh-CN" altLang="en-US" sz="2400" spc="300" dirty="0">
                <a:solidFill>
                  <a:srgbClr val="536482"/>
                </a:solidFill>
                <a:cs typeface="+mn-ea"/>
                <a:sym typeface="+mn-lt"/>
              </a:rPr>
              <a:t>启动第四次变革的驱动力</a:t>
            </a:r>
            <a:endParaRPr lang="zh-CN" altLang="en-US" sz="2400" spc="300" dirty="0">
              <a:solidFill>
                <a:srgbClr val="536482"/>
              </a:solidFill>
              <a:cs typeface="+mn-ea"/>
              <a:sym typeface="+mn-lt"/>
            </a:endParaRPr>
          </a:p>
        </p:txBody>
      </p:sp>
      <p:sp>
        <p:nvSpPr>
          <p:cNvPr id="34" name="文本框 33"/>
          <p:cNvSpPr txBox="1"/>
          <p:nvPr/>
        </p:nvSpPr>
        <p:spPr>
          <a:xfrm>
            <a:off x="7347500" y="1942981"/>
            <a:ext cx="3177183" cy="830997"/>
          </a:xfrm>
          <a:prstGeom prst="rect">
            <a:avLst/>
          </a:prstGeom>
          <a:noFill/>
        </p:spPr>
        <p:txBody>
          <a:bodyPr wrap="square" rtlCol="0">
            <a:spAutoFit/>
          </a:bodyPr>
          <a:lstStyle/>
          <a:p>
            <a:r>
              <a:rPr lang="en-US" altLang="zh-CN" sz="2400" spc="300" dirty="0">
                <a:solidFill>
                  <a:srgbClr val="536482"/>
                </a:solidFill>
                <a:cs typeface="+mn-ea"/>
                <a:sym typeface="+mn-lt"/>
              </a:rPr>
              <a:t>04.</a:t>
            </a:r>
            <a:r>
              <a:rPr lang="zh-CN" altLang="en-US" sz="2400" spc="300" dirty="0">
                <a:solidFill>
                  <a:srgbClr val="536482"/>
                </a:solidFill>
                <a:cs typeface="+mn-ea"/>
                <a:sym typeface="+mn-lt"/>
              </a:rPr>
              <a:t>增强领导力的措施</a:t>
            </a:r>
            <a:endParaRPr lang="zh-CN" altLang="en-US" sz="2400" spc="300" dirty="0">
              <a:solidFill>
                <a:srgbClr val="536482"/>
              </a:solidFill>
              <a:cs typeface="+mn-ea"/>
              <a:sym typeface="+mn-lt"/>
            </a:endParaRPr>
          </a:p>
        </p:txBody>
      </p:sp>
      <p:sp>
        <p:nvSpPr>
          <p:cNvPr id="37" name="文本框 36"/>
          <p:cNvSpPr txBox="1"/>
          <p:nvPr/>
        </p:nvSpPr>
        <p:spPr>
          <a:xfrm>
            <a:off x="7354456" y="3076903"/>
            <a:ext cx="3453882" cy="830997"/>
          </a:xfrm>
          <a:prstGeom prst="rect">
            <a:avLst/>
          </a:prstGeom>
          <a:noFill/>
        </p:spPr>
        <p:txBody>
          <a:bodyPr wrap="square" rtlCol="0">
            <a:spAutoFit/>
          </a:bodyPr>
          <a:lstStyle/>
          <a:p>
            <a:r>
              <a:rPr lang="en-US" altLang="zh-CN" sz="2400" spc="300" dirty="0">
                <a:solidFill>
                  <a:srgbClr val="536482"/>
                </a:solidFill>
                <a:cs typeface="+mn-ea"/>
                <a:sym typeface="+mn-lt"/>
              </a:rPr>
              <a:t>05.</a:t>
            </a:r>
            <a:r>
              <a:rPr lang="zh-CN" altLang="en-US" sz="2400" spc="300" dirty="0">
                <a:solidFill>
                  <a:srgbClr val="536482"/>
                </a:solidFill>
                <a:cs typeface="+mn-ea"/>
                <a:sym typeface="+mn-lt"/>
              </a:rPr>
              <a:t>李东生具备的领导者特质</a:t>
            </a:r>
            <a:endParaRPr lang="zh-CN" altLang="en-US" sz="2400" spc="300" dirty="0">
              <a:solidFill>
                <a:srgbClr val="536482"/>
              </a:solidFill>
              <a:cs typeface="+mn-ea"/>
              <a:sym typeface="+mn-lt"/>
            </a:endParaRPr>
          </a:p>
        </p:txBody>
      </p:sp>
      <p:grpSp>
        <p:nvGrpSpPr>
          <p:cNvPr id="43" name="组合 42"/>
          <p:cNvGrpSpPr/>
          <p:nvPr/>
        </p:nvGrpSpPr>
        <p:grpSpPr>
          <a:xfrm>
            <a:off x="5423115" y="2044651"/>
            <a:ext cx="1340762" cy="2768698"/>
            <a:chOff x="9942130" y="548577"/>
            <a:chExt cx="1340762" cy="2768698"/>
          </a:xfrm>
        </p:grpSpPr>
        <p:grpSp>
          <p:nvGrpSpPr>
            <p:cNvPr id="40" name="组合 39"/>
            <p:cNvGrpSpPr/>
            <p:nvPr/>
          </p:nvGrpSpPr>
          <p:grpSpPr>
            <a:xfrm>
              <a:off x="9942130" y="746199"/>
              <a:ext cx="1340762" cy="2373454"/>
              <a:chOff x="9942130" y="746199"/>
              <a:chExt cx="1340762" cy="2373454"/>
            </a:xfrm>
          </p:grpSpPr>
          <p:grpSp>
            <p:nvGrpSpPr>
              <p:cNvPr id="26" name="组合 25"/>
              <p:cNvGrpSpPr/>
              <p:nvPr/>
            </p:nvGrpSpPr>
            <p:grpSpPr>
              <a:xfrm>
                <a:off x="10155116" y="1009610"/>
                <a:ext cx="965203" cy="1846632"/>
                <a:chOff x="2136531" y="1411545"/>
                <a:chExt cx="965203" cy="1846632"/>
              </a:xfrm>
            </p:grpSpPr>
            <p:sp>
              <p:nvSpPr>
                <p:cNvPr id="25" name="矩形: 圆角 24"/>
                <p:cNvSpPr/>
                <p:nvPr/>
              </p:nvSpPr>
              <p:spPr>
                <a:xfrm>
                  <a:off x="2136531" y="1411545"/>
                  <a:ext cx="965203" cy="1846632"/>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2188246" y="1542699"/>
                  <a:ext cx="861774" cy="1715478"/>
                </a:xfrm>
                <a:prstGeom prst="rect">
                  <a:avLst/>
                </a:prstGeom>
                <a:noFill/>
              </p:spPr>
              <p:txBody>
                <a:bodyPr vert="eaVert" wrap="square" rtlCol="0">
                  <a:spAutoFit/>
                </a:bodyPr>
                <a:lstStyle/>
                <a:p>
                  <a:r>
                    <a:rPr lang="zh-CN" altLang="en-US" sz="4400" spc="600" dirty="0">
                      <a:solidFill>
                        <a:srgbClr val="536482"/>
                      </a:solidFill>
                      <a:cs typeface="+mn-ea"/>
                      <a:sym typeface="+mn-lt"/>
                    </a:rPr>
                    <a:t>目 录</a:t>
                  </a:r>
                  <a:endParaRPr lang="zh-CN" altLang="en-US" sz="4400" spc="600" dirty="0">
                    <a:solidFill>
                      <a:srgbClr val="536482"/>
                    </a:solidFill>
                    <a:cs typeface="+mn-ea"/>
                    <a:sym typeface="+mn-lt"/>
                  </a:endParaRPr>
                </a:p>
              </p:txBody>
            </p:sp>
          </p:grpSp>
          <p:sp>
            <p:nvSpPr>
              <p:cNvPr id="39" name="矩形: 圆角 38"/>
              <p:cNvSpPr/>
              <p:nvPr/>
            </p:nvSpPr>
            <p:spPr>
              <a:xfrm>
                <a:off x="9942130" y="746199"/>
                <a:ext cx="1340762" cy="2373454"/>
              </a:xfrm>
              <a:prstGeom prst="roundRect">
                <a:avLst>
                  <a:gd name="adj" fmla="val 50000"/>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41" name="六边形 40"/>
            <p:cNvSpPr/>
            <p:nvPr/>
          </p:nvSpPr>
          <p:spPr>
            <a:xfrm>
              <a:off x="10443379" y="2982210"/>
              <a:ext cx="388675" cy="33506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42" name="六边形 41"/>
            <p:cNvSpPr/>
            <p:nvPr/>
          </p:nvSpPr>
          <p:spPr>
            <a:xfrm>
              <a:off x="10418173" y="548577"/>
              <a:ext cx="388675" cy="33506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grpSp>
      <p:sp>
        <p:nvSpPr>
          <p:cNvPr id="2" name="文本框 1"/>
          <p:cNvSpPr txBox="1"/>
          <p:nvPr/>
        </p:nvSpPr>
        <p:spPr>
          <a:xfrm>
            <a:off x="7376816" y="4200691"/>
            <a:ext cx="3453882" cy="830997"/>
          </a:xfrm>
          <a:prstGeom prst="rect">
            <a:avLst/>
          </a:prstGeom>
          <a:noFill/>
        </p:spPr>
        <p:txBody>
          <a:bodyPr wrap="square" rtlCol="0">
            <a:spAutoFit/>
          </a:bodyPr>
          <a:lstStyle/>
          <a:p>
            <a:r>
              <a:rPr lang="en-US" altLang="zh-CN" sz="2400" spc="300" dirty="0">
                <a:solidFill>
                  <a:srgbClr val="536482"/>
                </a:solidFill>
                <a:cs typeface="+mn-ea"/>
                <a:sym typeface="+mn-lt"/>
              </a:rPr>
              <a:t>06.</a:t>
            </a:r>
            <a:r>
              <a:rPr lang="zh-CN" altLang="en-US" sz="2400" spc="300" dirty="0">
                <a:solidFill>
                  <a:srgbClr val="536482"/>
                </a:solidFill>
                <a:cs typeface="+mn-ea"/>
                <a:sym typeface="+mn-lt"/>
              </a:rPr>
              <a:t>如何传承领导力，培养接班人</a:t>
            </a:r>
            <a:endParaRPr lang="zh-CN" altLang="en-US" sz="2400" spc="300" dirty="0">
              <a:solidFill>
                <a:srgbClr val="536482"/>
              </a:solidFill>
              <a:cs typeface="+mn-ea"/>
              <a:sym typeface="+mn-lt"/>
            </a:endParaRPr>
          </a:p>
        </p:txBody>
      </p:sp>
      <p:sp>
        <p:nvSpPr>
          <p:cNvPr id="3" name="文本框 2"/>
          <p:cNvSpPr txBox="1"/>
          <p:nvPr/>
        </p:nvSpPr>
        <p:spPr>
          <a:xfrm>
            <a:off x="1907684" y="1942488"/>
            <a:ext cx="3177183" cy="461665"/>
          </a:xfrm>
          <a:prstGeom prst="rect">
            <a:avLst/>
          </a:prstGeom>
          <a:noFill/>
        </p:spPr>
        <p:txBody>
          <a:bodyPr wrap="square" rtlCol="0">
            <a:spAutoFit/>
          </a:bodyPr>
          <a:lstStyle/>
          <a:p>
            <a:r>
              <a:rPr lang="en-US" altLang="zh-CN" sz="2400" spc="300" dirty="0">
                <a:solidFill>
                  <a:srgbClr val="536482"/>
                </a:solidFill>
                <a:cs typeface="+mn-ea"/>
                <a:sym typeface="+mn-lt"/>
              </a:rPr>
              <a:t>01.</a:t>
            </a:r>
            <a:r>
              <a:rPr lang="zh-CN" altLang="en-US" sz="2400" spc="300" dirty="0">
                <a:solidFill>
                  <a:srgbClr val="536482"/>
                </a:solidFill>
                <a:cs typeface="+mn-ea"/>
                <a:sym typeface="+mn-lt"/>
              </a:rPr>
              <a:t>案例介绍</a:t>
            </a:r>
            <a:endParaRPr lang="zh-CN" altLang="en-US" sz="2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randombar(horizontal)">
                                      <p:cBhvr>
                                        <p:cTn id="7" dur="500"/>
                                        <p:tgtEl>
                                          <p:spTgt spid="70"/>
                                        </p:tgtEl>
                                      </p:cBhvr>
                                    </p:animEffect>
                                  </p:childTnLst>
                                </p:cTn>
                              </p:par>
                              <p:par>
                                <p:cTn id="8" presetID="14" presetClass="entr" presetSubtype="1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randombar(horizontal)">
                                      <p:cBhvr>
                                        <p:cTn id="10" dur="500"/>
                                        <p:tgtEl>
                                          <p:spTgt spid="4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randombar(horizontal)">
                                      <p:cBhvr>
                                        <p:cTn id="1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01</a:t>
            </a:r>
            <a:endParaRPr lang="zh-CN" altLang="en-US" sz="6600" dirty="0">
              <a:solidFill>
                <a:srgbClr val="536482"/>
              </a:solidFill>
              <a:cs typeface="+mn-ea"/>
              <a:sym typeface="+mn-lt"/>
            </a:endParaRPr>
          </a:p>
        </p:txBody>
      </p:sp>
      <p:sp>
        <p:nvSpPr>
          <p:cNvPr id="9" name="文本框 8"/>
          <p:cNvSpPr txBox="1"/>
          <p:nvPr/>
        </p:nvSpPr>
        <p:spPr>
          <a:xfrm>
            <a:off x="4739954" y="2384091"/>
            <a:ext cx="2768986" cy="1938992"/>
          </a:xfrm>
          <a:prstGeom prst="rect">
            <a:avLst/>
          </a:prstGeom>
          <a:noFill/>
        </p:spPr>
        <p:txBody>
          <a:bodyPr wrap="square" rtlCol="0">
            <a:spAutoFit/>
          </a:bodyPr>
          <a:lstStyle/>
          <a:p>
            <a:pPr algn="ctr"/>
            <a:r>
              <a:rPr lang="zh-CN" altLang="en-US" sz="6000" spc="300" dirty="0">
                <a:solidFill>
                  <a:srgbClr val="536482"/>
                </a:solidFill>
                <a:cs typeface="+mn-ea"/>
                <a:sym typeface="+mn-lt"/>
              </a:rPr>
              <a:t>案例</a:t>
            </a:r>
            <a:endParaRPr lang="en-US" altLang="zh-CN" sz="6000" spc="300" dirty="0">
              <a:solidFill>
                <a:srgbClr val="536482"/>
              </a:solidFill>
              <a:cs typeface="+mn-ea"/>
              <a:sym typeface="+mn-lt"/>
            </a:endParaRPr>
          </a:p>
          <a:p>
            <a:pPr algn="ctr"/>
            <a:r>
              <a:rPr lang="zh-CN" altLang="en-US" sz="6000" spc="300" dirty="0">
                <a:solidFill>
                  <a:srgbClr val="536482"/>
                </a:solidFill>
                <a:cs typeface="+mn-ea"/>
                <a:sym typeface="+mn-lt"/>
              </a:rPr>
              <a:t>介绍</a:t>
            </a:r>
            <a:endParaRPr lang="zh-CN" altLang="en-US" sz="60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554256" y="5173773"/>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5" name="矩形: 圆角 4"/>
          <p:cNvSpPr/>
          <p:nvPr/>
        </p:nvSpPr>
        <p:spPr>
          <a:xfrm>
            <a:off x="1326276" y="877020"/>
            <a:ext cx="9366873" cy="5163065"/>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矩形 7"/>
          <p:cNvSpPr/>
          <p:nvPr/>
        </p:nvSpPr>
        <p:spPr>
          <a:xfrm>
            <a:off x="2106080" y="1977341"/>
            <a:ext cx="7733782" cy="3419654"/>
          </a:xfrm>
          <a:prstGeom prst="rect">
            <a:avLst/>
          </a:prstGeom>
        </p:spPr>
        <p:txBody>
          <a:bodyPr wrap="square">
            <a:spAutoFit/>
          </a:bodyPr>
          <a:lstStyle/>
          <a:p>
            <a:pPr algn="just">
              <a:lnSpc>
                <a:spcPts val="2900"/>
              </a:lnSpc>
              <a:buClr>
                <a:srgbClr val="000066"/>
              </a:buClr>
            </a:pPr>
            <a:r>
              <a:rPr lang="en-US" altLang="zh-CN" sz="2400" dirty="0"/>
              <a:t>       TCL </a:t>
            </a:r>
            <a:r>
              <a:rPr lang="zh-CN" altLang="en-US" sz="2400" dirty="0"/>
              <a:t>科技集团股份有限公司创立于 </a:t>
            </a:r>
            <a:r>
              <a:rPr lang="en-US" altLang="zh-CN" sz="2400" dirty="0"/>
              <a:t>1981 </a:t>
            </a:r>
            <a:r>
              <a:rPr lang="zh-CN" altLang="en-US" sz="2400" dirty="0"/>
              <a:t>年，前身是生产磁带的公司，业务不断拓展。</a:t>
            </a:r>
            <a:endParaRPr lang="en-US" altLang="zh-CN" sz="2400" dirty="0"/>
          </a:p>
          <a:p>
            <a:pPr algn="just">
              <a:lnSpc>
                <a:spcPts val="2900"/>
              </a:lnSpc>
              <a:buClr>
                <a:srgbClr val="000066"/>
              </a:buClr>
            </a:pPr>
            <a:r>
              <a:rPr lang="en-US" altLang="zh-CN" sz="2400" dirty="0"/>
              <a:t>       2019 </a:t>
            </a:r>
            <a:r>
              <a:rPr lang="zh-CN" altLang="en-US" sz="2400" dirty="0"/>
              <a:t>年完成资产重组拆分为 </a:t>
            </a:r>
            <a:r>
              <a:rPr lang="en-US" altLang="zh-CN" sz="2400" dirty="0"/>
              <a:t>TCL </a:t>
            </a:r>
            <a:r>
              <a:rPr lang="zh-CN" altLang="en-US" sz="2400" dirty="0"/>
              <a:t>科技和 </a:t>
            </a:r>
            <a:r>
              <a:rPr lang="en-US" altLang="zh-CN" sz="2400" dirty="0"/>
              <a:t>TCL </a:t>
            </a:r>
            <a:r>
              <a:rPr lang="zh-CN" altLang="en-US" sz="2400" dirty="0"/>
              <a:t>实业。面对日、韩品牌在家电领域的垄断竞争压力，其创始人开启向半导体显示行业的战略转型，</a:t>
            </a:r>
            <a:r>
              <a:rPr lang="en-US" altLang="zh-CN" sz="2400" dirty="0"/>
              <a:t>2014 </a:t>
            </a:r>
            <a:r>
              <a:rPr lang="zh-CN" altLang="en-US" sz="2400" dirty="0"/>
              <a:t>年营收破千亿，   但随后遭遇 “千亿魔咒”，营收徘徊、利润下降。</a:t>
            </a:r>
            <a:endParaRPr lang="en-US" altLang="zh-CN" sz="2400" dirty="0"/>
          </a:p>
          <a:p>
            <a:pPr algn="just">
              <a:lnSpc>
                <a:spcPts val="2900"/>
              </a:lnSpc>
              <a:buClr>
                <a:srgbClr val="000066"/>
              </a:buClr>
            </a:pPr>
            <a:r>
              <a:rPr lang="zh-CN" altLang="en-US" sz="2400" dirty="0"/>
              <a:t>       面对危机，</a:t>
            </a:r>
            <a:r>
              <a:rPr lang="en-US" altLang="zh-CN" sz="2400" dirty="0"/>
              <a:t>2017</a:t>
            </a:r>
            <a:r>
              <a:rPr lang="zh-CN" altLang="en-US" sz="2400" dirty="0"/>
              <a:t>年李东生启动第四次变革，通过内部调整及引入外力等方式实现系列变革，</a:t>
            </a:r>
            <a:r>
              <a:rPr lang="en-US" altLang="zh-CN" sz="2400" dirty="0"/>
              <a:t>TCL </a:t>
            </a:r>
            <a:r>
              <a:rPr lang="zh-CN" altLang="en-US" sz="2400" dirty="0"/>
              <a:t>再次成功转型，迈向全球领先智能科技产业集团之路。</a:t>
            </a:r>
            <a:endParaRPr lang="zh-CN" altLang="en-US" sz="2000" spc="300" dirty="0">
              <a:solidFill>
                <a:schemeClr val="tx1">
                  <a:lumMod val="95000"/>
                  <a:lumOff val="5000"/>
                </a:schemeClr>
              </a:solidFill>
              <a:cs typeface="+mn-ea"/>
              <a:sym typeface="+mn-lt"/>
            </a:endParaRPr>
          </a:p>
        </p:txBody>
      </p:sp>
      <p:sp>
        <p:nvSpPr>
          <p:cNvPr id="10" name="文本框 9"/>
          <p:cNvSpPr txBox="1"/>
          <p:nvPr/>
        </p:nvSpPr>
        <p:spPr>
          <a:xfrm>
            <a:off x="4935338" y="1211090"/>
            <a:ext cx="1828800" cy="584775"/>
          </a:xfrm>
          <a:prstGeom prst="rect">
            <a:avLst/>
          </a:prstGeom>
          <a:noFill/>
        </p:spPr>
        <p:txBody>
          <a:bodyPr wrap="square" rtlCol="0">
            <a:spAutoFit/>
          </a:bodyPr>
          <a:lstStyle/>
          <a:p>
            <a:pPr algn="ctr"/>
            <a:r>
              <a:rPr lang="zh-CN" altLang="en-US" sz="3200" dirty="0">
                <a:solidFill>
                  <a:schemeClr val="tx2">
                    <a:lumMod val="75000"/>
                  </a:schemeClr>
                </a:solidFill>
              </a:rPr>
              <a:t>案例介绍</a:t>
            </a:r>
            <a:endParaRPr lang="zh-CN" altLang="en-US" sz="3200" dirty="0">
              <a:solidFill>
                <a:schemeClr val="tx2">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02</a:t>
            </a:r>
            <a:endParaRPr lang="zh-CN" altLang="en-US" sz="6600" dirty="0">
              <a:solidFill>
                <a:srgbClr val="536482"/>
              </a:solidFill>
              <a:cs typeface="+mn-ea"/>
              <a:sym typeface="+mn-lt"/>
            </a:endParaRPr>
          </a:p>
        </p:txBody>
      </p:sp>
      <p:sp>
        <p:nvSpPr>
          <p:cNvPr id="9" name="文本框 8"/>
          <p:cNvSpPr txBox="1"/>
          <p:nvPr/>
        </p:nvSpPr>
        <p:spPr>
          <a:xfrm>
            <a:off x="4426674" y="2367171"/>
            <a:ext cx="3461931" cy="2192718"/>
          </a:xfrm>
          <a:prstGeom prst="rect">
            <a:avLst/>
          </a:prstGeom>
          <a:noFill/>
        </p:spPr>
        <p:txBody>
          <a:bodyPr wrap="square" rtlCol="0">
            <a:spAutoFit/>
          </a:bodyPr>
          <a:lstStyle/>
          <a:p>
            <a:pPr algn="ctr"/>
            <a:r>
              <a:rPr lang="zh-CN" altLang="en-US" sz="4400" spc="300" dirty="0">
                <a:solidFill>
                  <a:srgbClr val="536482"/>
                </a:solidFill>
                <a:cs typeface="+mn-ea"/>
                <a:sym typeface="+mn-lt"/>
              </a:rPr>
              <a:t>启动第四次变革原因</a:t>
            </a:r>
            <a:endParaRPr lang="en-US" altLang="zh-CN" sz="4400" spc="300" dirty="0">
              <a:solidFill>
                <a:srgbClr val="536482"/>
              </a:solidFill>
              <a:cs typeface="+mn-ea"/>
              <a:sym typeface="+mn-lt"/>
            </a:endParaRPr>
          </a:p>
          <a:p>
            <a:pPr algn="ctr"/>
            <a:r>
              <a:rPr lang="zh-CN" altLang="en-US" sz="4400" spc="300" dirty="0">
                <a:solidFill>
                  <a:srgbClr val="536482"/>
                </a:solidFill>
                <a:cs typeface="+mn-ea"/>
                <a:sym typeface="+mn-lt"/>
              </a:rPr>
              <a:t>及推动措施</a:t>
            </a: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6805"/>
          </a:xfrm>
          <a:prstGeom prst="rect">
            <a:avLst/>
          </a:prstGeom>
          <a:noFill/>
        </p:spPr>
        <p:txBody>
          <a:bodyPr wrap="square" rtlCol="0">
            <a:spAutoFit/>
          </a:bodyPr>
          <a:lstStyle/>
          <a:p>
            <a:r>
              <a:rPr lang="en-US" altLang="zh-CN" sz="6600" dirty="0">
                <a:solidFill>
                  <a:srgbClr val="536482"/>
                </a:solidFill>
                <a:cs typeface="+mn-ea"/>
                <a:sym typeface="+mn-lt"/>
              </a:rPr>
              <a:t>03</a:t>
            </a:r>
            <a:endParaRPr lang="zh-CN" altLang="en-US" sz="6600" dirty="0">
              <a:solidFill>
                <a:srgbClr val="536482"/>
              </a:solidFill>
              <a:cs typeface="+mn-ea"/>
              <a:sym typeface="+mn-lt"/>
            </a:endParaRPr>
          </a:p>
        </p:txBody>
      </p:sp>
      <p:sp>
        <p:nvSpPr>
          <p:cNvPr id="9" name="文本框 8"/>
          <p:cNvSpPr txBox="1"/>
          <p:nvPr/>
        </p:nvSpPr>
        <p:spPr>
          <a:xfrm>
            <a:off x="4426674" y="2367171"/>
            <a:ext cx="3461931" cy="2122805"/>
          </a:xfrm>
          <a:prstGeom prst="rect">
            <a:avLst/>
          </a:prstGeom>
          <a:noFill/>
        </p:spPr>
        <p:txBody>
          <a:bodyPr wrap="square" rtlCol="0">
            <a:spAutoFit/>
          </a:bodyPr>
          <a:lstStyle/>
          <a:p>
            <a:pPr algn="ctr"/>
            <a:r>
              <a:rPr lang="zh-CN" altLang="en-US" sz="4400" spc="300" dirty="0">
                <a:solidFill>
                  <a:srgbClr val="536482"/>
                </a:solidFill>
                <a:cs typeface="+mn-ea"/>
                <a:sym typeface="+mn-lt"/>
              </a:rPr>
              <a:t>启动第四次变革的驱动力</a:t>
            </a: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 name="矩形: 圆角 28"/>
          <p:cNvSpPr/>
          <p:nvPr/>
        </p:nvSpPr>
        <p:spPr>
          <a:xfrm>
            <a:off x="613518" y="1932467"/>
            <a:ext cx="4119739" cy="4081154"/>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3" name="Round Same Side Corner Rectangle 4"/>
          <p:cNvSpPr/>
          <p:nvPr/>
        </p:nvSpPr>
        <p:spPr>
          <a:xfrm>
            <a:off x="4733269" y="1349537"/>
            <a:ext cx="456081" cy="5425278"/>
          </a:xfrm>
          <a:prstGeom prst="round2SameRect">
            <a:avLst>
              <a:gd name="adj1" fmla="val 50000"/>
              <a:gd name="adj2" fmla="val 0"/>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a:lnSpc>
                <a:spcPct val="120000"/>
              </a:lnSpc>
            </a:pPr>
            <a:endParaRPr lang="en-GB" sz="950">
              <a:cs typeface="+mn-ea"/>
              <a:sym typeface="+mn-lt"/>
            </a:endParaRPr>
          </a:p>
        </p:txBody>
      </p:sp>
      <p:grpSp>
        <p:nvGrpSpPr>
          <p:cNvPr id="4" name="组合 3"/>
          <p:cNvGrpSpPr/>
          <p:nvPr>
            <p:custDataLst>
              <p:tags r:id="rId1"/>
            </p:custDataLst>
          </p:nvPr>
        </p:nvGrpSpPr>
        <p:grpSpPr>
          <a:xfrm>
            <a:off x="5189040" y="1589487"/>
            <a:ext cx="6016516" cy="932275"/>
            <a:chOff x="5236838" y="1872351"/>
            <a:chExt cx="6016516" cy="932275"/>
          </a:xfrm>
        </p:grpSpPr>
        <p:grpSp>
          <p:nvGrpSpPr>
            <p:cNvPr id="10" name="组合 9"/>
            <p:cNvGrpSpPr/>
            <p:nvPr/>
          </p:nvGrpSpPr>
          <p:grpSpPr>
            <a:xfrm>
              <a:off x="5236838" y="1872351"/>
              <a:ext cx="1504315" cy="535940"/>
              <a:chOff x="5270326" y="1807325"/>
              <a:chExt cx="1504315" cy="535940"/>
            </a:xfrm>
          </p:grpSpPr>
          <p:sp>
            <p:nvSpPr>
              <p:cNvPr id="5" name="六边形 4"/>
              <p:cNvSpPr/>
              <p:nvPr>
                <p:custDataLst>
                  <p:tags r:id="rId2"/>
                </p:custDataLst>
              </p:nvPr>
            </p:nvSpPr>
            <p:spPr>
              <a:xfrm>
                <a:off x="5270326" y="1916545"/>
                <a:ext cx="1463040" cy="426720"/>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8" name="Rectangle 2"/>
              <p:cNvSpPr txBox="1">
                <a:spLocks noChangeArrowheads="1"/>
              </p:cNvSpPr>
              <p:nvPr>
                <p:custDataLst>
                  <p:tags r:id="rId3"/>
                </p:custDataLst>
              </p:nvPr>
            </p:nvSpPr>
            <p:spPr>
              <a:xfrm>
                <a:off x="5429711" y="1807325"/>
                <a:ext cx="1344930" cy="462915"/>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驱动</a:t>
                </a:r>
                <a:r>
                  <a:rPr lang="zh-CN" altLang="en-US" dirty="0">
                    <a:solidFill>
                      <a:schemeClr val="bg1"/>
                    </a:solidFill>
                    <a:latin typeface="+mn-lt"/>
                    <a:ea typeface="+mn-ea"/>
                    <a:cs typeface="+mn-ea"/>
                    <a:sym typeface="+mn-lt"/>
                  </a:rPr>
                  <a:t>力一</a:t>
                </a:r>
                <a:endParaRPr lang="zh-CN" altLang="en-US" dirty="0">
                  <a:solidFill>
                    <a:schemeClr val="bg1"/>
                  </a:solidFill>
                  <a:latin typeface="+mn-lt"/>
                  <a:ea typeface="+mn-ea"/>
                  <a:cs typeface="+mn-ea"/>
                  <a:sym typeface="+mn-lt"/>
                </a:endParaRPr>
              </a:p>
            </p:txBody>
          </p:sp>
        </p:grpSp>
        <p:sp>
          <p:nvSpPr>
            <p:cNvPr id="28" name="矩形 27"/>
            <p:cNvSpPr/>
            <p:nvPr>
              <p:custDataLst>
                <p:tags r:id="rId4"/>
              </p:custDataLst>
            </p:nvPr>
          </p:nvSpPr>
          <p:spPr>
            <a:xfrm>
              <a:off x="5294765" y="2341711"/>
              <a:ext cx="5958589" cy="462915"/>
            </a:xfrm>
            <a:prstGeom prst="rect">
              <a:avLst/>
            </a:prstGeom>
          </p:spPr>
          <p:txBody>
            <a:bodyPr wrap="square">
              <a:spAutoFit/>
            </a:bodyPr>
            <a:lstStyle/>
            <a:p>
              <a:pPr algn="just">
                <a:lnSpc>
                  <a:spcPts val="2900"/>
                </a:lnSpc>
                <a:buClr>
                  <a:srgbClr val="000066"/>
                </a:buClr>
              </a:pPr>
              <a:endParaRPr lang="zh-CN" altLang="en-US" sz="1600" spc="300" dirty="0">
                <a:solidFill>
                  <a:schemeClr val="tx1">
                    <a:lumMod val="95000"/>
                    <a:lumOff val="5000"/>
                  </a:schemeClr>
                </a:solidFill>
                <a:cs typeface="+mn-ea"/>
                <a:sym typeface="+mn-lt"/>
              </a:endParaRPr>
            </a:p>
          </p:txBody>
        </p:sp>
      </p:grpSp>
      <p:grpSp>
        <p:nvGrpSpPr>
          <p:cNvPr id="30" name="组合 29"/>
          <p:cNvGrpSpPr/>
          <p:nvPr>
            <p:custDataLst>
              <p:tags r:id="rId5"/>
            </p:custDataLst>
          </p:nvPr>
        </p:nvGrpSpPr>
        <p:grpSpPr>
          <a:xfrm>
            <a:off x="5157925" y="2884049"/>
            <a:ext cx="6236860" cy="928202"/>
            <a:chOff x="5016493" y="2963713"/>
            <a:chExt cx="6236860" cy="928202"/>
          </a:xfrm>
        </p:grpSpPr>
        <p:grpSp>
          <p:nvGrpSpPr>
            <p:cNvPr id="31" name="组合 30"/>
            <p:cNvGrpSpPr/>
            <p:nvPr/>
          </p:nvGrpSpPr>
          <p:grpSpPr>
            <a:xfrm>
              <a:off x="5016493" y="2963713"/>
              <a:ext cx="1535677" cy="463915"/>
              <a:chOff x="5049981" y="1879080"/>
              <a:chExt cx="1535677" cy="463915"/>
            </a:xfrm>
          </p:grpSpPr>
          <p:sp>
            <p:nvSpPr>
              <p:cNvPr id="32" name="六边形 31"/>
              <p:cNvSpPr/>
              <p:nvPr>
                <p:custDataLst>
                  <p:tags r:id="rId6"/>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3" name="Rectangle 2"/>
              <p:cNvSpPr txBox="1">
                <a:spLocks noChangeArrowheads="1"/>
              </p:cNvSpPr>
              <p:nvPr>
                <p:custDataLst>
                  <p:tags r:id="rId7"/>
                </p:custDataLst>
              </p:nvPr>
            </p:nvSpPr>
            <p:spPr>
              <a:xfrm>
                <a:off x="5249371" y="1879080"/>
                <a:ext cx="1180465" cy="257182"/>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驱动力</a:t>
                </a:r>
                <a:r>
                  <a:rPr lang="zh-CN" altLang="en-US" dirty="0">
                    <a:solidFill>
                      <a:schemeClr val="bg1"/>
                    </a:solidFill>
                    <a:latin typeface="+mn-lt"/>
                    <a:ea typeface="+mn-ea"/>
                    <a:cs typeface="+mn-ea"/>
                    <a:sym typeface="+mn-lt"/>
                  </a:rPr>
                  <a:t>二</a:t>
                </a:r>
                <a:endParaRPr lang="zh-CN" altLang="en-US" dirty="0">
                  <a:solidFill>
                    <a:schemeClr val="bg1"/>
                  </a:solidFill>
                  <a:latin typeface="+mn-lt"/>
                  <a:ea typeface="+mn-ea"/>
                  <a:cs typeface="+mn-ea"/>
                  <a:sym typeface="+mn-lt"/>
                </a:endParaRPr>
              </a:p>
            </p:txBody>
          </p:sp>
        </p:grpSp>
        <p:sp>
          <p:nvSpPr>
            <p:cNvPr id="34" name="矩形 33"/>
            <p:cNvSpPr/>
            <p:nvPr>
              <p:custDataLst>
                <p:tags r:id="rId8"/>
              </p:custDataLst>
            </p:nvPr>
          </p:nvSpPr>
          <p:spPr>
            <a:xfrm>
              <a:off x="5294764" y="3429000"/>
              <a:ext cx="5958589" cy="462915"/>
            </a:xfrm>
            <a:prstGeom prst="rect">
              <a:avLst/>
            </a:prstGeom>
          </p:spPr>
          <p:txBody>
            <a:bodyPr wrap="square">
              <a:spAutoFit/>
            </a:bodyPr>
            <a:lstStyle/>
            <a:p>
              <a:pPr algn="just">
                <a:lnSpc>
                  <a:spcPts val="2900"/>
                </a:lnSpc>
                <a:buClr>
                  <a:srgbClr val="000066"/>
                </a:buClr>
              </a:pPr>
              <a:endParaRPr lang="zh-CN" altLang="en-US" sz="1600" spc="300" dirty="0">
                <a:solidFill>
                  <a:schemeClr val="tx1">
                    <a:lumMod val="95000"/>
                    <a:lumOff val="5000"/>
                  </a:schemeClr>
                </a:solidFill>
                <a:cs typeface="+mn-ea"/>
                <a:sym typeface="+mn-lt"/>
              </a:endParaRPr>
            </a:p>
          </p:txBody>
        </p:sp>
      </p:grpSp>
      <p:grpSp>
        <p:nvGrpSpPr>
          <p:cNvPr id="35" name="组合 34"/>
          <p:cNvGrpSpPr/>
          <p:nvPr>
            <p:custDataLst>
              <p:tags r:id="rId9"/>
            </p:custDataLst>
          </p:nvPr>
        </p:nvGrpSpPr>
        <p:grpSpPr>
          <a:xfrm>
            <a:off x="5189040" y="3990995"/>
            <a:ext cx="5963175" cy="940761"/>
            <a:chOff x="4738363" y="3979854"/>
            <a:chExt cx="5963175" cy="940761"/>
          </a:xfrm>
        </p:grpSpPr>
        <p:grpSp>
          <p:nvGrpSpPr>
            <p:cNvPr id="36" name="组合 35"/>
            <p:cNvGrpSpPr/>
            <p:nvPr/>
          </p:nvGrpSpPr>
          <p:grpSpPr>
            <a:xfrm>
              <a:off x="4738363" y="3979854"/>
              <a:ext cx="1535677" cy="512034"/>
              <a:chOff x="4771851" y="2895221"/>
              <a:chExt cx="1535677" cy="512034"/>
            </a:xfrm>
          </p:grpSpPr>
          <p:sp>
            <p:nvSpPr>
              <p:cNvPr id="37" name="六边形 36"/>
              <p:cNvSpPr/>
              <p:nvPr>
                <p:custDataLst>
                  <p:tags r:id="rId10"/>
                </p:custDataLst>
              </p:nvPr>
            </p:nvSpPr>
            <p:spPr>
              <a:xfrm>
                <a:off x="4771851" y="298072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8" name="Rectangle 2"/>
              <p:cNvSpPr txBox="1">
                <a:spLocks noChangeArrowheads="1"/>
              </p:cNvSpPr>
              <p:nvPr>
                <p:custDataLst>
                  <p:tags r:id="rId11"/>
                </p:custDataLst>
              </p:nvPr>
            </p:nvSpPr>
            <p:spPr>
              <a:xfrm>
                <a:off x="4919171" y="2895221"/>
                <a:ext cx="1303655" cy="462915"/>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驱动力</a:t>
                </a:r>
                <a:r>
                  <a:rPr lang="zh-CN" altLang="en-US" dirty="0">
                    <a:solidFill>
                      <a:schemeClr val="bg1"/>
                    </a:solidFill>
                    <a:latin typeface="+mn-lt"/>
                    <a:ea typeface="+mn-ea"/>
                    <a:cs typeface="+mn-ea"/>
                    <a:sym typeface="+mn-lt"/>
                  </a:rPr>
                  <a:t>三</a:t>
                </a:r>
                <a:endParaRPr lang="zh-CN" altLang="en-US" dirty="0">
                  <a:solidFill>
                    <a:schemeClr val="bg1"/>
                  </a:solidFill>
                  <a:latin typeface="+mn-lt"/>
                  <a:ea typeface="+mn-ea"/>
                  <a:cs typeface="+mn-ea"/>
                  <a:sym typeface="+mn-lt"/>
                </a:endParaRPr>
              </a:p>
            </p:txBody>
          </p:sp>
        </p:grpSp>
        <p:sp>
          <p:nvSpPr>
            <p:cNvPr id="39" name="矩形 38"/>
            <p:cNvSpPr/>
            <p:nvPr>
              <p:custDataLst>
                <p:tags r:id="rId12"/>
              </p:custDataLst>
            </p:nvPr>
          </p:nvSpPr>
          <p:spPr>
            <a:xfrm>
              <a:off x="4742949" y="4457700"/>
              <a:ext cx="5958589" cy="4629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各大银行提供的资金</a:t>
              </a:r>
              <a:r>
                <a:rPr lang="zh-CN" altLang="en-US" sz="1600" spc="300" dirty="0">
                  <a:solidFill>
                    <a:schemeClr val="tx1">
                      <a:lumMod val="95000"/>
                      <a:lumOff val="5000"/>
                    </a:schemeClr>
                  </a:solidFill>
                  <a:cs typeface="+mn-ea"/>
                  <a:sym typeface="+mn-lt"/>
                </a:rPr>
                <a:t>支持。</a:t>
              </a:r>
              <a:endParaRPr lang="zh-CN" altLang="en-US" sz="1600" spc="300" dirty="0">
                <a:solidFill>
                  <a:schemeClr val="tx1">
                    <a:lumMod val="95000"/>
                    <a:lumOff val="5000"/>
                  </a:schemeClr>
                </a:solidFill>
                <a:cs typeface="+mn-ea"/>
                <a:sym typeface="+mn-lt"/>
              </a:endParaRPr>
            </a:p>
          </p:txBody>
        </p:sp>
      </p:grpSp>
      <p:grpSp>
        <p:nvGrpSpPr>
          <p:cNvPr id="40" name="组合 39"/>
          <p:cNvGrpSpPr/>
          <p:nvPr>
            <p:custDataLst>
              <p:tags r:id="rId13"/>
            </p:custDataLst>
          </p:nvPr>
        </p:nvGrpSpPr>
        <p:grpSpPr>
          <a:xfrm>
            <a:off x="5189040" y="4632045"/>
            <a:ext cx="5575018" cy="1026548"/>
            <a:chOff x="4766303" y="5261619"/>
            <a:chExt cx="5575018" cy="1026548"/>
          </a:xfrm>
        </p:grpSpPr>
        <p:grpSp>
          <p:nvGrpSpPr>
            <p:cNvPr id="41" name="组合 40"/>
            <p:cNvGrpSpPr/>
            <p:nvPr/>
          </p:nvGrpSpPr>
          <p:grpSpPr>
            <a:xfrm>
              <a:off x="4766303" y="5825252"/>
              <a:ext cx="1535677" cy="462915"/>
              <a:chOff x="4799791" y="2701405"/>
              <a:chExt cx="1535677" cy="462915"/>
            </a:xfrm>
          </p:grpSpPr>
          <p:sp>
            <p:nvSpPr>
              <p:cNvPr id="42" name="六边形 41"/>
              <p:cNvSpPr/>
              <p:nvPr>
                <p:custDataLst>
                  <p:tags r:id="rId14"/>
                </p:custDataLst>
              </p:nvPr>
            </p:nvSpPr>
            <p:spPr>
              <a:xfrm>
                <a:off x="4799791" y="2737521"/>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43" name="Rectangle 2"/>
              <p:cNvSpPr txBox="1">
                <a:spLocks noChangeArrowheads="1"/>
              </p:cNvSpPr>
              <p:nvPr>
                <p:custDataLst>
                  <p:tags r:id="rId15"/>
                </p:custDataLst>
              </p:nvPr>
            </p:nvSpPr>
            <p:spPr>
              <a:xfrm>
                <a:off x="4968066" y="2701405"/>
                <a:ext cx="1282700" cy="462915"/>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驱动力四</a:t>
                </a:r>
                <a:endParaRPr lang="zh-CN" altLang="en-US" dirty="0">
                  <a:solidFill>
                    <a:schemeClr val="bg1"/>
                  </a:solidFill>
                  <a:latin typeface="+mn-lt"/>
                  <a:ea typeface="+mn-ea"/>
                  <a:cs typeface="+mn-ea"/>
                  <a:sym typeface="+mn-lt"/>
                </a:endParaRPr>
              </a:p>
            </p:txBody>
          </p:sp>
        </p:grpSp>
        <p:sp>
          <p:nvSpPr>
            <p:cNvPr id="44" name="矩形 43"/>
            <p:cNvSpPr/>
            <p:nvPr>
              <p:custDataLst>
                <p:tags r:id="rId16"/>
              </p:custDataLst>
            </p:nvPr>
          </p:nvSpPr>
          <p:spPr>
            <a:xfrm>
              <a:off x="5504948" y="5261619"/>
              <a:ext cx="4836373" cy="462915"/>
            </a:xfrm>
            <a:prstGeom prst="rect">
              <a:avLst/>
            </a:prstGeom>
          </p:spPr>
          <p:txBody>
            <a:bodyPr wrap="square">
              <a:spAutoFit/>
            </a:bodyPr>
            <a:lstStyle/>
            <a:p>
              <a:pPr algn="just">
                <a:lnSpc>
                  <a:spcPts val="2900"/>
                </a:lnSpc>
                <a:buClr>
                  <a:srgbClr val="000066"/>
                </a:buClr>
              </a:pPr>
              <a:endParaRPr lang="zh-CN" altLang="en-US" sz="1600" spc="300" dirty="0">
                <a:solidFill>
                  <a:schemeClr val="tx1">
                    <a:lumMod val="95000"/>
                    <a:lumOff val="5000"/>
                  </a:schemeClr>
                </a:solidFill>
                <a:cs typeface="+mn-ea"/>
                <a:sym typeface="+mn-lt"/>
              </a:endParaRPr>
            </a:p>
          </p:txBody>
        </p:sp>
      </p:grpSp>
      <p:grpSp>
        <p:nvGrpSpPr>
          <p:cNvPr id="45" name="组合 44"/>
          <p:cNvGrpSpPr/>
          <p:nvPr/>
        </p:nvGrpSpPr>
        <p:grpSpPr>
          <a:xfrm>
            <a:off x="1195973" y="2259148"/>
            <a:ext cx="2798618" cy="3754550"/>
            <a:chOff x="1307101" y="3499404"/>
            <a:chExt cx="2798618" cy="3754550"/>
          </a:xfrm>
        </p:grpSpPr>
        <p:sp>
          <p:nvSpPr>
            <p:cNvPr id="46" name="Rectangle 2"/>
            <p:cNvSpPr txBox="1">
              <a:spLocks noChangeArrowheads="1"/>
            </p:cNvSpPr>
            <p:nvPr/>
          </p:nvSpPr>
          <p:spPr>
            <a:xfrm>
              <a:off x="1307101" y="4187539"/>
              <a:ext cx="2798618" cy="3066415"/>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mn-ea"/>
                  <a:cs typeface="+mn-ea"/>
                  <a:sym typeface="+mn-lt"/>
                </a:rPr>
                <a:t>2016</a:t>
              </a:r>
              <a:r>
                <a:rPr lang="zh-CN" altLang="en-US" dirty="0">
                  <a:latin typeface="+mn-lt"/>
                  <a:ea typeface="+mn-ea"/>
                  <a:cs typeface="+mn-ea"/>
                  <a:sym typeface="+mn-lt"/>
                </a:rPr>
                <a:t>年，李东生看到财务报表敏锐察觉到了危机，认为</a:t>
              </a:r>
              <a:r>
                <a:rPr lang="en-US" altLang="zh-CN" dirty="0">
                  <a:latin typeface="+mn-lt"/>
                  <a:ea typeface="+mn-ea"/>
                  <a:cs typeface="+mn-ea"/>
                  <a:sym typeface="+mn-lt"/>
                </a:rPr>
                <a:t>TCL</a:t>
              </a:r>
              <a:r>
                <a:rPr lang="zh-CN" altLang="en-US" dirty="0">
                  <a:latin typeface="+mn-lt"/>
                  <a:ea typeface="+mn-ea"/>
                  <a:cs typeface="+mn-ea"/>
                  <a:sym typeface="+mn-lt"/>
                </a:rPr>
                <a:t>的发展迎来了瓶颈，必须启动第四次变革，突破</a:t>
              </a:r>
              <a:r>
                <a:rPr lang="en-US" altLang="zh-CN" dirty="0">
                  <a:latin typeface="+mn-lt"/>
                  <a:ea typeface="+mn-ea"/>
                  <a:cs typeface="+mn-ea"/>
                  <a:sym typeface="+mn-lt"/>
                </a:rPr>
                <a:t>“</a:t>
              </a:r>
              <a:r>
                <a:rPr lang="zh-CN" altLang="en-US" dirty="0">
                  <a:latin typeface="+mn-lt"/>
                  <a:ea typeface="+mn-ea"/>
                  <a:cs typeface="+mn-ea"/>
                  <a:sym typeface="+mn-lt"/>
                </a:rPr>
                <a:t>千亿魔咒</a:t>
              </a:r>
              <a:r>
                <a:rPr lang="en-US" altLang="zh-CN" dirty="0">
                  <a:latin typeface="+mn-lt"/>
                  <a:ea typeface="+mn-ea"/>
                  <a:cs typeface="+mn-ea"/>
                  <a:sym typeface="+mn-lt"/>
                </a:rPr>
                <a:t>”</a:t>
              </a:r>
              <a:r>
                <a:rPr lang="zh-CN" altLang="en-US" dirty="0">
                  <a:latin typeface="+mn-lt"/>
                  <a:ea typeface="+mn-ea"/>
                  <a:cs typeface="+mn-ea"/>
                  <a:sym typeface="+mn-lt"/>
                </a:rPr>
                <a:t>，实现能力再造，使得</a:t>
              </a:r>
              <a:r>
                <a:rPr lang="en-US" altLang="zh-CN" dirty="0">
                  <a:latin typeface="+mn-lt"/>
                  <a:ea typeface="+mn-ea"/>
                  <a:cs typeface="+mn-ea"/>
                  <a:sym typeface="+mn-lt"/>
                </a:rPr>
                <a:t>TCL</a:t>
              </a:r>
              <a:r>
                <a:rPr lang="zh-CN" altLang="en-US" dirty="0">
                  <a:latin typeface="+mn-lt"/>
                  <a:ea typeface="+mn-ea"/>
                  <a:cs typeface="+mn-ea"/>
                  <a:sym typeface="+mn-lt"/>
                </a:rPr>
                <a:t>得以继续</a:t>
              </a:r>
              <a:r>
                <a:rPr lang="zh-CN" altLang="en-US" dirty="0">
                  <a:latin typeface="+mn-lt"/>
                  <a:ea typeface="+mn-ea"/>
                  <a:cs typeface="+mn-ea"/>
                  <a:sym typeface="+mn-lt"/>
                </a:rPr>
                <a:t>发展。</a:t>
              </a:r>
              <a:endParaRPr lang="zh-CN" altLang="en-US" dirty="0">
                <a:latin typeface="+mn-lt"/>
                <a:ea typeface="+mn-ea"/>
                <a:cs typeface="+mn-ea"/>
                <a:sym typeface="+mn-lt"/>
              </a:endParaRPr>
            </a:p>
            <a:p>
              <a:endParaRPr lang="zh-CN" altLang="en-US" dirty="0">
                <a:latin typeface="+mn-lt"/>
                <a:ea typeface="+mn-ea"/>
                <a:cs typeface="+mn-ea"/>
                <a:sym typeface="+mn-lt"/>
              </a:endParaRPr>
            </a:p>
          </p:txBody>
        </p:sp>
        <p:sp>
          <p:nvSpPr>
            <p:cNvPr id="47" name="Rectangle 3"/>
            <p:cNvSpPr txBox="1">
              <a:spLocks noChangeArrowheads="1"/>
            </p:cNvSpPr>
            <p:nvPr/>
          </p:nvSpPr>
          <p:spPr>
            <a:xfrm>
              <a:off x="1722045" y="3525799"/>
              <a:ext cx="1792556" cy="39878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536482"/>
                  </a:solidFill>
                  <a:latin typeface="+mn-lt"/>
                  <a:ea typeface="+mn-ea"/>
                  <a:cs typeface="+mn-ea"/>
                  <a:sym typeface="+mn-lt"/>
                </a:rPr>
                <a:t>第四次</a:t>
              </a:r>
              <a:r>
                <a:rPr lang="zh-CN" altLang="en-US" b="1" dirty="0">
                  <a:solidFill>
                    <a:srgbClr val="536482"/>
                  </a:solidFill>
                  <a:latin typeface="+mn-lt"/>
                  <a:ea typeface="+mn-ea"/>
                  <a:cs typeface="+mn-ea"/>
                  <a:sym typeface="+mn-lt"/>
                </a:rPr>
                <a:t>变革</a:t>
              </a:r>
              <a:endParaRPr lang="zh-CN" altLang="en-US" b="1" dirty="0">
                <a:solidFill>
                  <a:srgbClr val="536482"/>
                </a:solidFill>
                <a:latin typeface="+mn-lt"/>
                <a:ea typeface="+mn-ea"/>
                <a:cs typeface="+mn-ea"/>
                <a:sym typeface="+mn-lt"/>
              </a:endParaRPr>
            </a:p>
          </p:txBody>
        </p:sp>
        <p:sp>
          <p:nvSpPr>
            <p:cNvPr id="48" name="矩形 47"/>
            <p:cNvSpPr/>
            <p:nvPr/>
          </p:nvSpPr>
          <p:spPr>
            <a:xfrm>
              <a:off x="1722238" y="3499404"/>
              <a:ext cx="1792557" cy="425245"/>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49" name="矩形 48"/>
          <p:cNvSpPr/>
          <p:nvPr>
            <p:custDataLst>
              <p:tags r:id="rId17"/>
            </p:custDataLst>
          </p:nvPr>
        </p:nvSpPr>
        <p:spPr>
          <a:xfrm>
            <a:off x="5184737" y="3345992"/>
            <a:ext cx="5958589" cy="462915"/>
          </a:xfrm>
          <a:prstGeom prst="rect">
            <a:avLst/>
          </a:prstGeom>
        </p:spPr>
        <p:txBody>
          <a:bodyPr wrap="square">
            <a:spAutoFit/>
          </a:bodyPr>
          <a:p>
            <a:pPr algn="just">
              <a:lnSpc>
                <a:spcPts val="2900"/>
              </a:lnSpc>
              <a:buClr>
                <a:srgbClr val="000066"/>
              </a:buClr>
            </a:pPr>
            <a:r>
              <a:rPr lang="zh-CN" altLang="en-US" sz="1600" spc="300" dirty="0">
                <a:solidFill>
                  <a:schemeClr val="tx1">
                    <a:lumMod val="95000"/>
                    <a:lumOff val="5000"/>
                  </a:schemeClr>
                </a:solidFill>
                <a:cs typeface="+mn-ea"/>
                <a:sym typeface="+mn-lt"/>
              </a:rPr>
              <a:t>当地政府机关的大力支持及国家相关政策的</a:t>
            </a:r>
            <a:r>
              <a:rPr lang="zh-CN" altLang="en-US" sz="1600" spc="300" dirty="0">
                <a:solidFill>
                  <a:schemeClr val="tx1">
                    <a:lumMod val="95000"/>
                    <a:lumOff val="5000"/>
                  </a:schemeClr>
                </a:solidFill>
                <a:cs typeface="+mn-ea"/>
                <a:sym typeface="+mn-lt"/>
              </a:rPr>
              <a:t>帮扶。</a:t>
            </a:r>
            <a:endParaRPr lang="zh-CN" altLang="en-US" sz="1600" spc="300" dirty="0">
              <a:solidFill>
                <a:schemeClr val="tx1">
                  <a:lumMod val="95000"/>
                  <a:lumOff val="5000"/>
                </a:schemeClr>
              </a:solidFill>
              <a:cs typeface="+mn-ea"/>
              <a:sym typeface="+mn-lt"/>
            </a:endParaRPr>
          </a:p>
        </p:txBody>
      </p:sp>
      <p:sp>
        <p:nvSpPr>
          <p:cNvPr id="51" name="矩形 50"/>
          <p:cNvSpPr/>
          <p:nvPr>
            <p:custDataLst>
              <p:tags r:id="rId18"/>
            </p:custDataLst>
          </p:nvPr>
        </p:nvSpPr>
        <p:spPr>
          <a:xfrm>
            <a:off x="5189182" y="2103932"/>
            <a:ext cx="5958589" cy="835025"/>
          </a:xfrm>
          <a:prstGeom prst="rect">
            <a:avLst/>
          </a:prstGeom>
        </p:spPr>
        <p:txBody>
          <a:bodyPr wrap="square">
            <a:spAutoFit/>
          </a:bodyPr>
          <a:p>
            <a:pPr algn="just">
              <a:lnSpc>
                <a:spcPts val="2900"/>
              </a:lnSpc>
              <a:buClr>
                <a:srgbClr val="000066"/>
              </a:buClr>
            </a:pPr>
            <a:r>
              <a:rPr lang="zh-CN" altLang="en-US" sz="1600" spc="300" dirty="0">
                <a:solidFill>
                  <a:schemeClr val="tx1">
                    <a:lumMod val="95000"/>
                    <a:lumOff val="5000"/>
                  </a:schemeClr>
                </a:solidFill>
                <a:cs typeface="+mn-ea"/>
                <a:sym typeface="+mn-lt"/>
              </a:rPr>
              <a:t>李东生带领</a:t>
            </a:r>
            <a:r>
              <a:rPr lang="en-US" altLang="zh-CN" sz="1600" spc="300" dirty="0">
                <a:solidFill>
                  <a:schemeClr val="tx1">
                    <a:lumMod val="95000"/>
                    <a:lumOff val="5000"/>
                  </a:schemeClr>
                </a:solidFill>
                <a:cs typeface="+mn-ea"/>
                <a:sym typeface="+mn-lt"/>
              </a:rPr>
              <a:t>TCL</a:t>
            </a:r>
            <a:r>
              <a:rPr lang="zh-CN" altLang="en-US" sz="1600" spc="300" dirty="0">
                <a:solidFill>
                  <a:schemeClr val="tx1">
                    <a:lumMod val="95000"/>
                    <a:lumOff val="5000"/>
                  </a:schemeClr>
                </a:solidFill>
                <a:cs typeface="+mn-ea"/>
                <a:sym typeface="+mn-lt"/>
              </a:rPr>
              <a:t>做大做强的决心：希望</a:t>
            </a:r>
            <a:r>
              <a:rPr lang="en-US" altLang="zh-CN" sz="1600" spc="300" dirty="0">
                <a:solidFill>
                  <a:schemeClr val="tx1">
                    <a:lumMod val="95000"/>
                    <a:lumOff val="5000"/>
                  </a:schemeClr>
                </a:solidFill>
                <a:cs typeface="+mn-ea"/>
                <a:sym typeface="+mn-lt"/>
              </a:rPr>
              <a:t>TCL</a:t>
            </a:r>
            <a:r>
              <a:rPr lang="zh-CN" altLang="en-US" sz="1600" spc="300" dirty="0">
                <a:solidFill>
                  <a:schemeClr val="tx1">
                    <a:lumMod val="95000"/>
                    <a:lumOff val="5000"/>
                  </a:schemeClr>
                </a:solidFill>
                <a:cs typeface="+mn-ea"/>
                <a:sym typeface="+mn-lt"/>
              </a:rPr>
              <a:t>不苟活，活得像模像样。</a:t>
            </a:r>
            <a:endParaRPr lang="zh-CN" altLang="en-US" sz="1600" spc="300" dirty="0">
              <a:solidFill>
                <a:schemeClr val="tx1">
                  <a:lumMod val="95000"/>
                  <a:lumOff val="5000"/>
                </a:schemeClr>
              </a:solidFill>
              <a:cs typeface="+mn-ea"/>
              <a:sym typeface="+mn-lt"/>
            </a:endParaRPr>
          </a:p>
        </p:txBody>
      </p:sp>
      <p:sp>
        <p:nvSpPr>
          <p:cNvPr id="57" name="矩形 56"/>
          <p:cNvSpPr/>
          <p:nvPr>
            <p:custDataLst>
              <p:tags r:id="rId19"/>
            </p:custDataLst>
          </p:nvPr>
        </p:nvSpPr>
        <p:spPr>
          <a:xfrm>
            <a:off x="5189182" y="5747562"/>
            <a:ext cx="5958589" cy="835025"/>
          </a:xfrm>
          <a:prstGeom prst="rect">
            <a:avLst/>
          </a:prstGeom>
        </p:spPr>
        <p:txBody>
          <a:bodyPr wrap="square">
            <a:spAutoFit/>
          </a:bodyPr>
          <a:p>
            <a:pPr algn="just">
              <a:lnSpc>
                <a:spcPts val="2900"/>
              </a:lnSpc>
              <a:buClr>
                <a:srgbClr val="000066"/>
              </a:buClr>
            </a:pPr>
            <a:r>
              <a:rPr lang="zh-CN" altLang="en-US" sz="1600" spc="300" dirty="0">
                <a:solidFill>
                  <a:schemeClr val="tx1">
                    <a:lumMod val="95000"/>
                    <a:lumOff val="5000"/>
                  </a:schemeClr>
                </a:solidFill>
                <a:cs typeface="+mn-ea"/>
                <a:sym typeface="+mn-lt"/>
              </a:rPr>
              <a:t>公司中的基层人才的积极配合，积极进言，共同推动变革的</a:t>
            </a:r>
            <a:r>
              <a:rPr lang="zh-CN" altLang="en-US" sz="1600" spc="300" dirty="0">
                <a:solidFill>
                  <a:schemeClr val="tx1">
                    <a:lumMod val="95000"/>
                    <a:lumOff val="5000"/>
                  </a:schemeClr>
                </a:solidFill>
                <a:cs typeface="+mn-ea"/>
                <a:sym typeface="+mn-lt"/>
              </a:rPr>
              <a:t>完成。</a:t>
            </a:r>
            <a:endParaRPr lang="zh-CN" altLang="en-US" sz="1600" spc="300" dirty="0">
              <a:solidFill>
                <a:schemeClr val="tx1">
                  <a:lumMod val="95000"/>
                  <a:lumOff val="5000"/>
                </a:schemeClr>
              </a:solidFill>
              <a:cs typeface="+mn-ea"/>
              <a:sym typeface="+mn-lt"/>
            </a:endParaRPr>
          </a:p>
        </p:txBody>
      </p:sp>
      <p:sp>
        <p:nvSpPr>
          <p:cNvPr id="58" name="文本框 57"/>
          <p:cNvSpPr txBox="1"/>
          <p:nvPr/>
        </p:nvSpPr>
        <p:spPr>
          <a:xfrm>
            <a:off x="379095" y="231140"/>
            <a:ext cx="10427970" cy="583565"/>
          </a:xfrm>
          <a:prstGeom prst="rect">
            <a:avLst/>
          </a:prstGeom>
          <a:noFill/>
        </p:spPr>
        <p:txBody>
          <a:bodyPr wrap="square" rtlCol="0">
            <a:spAutoFit/>
          </a:bodyPr>
          <a:p>
            <a:r>
              <a:rPr lang="en-US" altLang="zh-CN" sz="3200"/>
              <a:t>Q2.</a:t>
            </a:r>
            <a:r>
              <a:rPr lang="zh-CN" altLang="en-US" sz="3200"/>
              <a:t>李东生启动</a:t>
            </a:r>
            <a:r>
              <a:rPr lang="en-US" altLang="zh-CN" sz="3200"/>
              <a:t>TCL</a:t>
            </a:r>
            <a:r>
              <a:rPr lang="zh-CN" altLang="en-US" sz="3200"/>
              <a:t>第四次变革的的驱动力是什么？</a:t>
            </a:r>
            <a:endParaRPr lang="en-US" altLang="zh-CN" sz="32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barn(inVertic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randombar(horizontal)">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6805"/>
          </a:xfrm>
          <a:prstGeom prst="rect">
            <a:avLst/>
          </a:prstGeom>
          <a:noFill/>
        </p:spPr>
        <p:txBody>
          <a:bodyPr wrap="square" rtlCol="0">
            <a:spAutoFit/>
          </a:bodyPr>
          <a:lstStyle/>
          <a:p>
            <a:r>
              <a:rPr lang="en-US" altLang="zh-CN" sz="6600" dirty="0">
                <a:solidFill>
                  <a:srgbClr val="536482"/>
                </a:solidFill>
                <a:cs typeface="+mn-ea"/>
                <a:sym typeface="+mn-lt"/>
              </a:rPr>
              <a:t>04</a:t>
            </a:r>
            <a:endParaRPr lang="zh-CN" altLang="en-US" sz="6600" dirty="0">
              <a:solidFill>
                <a:srgbClr val="536482"/>
              </a:solidFill>
              <a:cs typeface="+mn-ea"/>
              <a:sym typeface="+mn-lt"/>
            </a:endParaRPr>
          </a:p>
        </p:txBody>
      </p:sp>
      <p:sp>
        <p:nvSpPr>
          <p:cNvPr id="9" name="文本框 8"/>
          <p:cNvSpPr txBox="1"/>
          <p:nvPr/>
        </p:nvSpPr>
        <p:spPr>
          <a:xfrm>
            <a:off x="4426674" y="2367171"/>
            <a:ext cx="3461931" cy="2122805"/>
          </a:xfrm>
          <a:prstGeom prst="rect">
            <a:avLst/>
          </a:prstGeom>
          <a:noFill/>
        </p:spPr>
        <p:txBody>
          <a:bodyPr wrap="square" rtlCol="0">
            <a:spAutoFit/>
          </a:bodyPr>
          <a:lstStyle/>
          <a:p>
            <a:pPr algn="ctr"/>
            <a:r>
              <a:rPr lang="zh-CN" altLang="en-US" sz="4400" spc="300" dirty="0">
                <a:solidFill>
                  <a:srgbClr val="536482"/>
                </a:solidFill>
                <a:cs typeface="+mn-ea"/>
                <a:sym typeface="+mn-lt"/>
              </a:rPr>
              <a:t>增强领导力的措施</a:t>
            </a:r>
            <a:endParaRPr lang="zh-CN" altLang="en-US" sz="4400" spc="300" dirty="0">
              <a:solidFill>
                <a:srgbClr val="536482"/>
              </a:solidFill>
              <a:cs typeface="+mn-ea"/>
              <a:sym typeface="+mn-lt"/>
            </a:endParaRPr>
          </a:p>
          <a:p>
            <a:pPr algn="ct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706138" y="3472"/>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4" name="矩形 3"/>
          <p:cNvSpPr/>
          <p:nvPr>
            <p:custDataLst>
              <p:tags r:id="rId7"/>
            </p:custDataLst>
          </p:nvPr>
        </p:nvSpPr>
        <p:spPr>
          <a:xfrm>
            <a:off x="8754024" y="2906750"/>
            <a:ext cx="1979635" cy="269430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探索和发展新兴业务，用新机制招徕人才。选择在某个产业邻域实现领先的平台级公司进行战略投资或</a:t>
            </a:r>
            <a:r>
              <a:rPr lang="zh-CN" altLang="en-US" sz="1600" spc="300" dirty="0">
                <a:solidFill>
                  <a:schemeClr val="tx1">
                    <a:lumMod val="95000"/>
                    <a:lumOff val="5000"/>
                  </a:schemeClr>
                </a:solidFill>
                <a:cs typeface="+mn-ea"/>
                <a:sym typeface="+mn-lt"/>
              </a:rPr>
              <a:t>并购。</a:t>
            </a:r>
            <a:endParaRPr lang="zh-CN" altLang="en-US" sz="1600" spc="300" dirty="0">
              <a:solidFill>
                <a:schemeClr val="tx1">
                  <a:lumMod val="95000"/>
                  <a:lumOff val="5000"/>
                </a:schemeClr>
              </a:solidFill>
              <a:cs typeface="+mn-ea"/>
              <a:sym typeface="+mn-lt"/>
            </a:endParaRPr>
          </a:p>
        </p:txBody>
      </p:sp>
      <p:sp>
        <p:nvSpPr>
          <p:cNvPr id="5" name="矩形 4"/>
          <p:cNvSpPr/>
          <p:nvPr>
            <p:custDataLst>
              <p:tags r:id="rId8"/>
            </p:custDataLst>
          </p:nvPr>
        </p:nvSpPr>
        <p:spPr>
          <a:xfrm>
            <a:off x="1396168" y="2906750"/>
            <a:ext cx="1931593" cy="30664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采取</a:t>
            </a:r>
            <a:r>
              <a:rPr lang="en-US" altLang="zh-CN" sz="1600" spc="300" dirty="0">
                <a:solidFill>
                  <a:schemeClr val="tx1">
                    <a:lumMod val="95000"/>
                    <a:lumOff val="5000"/>
                  </a:schemeClr>
                </a:solidFill>
                <a:cs typeface="+mn-ea"/>
                <a:sym typeface="+mn-lt"/>
              </a:rPr>
              <a:t>“</a:t>
            </a:r>
            <a:r>
              <a:rPr lang="zh-CN" altLang="en-US" sz="1600" spc="300" dirty="0">
                <a:solidFill>
                  <a:schemeClr val="tx1">
                    <a:lumMod val="95000"/>
                    <a:lumOff val="5000"/>
                  </a:schemeClr>
                </a:solidFill>
                <a:cs typeface="+mn-ea"/>
                <a:sym typeface="+mn-lt"/>
              </a:rPr>
              <a:t>齿轮型组织</a:t>
            </a:r>
            <a:r>
              <a:rPr lang="en-US" altLang="zh-CN" sz="1600" spc="300" dirty="0">
                <a:solidFill>
                  <a:schemeClr val="tx1">
                    <a:lumMod val="95000"/>
                    <a:lumOff val="5000"/>
                  </a:schemeClr>
                </a:solidFill>
                <a:cs typeface="+mn-ea"/>
                <a:sym typeface="+mn-lt"/>
              </a:rPr>
              <a:t>”</a:t>
            </a:r>
            <a:r>
              <a:rPr lang="zh-CN" altLang="en-US" sz="1600" spc="300" dirty="0">
                <a:solidFill>
                  <a:schemeClr val="tx1">
                    <a:lumMod val="95000"/>
                    <a:lumOff val="5000"/>
                  </a:schemeClr>
                </a:solidFill>
                <a:cs typeface="+mn-ea"/>
                <a:sym typeface="+mn-lt"/>
              </a:rPr>
              <a:t>，给不同的部门都分配一个负责人，小组成员各自厘清责任，遇到问题及时响应，由专门的人负责</a:t>
            </a:r>
            <a:r>
              <a:rPr lang="zh-CN" altLang="en-US" sz="1600" spc="300" dirty="0">
                <a:solidFill>
                  <a:schemeClr val="tx1">
                    <a:lumMod val="95000"/>
                    <a:lumOff val="5000"/>
                  </a:schemeClr>
                </a:solidFill>
                <a:cs typeface="+mn-ea"/>
                <a:sym typeface="+mn-lt"/>
              </a:rPr>
              <a:t>统筹。</a:t>
            </a:r>
            <a:endParaRPr lang="zh-CN" altLang="en-US" sz="1600" spc="300" dirty="0">
              <a:solidFill>
                <a:schemeClr val="tx1">
                  <a:lumMod val="95000"/>
                  <a:lumOff val="5000"/>
                </a:schemeClr>
              </a:solidFill>
              <a:cs typeface="+mn-ea"/>
              <a:sym typeface="+mn-lt"/>
            </a:endParaRPr>
          </a:p>
        </p:txBody>
      </p:sp>
      <p:sp>
        <p:nvSpPr>
          <p:cNvPr id="8" name="矩形 7"/>
          <p:cNvSpPr/>
          <p:nvPr>
            <p:custDataLst>
              <p:tags r:id="rId9"/>
            </p:custDataLst>
          </p:nvPr>
        </p:nvSpPr>
        <p:spPr>
          <a:xfrm>
            <a:off x="6144859" y="2921355"/>
            <a:ext cx="2017718" cy="30664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把大部分的股权放给管理层。重组后的企业快速发展，</a:t>
            </a:r>
            <a:r>
              <a:rPr lang="en-US" altLang="zh-CN" sz="1600" spc="300" dirty="0">
                <a:solidFill>
                  <a:schemeClr val="tx1">
                    <a:lumMod val="95000"/>
                    <a:lumOff val="5000"/>
                  </a:schemeClr>
                </a:solidFill>
                <a:cs typeface="+mn-ea"/>
                <a:sym typeface="+mn-lt"/>
              </a:rPr>
              <a:t>TCL</a:t>
            </a:r>
            <a:r>
              <a:rPr lang="zh-CN" altLang="en-US" sz="1600" spc="300" dirty="0">
                <a:solidFill>
                  <a:schemeClr val="tx1">
                    <a:lumMod val="95000"/>
                    <a:lumOff val="5000"/>
                  </a:schemeClr>
                </a:solidFill>
                <a:cs typeface="+mn-ea"/>
                <a:sym typeface="+mn-lt"/>
              </a:rPr>
              <a:t>不仅收回了部分资金，而且可以把更多的精力用在核心业务</a:t>
            </a:r>
            <a:r>
              <a:rPr lang="zh-CN" altLang="en-US" sz="1600" spc="300" dirty="0">
                <a:solidFill>
                  <a:schemeClr val="tx1">
                    <a:lumMod val="95000"/>
                    <a:lumOff val="5000"/>
                  </a:schemeClr>
                </a:solidFill>
                <a:cs typeface="+mn-ea"/>
                <a:sym typeface="+mn-lt"/>
              </a:rPr>
              <a:t>上。</a:t>
            </a:r>
            <a:endParaRPr lang="zh-CN" altLang="en-US" sz="1600" spc="300" dirty="0">
              <a:solidFill>
                <a:schemeClr val="tx1">
                  <a:lumMod val="95000"/>
                  <a:lumOff val="5000"/>
                </a:schemeClr>
              </a:solidFill>
              <a:cs typeface="+mn-ea"/>
              <a:sym typeface="+mn-lt"/>
            </a:endParaRPr>
          </a:p>
        </p:txBody>
      </p:sp>
      <p:sp>
        <p:nvSpPr>
          <p:cNvPr id="10" name="矩形 9"/>
          <p:cNvSpPr/>
          <p:nvPr>
            <p:custDataLst>
              <p:tags r:id="rId10"/>
            </p:custDataLst>
          </p:nvPr>
        </p:nvSpPr>
        <p:spPr>
          <a:xfrm>
            <a:off x="3733152" y="2921355"/>
            <a:ext cx="1845026" cy="232283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采取奖赏措施，市场业绩越好，小组成员的奖金越高，提高了员工工作的积极</a:t>
            </a:r>
            <a:r>
              <a:rPr lang="zh-CN" altLang="en-US" sz="1600" spc="300" dirty="0">
                <a:solidFill>
                  <a:schemeClr val="tx1">
                    <a:lumMod val="95000"/>
                    <a:lumOff val="5000"/>
                  </a:schemeClr>
                </a:solidFill>
                <a:cs typeface="+mn-ea"/>
                <a:sym typeface="+mn-lt"/>
              </a:rPr>
              <a:t>性。</a:t>
            </a:r>
            <a:endParaRPr lang="zh-CN" altLang="en-US" sz="1600" spc="300" dirty="0">
              <a:solidFill>
                <a:schemeClr val="tx1">
                  <a:lumMod val="95000"/>
                  <a:lumOff val="5000"/>
                </a:schemeClr>
              </a:solidFill>
              <a:cs typeface="+mn-ea"/>
              <a:sym typeface="+mn-lt"/>
            </a:endParaRPr>
          </a:p>
        </p:txBody>
      </p:sp>
      <p:grpSp>
        <p:nvGrpSpPr>
          <p:cNvPr id="28" name="组合 27"/>
          <p:cNvGrpSpPr/>
          <p:nvPr>
            <p:custDataLst>
              <p:tags r:id="rId11"/>
            </p:custDataLst>
          </p:nvPr>
        </p:nvGrpSpPr>
        <p:grpSpPr>
          <a:xfrm>
            <a:off x="1192698" y="1900401"/>
            <a:ext cx="9990742" cy="876429"/>
            <a:chOff x="1280632" y="2564369"/>
            <a:chExt cx="8451065" cy="1514496"/>
          </a:xfrm>
          <a:solidFill>
            <a:srgbClr val="536482"/>
          </a:solidFill>
        </p:grpSpPr>
        <p:sp>
          <p:nvSpPr>
            <p:cNvPr id="29" name="Shape 333"/>
            <p:cNvSpPr/>
            <p:nvPr>
              <p:custDataLst>
                <p:tags r:id="rId12"/>
              </p:custDataLst>
            </p:nvPr>
          </p:nvSpPr>
          <p:spPr>
            <a:xfrm>
              <a:off x="1280632"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grp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30" name="Shape 338"/>
            <p:cNvSpPr/>
            <p:nvPr>
              <p:custDataLst>
                <p:tags r:id="rId13"/>
              </p:custDataLst>
            </p:nvPr>
          </p:nvSpPr>
          <p:spPr>
            <a:xfrm>
              <a:off x="3298006"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ADB9CA"/>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31" name="Shape 343"/>
            <p:cNvSpPr/>
            <p:nvPr>
              <p:custDataLst>
                <p:tags r:id="rId14"/>
              </p:custDataLst>
            </p:nvPr>
          </p:nvSpPr>
          <p:spPr>
            <a:xfrm>
              <a:off x="5365220"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grp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32" name="Shape 348"/>
            <p:cNvSpPr/>
            <p:nvPr>
              <p:custDataLst>
                <p:tags r:id="rId15"/>
              </p:custDataLst>
            </p:nvPr>
          </p:nvSpPr>
          <p:spPr>
            <a:xfrm>
              <a:off x="7415406" y="2564369"/>
              <a:ext cx="2316291"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ADB9CA"/>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grpSp>
      <p:grpSp>
        <p:nvGrpSpPr>
          <p:cNvPr id="33" name="组合 32"/>
          <p:cNvGrpSpPr/>
          <p:nvPr>
            <p:custDataLst>
              <p:tags r:id="rId16"/>
            </p:custDataLst>
          </p:nvPr>
        </p:nvGrpSpPr>
        <p:grpSpPr>
          <a:xfrm>
            <a:off x="4665537" y="1985451"/>
            <a:ext cx="724494" cy="724494"/>
            <a:chOff x="6283390" y="3838992"/>
            <a:chExt cx="724494" cy="724494"/>
          </a:xfrm>
          <a:solidFill>
            <a:schemeClr val="bg1"/>
          </a:solidFill>
        </p:grpSpPr>
        <p:sp>
          <p:nvSpPr>
            <p:cNvPr id="34" name="Donut 65"/>
            <p:cNvSpPr/>
            <p:nvPr>
              <p:custDataLst>
                <p:tags r:id="rId17"/>
              </p:custDataLst>
            </p:nvPr>
          </p:nvSpPr>
          <p:spPr>
            <a:xfrm>
              <a:off x="6283390" y="383899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sp>
          <p:nvSpPr>
            <p:cNvPr id="35" name="Freeform 66"/>
            <p:cNvSpPr>
              <a:spLocks noEditPoints="1"/>
            </p:cNvSpPr>
            <p:nvPr>
              <p:custDataLst>
                <p:tags r:id="rId18"/>
              </p:custDataLst>
            </p:nvPr>
          </p:nvSpPr>
          <p:spPr bwMode="auto">
            <a:xfrm>
              <a:off x="6489146" y="4036433"/>
              <a:ext cx="312978" cy="329611"/>
            </a:xfrm>
            <a:custGeom>
              <a:avLst/>
              <a:gdLst>
                <a:gd name="T0" fmla="*/ 20 w 96"/>
                <a:gd name="T1" fmla="*/ 86 h 101"/>
                <a:gd name="T2" fmla="*/ 7 w 96"/>
                <a:gd name="T3" fmla="*/ 58 h 101"/>
                <a:gd name="T4" fmla="*/ 18 w 96"/>
                <a:gd name="T5" fmla="*/ 29 h 101"/>
                <a:gd name="T6" fmla="*/ 42 w 96"/>
                <a:gd name="T7" fmla="*/ 17 h 101"/>
                <a:gd name="T8" fmla="*/ 41 w 96"/>
                <a:gd name="T9" fmla="*/ 9 h 101"/>
                <a:gd name="T10" fmla="*/ 36 w 96"/>
                <a:gd name="T11" fmla="*/ 10 h 101"/>
                <a:gd name="T12" fmla="*/ 35 w 96"/>
                <a:gd name="T13" fmla="*/ 5 h 101"/>
                <a:gd name="T14" fmla="*/ 48 w 96"/>
                <a:gd name="T15" fmla="*/ 3 h 101"/>
                <a:gd name="T16" fmla="*/ 49 w 96"/>
                <a:gd name="T17" fmla="*/ 8 h 101"/>
                <a:gd name="T18" fmla="*/ 44 w 96"/>
                <a:gd name="T19" fmla="*/ 9 h 101"/>
                <a:gd name="T20" fmla="*/ 46 w 96"/>
                <a:gd name="T21" fmla="*/ 16 h 101"/>
                <a:gd name="T22" fmla="*/ 74 w 96"/>
                <a:gd name="T23" fmla="*/ 27 h 101"/>
                <a:gd name="T24" fmla="*/ 87 w 96"/>
                <a:gd name="T25" fmla="*/ 54 h 101"/>
                <a:gd name="T26" fmla="*/ 77 w 96"/>
                <a:gd name="T27" fmla="*/ 83 h 101"/>
                <a:gd name="T28" fmla="*/ 75 w 96"/>
                <a:gd name="T29" fmla="*/ 85 h 101"/>
                <a:gd name="T30" fmla="*/ 79 w 96"/>
                <a:gd name="T31" fmla="*/ 101 h 101"/>
                <a:gd name="T32" fmla="*/ 74 w 96"/>
                <a:gd name="T33" fmla="*/ 101 h 101"/>
                <a:gd name="T34" fmla="*/ 63 w 96"/>
                <a:gd name="T35" fmla="*/ 93 h 101"/>
                <a:gd name="T36" fmla="*/ 49 w 96"/>
                <a:gd name="T37" fmla="*/ 96 h 101"/>
                <a:gd name="T38" fmla="*/ 32 w 96"/>
                <a:gd name="T39" fmla="*/ 93 h 101"/>
                <a:gd name="T40" fmla="*/ 22 w 96"/>
                <a:gd name="T41" fmla="*/ 101 h 101"/>
                <a:gd name="T42" fmla="*/ 17 w 96"/>
                <a:gd name="T43" fmla="*/ 101 h 101"/>
                <a:gd name="T44" fmla="*/ 21 w 96"/>
                <a:gd name="T45" fmla="*/ 86 h 101"/>
                <a:gd name="T46" fmla="*/ 20 w 96"/>
                <a:gd name="T47" fmla="*/ 86 h 101"/>
                <a:gd name="T48" fmla="*/ 82 w 96"/>
                <a:gd name="T49" fmla="*/ 6 h 101"/>
                <a:gd name="T50" fmla="*/ 60 w 96"/>
                <a:gd name="T51" fmla="*/ 11 h 101"/>
                <a:gd name="T52" fmla="*/ 92 w 96"/>
                <a:gd name="T53" fmla="*/ 31 h 101"/>
                <a:gd name="T54" fmla="*/ 88 w 96"/>
                <a:gd name="T55" fmla="*/ 9 h 101"/>
                <a:gd name="T56" fmla="*/ 92 w 96"/>
                <a:gd name="T57" fmla="*/ 3 h 101"/>
                <a:gd name="T58" fmla="*/ 86 w 96"/>
                <a:gd name="T59" fmla="*/ 0 h 101"/>
                <a:gd name="T60" fmla="*/ 82 w 96"/>
                <a:gd name="T61" fmla="*/ 6 h 101"/>
                <a:gd name="T62" fmla="*/ 14 w 96"/>
                <a:gd name="T63" fmla="*/ 6 h 101"/>
                <a:gd name="T64" fmla="*/ 10 w 96"/>
                <a:gd name="T65" fmla="*/ 0 h 101"/>
                <a:gd name="T66" fmla="*/ 4 w 96"/>
                <a:gd name="T67" fmla="*/ 3 h 101"/>
                <a:gd name="T68" fmla="*/ 8 w 96"/>
                <a:gd name="T69" fmla="*/ 9 h 101"/>
                <a:gd name="T70" fmla="*/ 4 w 96"/>
                <a:gd name="T71" fmla="*/ 31 h 101"/>
                <a:gd name="T72" fmla="*/ 36 w 96"/>
                <a:gd name="T73" fmla="*/ 11 h 101"/>
                <a:gd name="T74" fmla="*/ 14 w 96"/>
                <a:gd name="T75" fmla="*/ 6 h 101"/>
                <a:gd name="T76" fmla="*/ 43 w 96"/>
                <a:gd name="T77" fmla="*/ 54 h 101"/>
                <a:gd name="T78" fmla="*/ 42 w 96"/>
                <a:gd name="T79" fmla="*/ 56 h 101"/>
                <a:gd name="T80" fmla="*/ 22 w 96"/>
                <a:gd name="T81" fmla="*/ 61 h 101"/>
                <a:gd name="T82" fmla="*/ 22 w 96"/>
                <a:gd name="T83" fmla="*/ 64 h 101"/>
                <a:gd name="T84" fmla="*/ 43 w 96"/>
                <a:gd name="T85" fmla="*/ 59 h 101"/>
                <a:gd name="T86" fmla="*/ 46 w 96"/>
                <a:gd name="T87" fmla="*/ 61 h 101"/>
                <a:gd name="T88" fmla="*/ 54 w 96"/>
                <a:gd name="T89" fmla="*/ 58 h 101"/>
                <a:gd name="T90" fmla="*/ 50 w 96"/>
                <a:gd name="T91" fmla="*/ 50 h 101"/>
                <a:gd name="T92" fmla="*/ 49 w 96"/>
                <a:gd name="T93" fmla="*/ 50 h 101"/>
                <a:gd name="T94" fmla="*/ 41 w 96"/>
                <a:gd name="T95" fmla="*/ 37 h 101"/>
                <a:gd name="T96" fmla="*/ 38 w 96"/>
                <a:gd name="T97" fmla="*/ 39 h 101"/>
                <a:gd name="T98" fmla="*/ 44 w 96"/>
                <a:gd name="T99" fmla="*/ 52 h 101"/>
                <a:gd name="T100" fmla="*/ 43 w 96"/>
                <a:gd name="T101" fmla="*/ 54 h 101"/>
                <a:gd name="T102" fmla="*/ 18 w 96"/>
                <a:gd name="T103" fmla="*/ 58 h 101"/>
                <a:gd name="T104" fmla="*/ 28 w 96"/>
                <a:gd name="T105" fmla="*/ 78 h 101"/>
                <a:gd name="T106" fmla="*/ 49 w 96"/>
                <a:gd name="T107" fmla="*/ 85 h 101"/>
                <a:gd name="T108" fmla="*/ 69 w 96"/>
                <a:gd name="T109" fmla="*/ 76 h 101"/>
                <a:gd name="T110" fmla="*/ 76 w 96"/>
                <a:gd name="T111" fmla="*/ 55 h 101"/>
                <a:gd name="T112" fmla="*/ 67 w 96"/>
                <a:gd name="T113" fmla="*/ 35 h 101"/>
                <a:gd name="T114" fmla="*/ 46 w 96"/>
                <a:gd name="T115" fmla="*/ 27 h 101"/>
                <a:gd name="T116" fmla="*/ 26 w 96"/>
                <a:gd name="T117" fmla="*/ 37 h 101"/>
                <a:gd name="T118" fmla="*/ 18 w 96"/>
                <a:gd name="T119" fmla="*/ 5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grpSp>
      <p:grpSp>
        <p:nvGrpSpPr>
          <p:cNvPr id="36" name="组合 35"/>
          <p:cNvGrpSpPr/>
          <p:nvPr>
            <p:custDataLst>
              <p:tags r:id="rId19"/>
            </p:custDataLst>
          </p:nvPr>
        </p:nvGrpSpPr>
        <p:grpSpPr>
          <a:xfrm>
            <a:off x="9427236" y="1985451"/>
            <a:ext cx="724494" cy="724494"/>
            <a:chOff x="8956794" y="5356031"/>
            <a:chExt cx="724494" cy="724494"/>
          </a:xfrm>
          <a:solidFill>
            <a:schemeClr val="bg1"/>
          </a:solidFill>
        </p:grpSpPr>
        <p:sp>
          <p:nvSpPr>
            <p:cNvPr id="37" name="Freeform 68"/>
            <p:cNvSpPr>
              <a:spLocks noEditPoints="1"/>
            </p:cNvSpPr>
            <p:nvPr>
              <p:custDataLst>
                <p:tags r:id="rId20"/>
              </p:custDataLst>
            </p:nvPr>
          </p:nvSpPr>
          <p:spPr bwMode="auto">
            <a:xfrm>
              <a:off x="9200349" y="5559055"/>
              <a:ext cx="237380" cy="347754"/>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4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5 h 107"/>
                <a:gd name="T86" fmla="*/ 2 w 73"/>
                <a:gd name="T87" fmla="*/ 27 h 107"/>
                <a:gd name="T88" fmla="*/ 8 w 73"/>
                <a:gd name="T89" fmla="*/ 53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38" name="Donut 70"/>
            <p:cNvSpPr/>
            <p:nvPr>
              <p:custDataLst>
                <p:tags r:id="rId21"/>
              </p:custDataLst>
            </p:nvPr>
          </p:nvSpPr>
          <p:spPr>
            <a:xfrm>
              <a:off x="8956794" y="5356031"/>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grpSp>
        <p:nvGrpSpPr>
          <p:cNvPr id="39" name="组合 38"/>
          <p:cNvGrpSpPr/>
          <p:nvPr>
            <p:custDataLst>
              <p:tags r:id="rId22"/>
            </p:custDataLst>
          </p:nvPr>
        </p:nvGrpSpPr>
        <p:grpSpPr>
          <a:xfrm>
            <a:off x="2117682" y="2061016"/>
            <a:ext cx="724494" cy="724494"/>
            <a:chOff x="6277970" y="5356182"/>
            <a:chExt cx="724494" cy="724494"/>
          </a:xfrm>
          <a:solidFill>
            <a:schemeClr val="bg1"/>
          </a:solidFill>
        </p:grpSpPr>
        <p:sp>
          <p:nvSpPr>
            <p:cNvPr id="40" name="Freeform 67"/>
            <p:cNvSpPr>
              <a:spLocks noEditPoints="1"/>
            </p:cNvSpPr>
            <p:nvPr>
              <p:custDataLst>
                <p:tags r:id="rId23"/>
              </p:custDataLst>
            </p:nvPr>
          </p:nvSpPr>
          <p:spPr bwMode="auto">
            <a:xfrm>
              <a:off x="6460795" y="5561576"/>
              <a:ext cx="355312" cy="287275"/>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41" name="Donut 71"/>
            <p:cNvSpPr/>
            <p:nvPr>
              <p:custDataLst>
                <p:tags r:id="rId24"/>
              </p:custDataLst>
            </p:nvPr>
          </p:nvSpPr>
          <p:spPr>
            <a:xfrm>
              <a:off x="6277970" y="535618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grpSp>
        <p:nvGrpSpPr>
          <p:cNvPr id="42" name="组合 41"/>
          <p:cNvGrpSpPr/>
          <p:nvPr>
            <p:custDataLst>
              <p:tags r:id="rId25"/>
            </p:custDataLst>
          </p:nvPr>
        </p:nvGrpSpPr>
        <p:grpSpPr>
          <a:xfrm>
            <a:off x="7165132" y="1985451"/>
            <a:ext cx="724494" cy="724494"/>
            <a:chOff x="8951088" y="3838992"/>
            <a:chExt cx="724494" cy="724494"/>
          </a:xfrm>
          <a:solidFill>
            <a:schemeClr val="bg1"/>
          </a:solidFill>
        </p:grpSpPr>
        <p:sp>
          <p:nvSpPr>
            <p:cNvPr id="43" name="Freeform 69"/>
            <p:cNvSpPr>
              <a:spLocks noEditPoints="1"/>
            </p:cNvSpPr>
            <p:nvPr>
              <p:custDataLst>
                <p:tags r:id="rId26"/>
              </p:custDataLst>
            </p:nvPr>
          </p:nvSpPr>
          <p:spPr bwMode="auto">
            <a:xfrm>
              <a:off x="9190217" y="4049286"/>
              <a:ext cx="250987" cy="30390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44" name="Donut 72"/>
            <p:cNvSpPr/>
            <p:nvPr>
              <p:custDataLst>
                <p:tags r:id="rId27"/>
              </p:custDataLst>
            </p:nvPr>
          </p:nvSpPr>
          <p:spPr>
            <a:xfrm>
              <a:off x="8951088" y="383899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sp>
        <p:nvSpPr>
          <p:cNvPr id="45" name="矩形: 圆角 7"/>
          <p:cNvSpPr/>
          <p:nvPr/>
        </p:nvSpPr>
        <p:spPr>
          <a:xfrm>
            <a:off x="3971925" y="889635"/>
            <a:ext cx="4431030" cy="800100"/>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47" name="Rectangle 3"/>
          <p:cNvSpPr txBox="1">
            <a:spLocks noChangeArrowheads="1"/>
          </p:cNvSpPr>
          <p:nvPr/>
        </p:nvSpPr>
        <p:spPr>
          <a:xfrm>
            <a:off x="4639310" y="988060"/>
            <a:ext cx="3651250" cy="701675"/>
          </a:xfrm>
          <a:prstGeom prst="rect">
            <a:avLst/>
          </a:prstGeom>
          <a:noFill/>
        </p:spPr>
        <p:txBody>
          <a:bodyPr vert="horz" wrap="square" rtlCol="0">
            <a:no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solidFill>
                  <a:srgbClr val="536482"/>
                </a:solidFill>
                <a:latin typeface="+mn-lt"/>
                <a:ea typeface="+mn-ea"/>
                <a:cs typeface="+mn-ea"/>
                <a:sym typeface="+mn-lt"/>
              </a:rPr>
              <a:t>增强领导力的措施</a:t>
            </a:r>
            <a:endParaRPr lang="zh-CN" altLang="en-US" sz="2800" dirty="0">
              <a:solidFill>
                <a:srgbClr val="536482"/>
              </a:solidFill>
              <a:latin typeface="+mn-lt"/>
              <a:ea typeface="+mn-ea"/>
              <a:cs typeface="+mn-ea"/>
              <a:sym typeface="+mn-lt"/>
            </a:endParaRPr>
          </a:p>
        </p:txBody>
      </p:sp>
      <p:sp>
        <p:nvSpPr>
          <p:cNvPr id="48" name="文本框 47"/>
          <p:cNvSpPr txBox="1"/>
          <p:nvPr/>
        </p:nvSpPr>
        <p:spPr>
          <a:xfrm>
            <a:off x="233045" y="126365"/>
            <a:ext cx="10551795" cy="583565"/>
          </a:xfrm>
          <a:prstGeom prst="rect">
            <a:avLst/>
          </a:prstGeom>
          <a:noFill/>
        </p:spPr>
        <p:txBody>
          <a:bodyPr wrap="square" rtlCol="0">
            <a:spAutoFit/>
          </a:bodyPr>
          <a:p>
            <a:r>
              <a:rPr lang="en-US" altLang="zh-CN" sz="3200"/>
              <a:t>Q3.</a:t>
            </a:r>
            <a:r>
              <a:rPr lang="zh-CN" altLang="en-US" sz="3200"/>
              <a:t>李东生采取了哪些措施来增强自己的领导力</a:t>
            </a:r>
            <a:endParaRPr lang="zh-CN" altLang="en-US" sz="32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6805"/>
          </a:xfrm>
          <a:prstGeom prst="rect">
            <a:avLst/>
          </a:prstGeom>
          <a:noFill/>
        </p:spPr>
        <p:txBody>
          <a:bodyPr wrap="square" rtlCol="0">
            <a:spAutoFit/>
          </a:bodyPr>
          <a:lstStyle/>
          <a:p>
            <a:r>
              <a:rPr lang="en-US" altLang="zh-CN" sz="6600" dirty="0">
                <a:solidFill>
                  <a:srgbClr val="536482"/>
                </a:solidFill>
                <a:cs typeface="+mn-ea"/>
                <a:sym typeface="+mn-lt"/>
              </a:rPr>
              <a:t>05</a:t>
            </a:r>
            <a:endParaRPr lang="zh-CN" altLang="en-US" sz="6600" dirty="0">
              <a:solidFill>
                <a:srgbClr val="536482"/>
              </a:solidFill>
              <a:cs typeface="+mn-ea"/>
              <a:sym typeface="+mn-lt"/>
            </a:endParaRPr>
          </a:p>
        </p:txBody>
      </p:sp>
      <p:sp>
        <p:nvSpPr>
          <p:cNvPr id="9" name="文本框 8"/>
          <p:cNvSpPr txBox="1"/>
          <p:nvPr/>
        </p:nvSpPr>
        <p:spPr>
          <a:xfrm>
            <a:off x="4426674" y="2367171"/>
            <a:ext cx="3461931" cy="2799715"/>
          </a:xfrm>
          <a:prstGeom prst="rect">
            <a:avLst/>
          </a:prstGeom>
          <a:noFill/>
        </p:spPr>
        <p:txBody>
          <a:bodyPr wrap="square" rtlCol="0">
            <a:spAutoFit/>
          </a:bodyPr>
          <a:lstStyle/>
          <a:p>
            <a:pPr algn="ctr"/>
            <a:r>
              <a:rPr lang="zh-CN" altLang="en-US" sz="4400" spc="300" dirty="0">
                <a:solidFill>
                  <a:srgbClr val="536482"/>
                </a:solidFill>
                <a:cs typeface="+mn-ea"/>
                <a:sym typeface="+mn-lt"/>
              </a:rPr>
              <a:t>李东生具备的领导者特质</a:t>
            </a:r>
            <a:endParaRPr lang="zh-CN" altLang="en-US" sz="4400" spc="300" dirty="0">
              <a:solidFill>
                <a:srgbClr val="536482"/>
              </a:solidFill>
              <a:cs typeface="+mn-ea"/>
              <a:sym typeface="+mn-lt"/>
            </a:endParaRPr>
          </a:p>
          <a:p>
            <a:pPr algn="ct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rotWithShape="1">
          <a:blip r:embed="rId2" cstate="screen">
            <a:extLst>
              <a:ext uri="{BEBA8EAE-BF5A-486C-A8C5-ECC9F3942E4B}">
                <a14:imgProps xmlns:a14="http://schemas.microsoft.com/office/drawing/2010/main">
                  <a14:imgLayer r:embed="rId3">
                    <a14:imgEffect>
                      <a14:colorTemperature colorTemp="7200"/>
                    </a14:imgEffect>
                    <a14:imgEffect>
                      <a14:saturation sat="66000"/>
                    </a14:imgEffect>
                  </a14:imgLayer>
                </a14:imgProps>
              </a:ext>
            </a:extLst>
          </a:blip>
          <a:srcRect/>
          <a:stretch>
            <a:fillRect/>
          </a:stretch>
        </p:blipFill>
        <p:spPr>
          <a:xfrm>
            <a:off x="0" y="3869863"/>
            <a:ext cx="10351945" cy="1822151"/>
          </a:xfrm>
          <a:prstGeom prst="rect">
            <a:avLst/>
          </a:prstGeom>
        </p:spPr>
      </p:pic>
      <p:pic>
        <p:nvPicPr>
          <p:cNvPr id="5" name="图片 4"/>
          <p:cNvPicPr>
            <a:picLocks noChangeAspect="1"/>
          </p:cNvPicPr>
          <p:nvPr>
            <p:custDataLst>
              <p:tags r:id="rId4"/>
            </p:custDataLst>
          </p:nvPr>
        </p:nvPicPr>
        <p:blipFill rotWithShape="1">
          <a:blip r:embed="rId5" cstate="screen">
            <a:extLst>
              <a:ext uri="{BEBA8EAE-BF5A-486C-A8C5-ECC9F3942E4B}">
                <a14:imgProps xmlns:a14="http://schemas.microsoft.com/office/drawing/2010/main">
                  <a14:imgLayer r:embed="rId6">
                    <a14:imgEffect>
                      <a14:colorTemperature colorTemp="7200"/>
                    </a14:imgEffect>
                    <a14:imgEffect>
                      <a14:saturation sat="66000"/>
                    </a14:imgEffect>
                  </a14:imgLayer>
                </a14:imgProps>
              </a:ext>
            </a:extLst>
          </a:blip>
          <a:srcRect/>
          <a:stretch>
            <a:fillRect/>
          </a:stretch>
        </p:blipFill>
        <p:spPr>
          <a:xfrm>
            <a:off x="1715595" y="1826560"/>
            <a:ext cx="10351945" cy="1803265"/>
          </a:xfrm>
          <a:prstGeom prst="rect">
            <a:avLst/>
          </a:prstGeom>
        </p:spPr>
      </p:pic>
      <p:grpSp>
        <p:nvGrpSpPr>
          <p:cNvPr id="28" name="组合 27"/>
          <p:cNvGrpSpPr/>
          <p:nvPr>
            <p:custDataLst>
              <p:tags r:id="rId7"/>
            </p:custDataLst>
          </p:nvPr>
        </p:nvGrpSpPr>
        <p:grpSpPr>
          <a:xfrm>
            <a:off x="312007" y="1547192"/>
            <a:ext cx="6544149" cy="2132480"/>
            <a:chOff x="784548" y="1172643"/>
            <a:chExt cx="6611643" cy="2154474"/>
          </a:xfrm>
        </p:grpSpPr>
        <p:sp>
          <p:nvSpPr>
            <p:cNvPr id="29" name="矩形: 圆角 13"/>
            <p:cNvSpPr/>
            <p:nvPr>
              <p:custDataLst>
                <p:tags r:id="rId8"/>
              </p:custDataLst>
            </p:nvPr>
          </p:nvSpPr>
          <p:spPr>
            <a:xfrm>
              <a:off x="784548" y="1454970"/>
              <a:ext cx="6611643" cy="1855631"/>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30" name="Rectangle 5"/>
            <p:cNvSpPr>
              <a:spLocks noChangeArrowheads="1"/>
            </p:cNvSpPr>
            <p:nvPr>
              <p:custDataLst>
                <p:tags r:id="rId9"/>
              </p:custDataLst>
            </p:nvPr>
          </p:nvSpPr>
          <p:spPr bwMode="auto">
            <a:xfrm>
              <a:off x="890442" y="1732226"/>
              <a:ext cx="5926143" cy="1594891"/>
            </a:xfrm>
            <a:prstGeom prst="rect">
              <a:avLst/>
            </a:prstGeom>
          </p:spPr>
          <p:txBody>
            <a:bodyPr wrap="square">
              <a:spAutoFit/>
            </a:bodyPr>
            <a:p>
              <a:pPr algn="just">
                <a:lnSpc>
                  <a:spcPts val="2900"/>
                </a:lnSpc>
                <a:buClr>
                  <a:srgbClr val="000066"/>
                </a:buClr>
              </a:pPr>
              <a:r>
                <a:rPr lang="zh-CN" altLang="en-US" sz="1600" spc="300" dirty="0">
                  <a:cs typeface="+mn-ea"/>
                  <a:sym typeface="+mn-lt"/>
                </a:rPr>
                <a:t>在企业发展早期李东生敏锐的洞察到了手机业务的发展前景，在彩电、手机、电话机三个不同的邻域同时成为全国第一。</a:t>
              </a:r>
              <a:r>
                <a:rPr lang="zh-CN" altLang="en-US" sz="1600" spc="300" dirty="0">
                  <a:cs typeface="+mn-ea"/>
                  <a:sym typeface="+mn-lt"/>
                </a:rPr>
                <a:t>能够及时的觉察到</a:t>
              </a:r>
              <a:r>
                <a:rPr lang="en-US" altLang="zh-CN" sz="1600" spc="300" dirty="0">
                  <a:cs typeface="+mn-ea"/>
                  <a:sym typeface="+mn-lt"/>
                </a:rPr>
                <a:t>TCL</a:t>
              </a:r>
              <a:r>
                <a:rPr lang="zh-CN" altLang="en-US" sz="1600" spc="300" dirty="0">
                  <a:cs typeface="+mn-ea"/>
                  <a:sym typeface="+mn-lt"/>
                </a:rPr>
                <a:t>在发展中存在的问题并当机立断的开始改革。</a:t>
              </a:r>
              <a:endParaRPr lang="zh-CN" altLang="en-US" sz="1600" spc="300" dirty="0">
                <a:cs typeface="+mn-ea"/>
                <a:sym typeface="+mn-lt"/>
              </a:endParaRPr>
            </a:p>
          </p:txBody>
        </p:sp>
        <p:grpSp>
          <p:nvGrpSpPr>
            <p:cNvPr id="31" name="组合 30"/>
            <p:cNvGrpSpPr/>
            <p:nvPr/>
          </p:nvGrpSpPr>
          <p:grpSpPr>
            <a:xfrm>
              <a:off x="1800464" y="1172643"/>
              <a:ext cx="4473569" cy="472137"/>
              <a:chOff x="2160551" y="1172643"/>
              <a:chExt cx="4473569" cy="472137"/>
            </a:xfrm>
          </p:grpSpPr>
          <p:sp>
            <p:nvSpPr>
              <p:cNvPr id="32" name="六边形 31"/>
              <p:cNvSpPr/>
              <p:nvPr>
                <p:custDataLst>
                  <p:tags r:id="rId10"/>
                </p:custDataLst>
              </p:nvPr>
            </p:nvSpPr>
            <p:spPr>
              <a:xfrm>
                <a:off x="2160551" y="1206005"/>
                <a:ext cx="4261031"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000" dirty="0">
                  <a:cs typeface="+mn-ea"/>
                  <a:sym typeface="+mn-lt"/>
                </a:endParaRPr>
              </a:p>
            </p:txBody>
          </p:sp>
          <p:sp>
            <p:nvSpPr>
              <p:cNvPr id="33" name="Rectangle 3"/>
              <p:cNvSpPr>
                <a:spLocks noChangeArrowheads="1"/>
              </p:cNvSpPr>
              <p:nvPr>
                <p:custDataLst>
                  <p:tags r:id="rId11"/>
                </p:custDataLst>
              </p:nvPr>
            </p:nvSpPr>
            <p:spPr bwMode="auto">
              <a:xfrm>
                <a:off x="2266404" y="1172643"/>
                <a:ext cx="4367716" cy="467689"/>
              </a:xfrm>
              <a:prstGeom prst="rect">
                <a:avLst/>
              </a:prstGeom>
            </p:spPr>
            <p:txBody>
              <a:bodyPr wrap="square">
                <a:spAutoFit/>
              </a:bodyPr>
              <a:p>
                <a:pPr algn="just">
                  <a:lnSpc>
                    <a:spcPts val="2900"/>
                  </a:lnSpc>
                  <a:buClr>
                    <a:srgbClr val="000066"/>
                  </a:buClr>
                </a:pPr>
                <a:r>
                  <a:rPr lang="zh-CN" altLang="en-US" sz="1600" spc="300" dirty="0">
                    <a:solidFill>
                      <a:schemeClr val="bg1"/>
                    </a:solidFill>
                    <a:cs typeface="+mn-ea"/>
                    <a:sym typeface="+mn-lt"/>
                  </a:rPr>
                  <a:t>特质一：警觉</a:t>
                </a:r>
                <a:r>
                  <a:rPr lang="en-US" altLang="zh-CN" sz="1600" spc="300" dirty="0">
                    <a:solidFill>
                      <a:schemeClr val="bg1"/>
                    </a:solidFill>
                    <a:cs typeface="+mn-ea"/>
                    <a:sym typeface="+mn-lt"/>
                  </a:rPr>
                  <a:t> </a:t>
                </a:r>
                <a:endParaRPr lang="en-US" altLang="zh-CN" sz="1600" spc="300" dirty="0">
                  <a:solidFill>
                    <a:schemeClr val="bg1"/>
                  </a:solidFill>
                  <a:cs typeface="+mn-ea"/>
                  <a:sym typeface="+mn-lt"/>
                </a:endParaRPr>
              </a:p>
            </p:txBody>
          </p:sp>
        </p:grpSp>
      </p:grpSp>
      <p:grpSp>
        <p:nvGrpSpPr>
          <p:cNvPr id="34" name="组合 33"/>
          <p:cNvGrpSpPr/>
          <p:nvPr>
            <p:custDataLst>
              <p:tags r:id="rId12"/>
            </p:custDataLst>
          </p:nvPr>
        </p:nvGrpSpPr>
        <p:grpSpPr>
          <a:xfrm>
            <a:off x="4836780" y="3657959"/>
            <a:ext cx="6812915" cy="2521584"/>
            <a:chOff x="484821" y="1172643"/>
            <a:chExt cx="6883181" cy="2547591"/>
          </a:xfrm>
        </p:grpSpPr>
        <p:sp>
          <p:nvSpPr>
            <p:cNvPr id="35" name="矩形: 圆角 18"/>
            <p:cNvSpPr/>
            <p:nvPr>
              <p:custDataLst>
                <p:tags r:id="rId13"/>
              </p:custDataLst>
            </p:nvPr>
          </p:nvSpPr>
          <p:spPr>
            <a:xfrm>
              <a:off x="484821" y="1286197"/>
              <a:ext cx="6883181" cy="2434037"/>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36" name="Rectangle 5"/>
            <p:cNvSpPr>
              <a:spLocks noChangeArrowheads="1"/>
            </p:cNvSpPr>
            <p:nvPr>
              <p:custDataLst>
                <p:tags r:id="rId14"/>
              </p:custDataLst>
            </p:nvPr>
          </p:nvSpPr>
          <p:spPr bwMode="auto">
            <a:xfrm>
              <a:off x="938134" y="1732226"/>
              <a:ext cx="5926143" cy="1970839"/>
            </a:xfrm>
            <a:prstGeom prst="rect">
              <a:avLst/>
            </a:prstGeom>
          </p:spPr>
          <p:txBody>
            <a:bodyPr wrap="square">
              <a:spAutoFit/>
            </a:bodyPr>
            <a:p>
              <a:pPr algn="just">
                <a:lnSpc>
                  <a:spcPts val="2900"/>
                </a:lnSpc>
                <a:buClr>
                  <a:srgbClr val="000066"/>
                </a:buClr>
              </a:pPr>
              <a:r>
                <a:rPr lang="zh-CN" altLang="en-US" sz="1600" spc="300" dirty="0">
                  <a:cs typeface="+mn-ea"/>
                  <a:sym typeface="+mn-lt"/>
                </a:rPr>
                <a:t>李东生抵押了自己和父母的房子来作为保证金让</a:t>
              </a:r>
              <a:r>
                <a:rPr lang="en-US" altLang="zh-CN" sz="1600" spc="300" dirty="0">
                  <a:cs typeface="+mn-ea"/>
                  <a:sym typeface="+mn-lt"/>
                </a:rPr>
                <a:t>TCL</a:t>
              </a:r>
              <a:r>
                <a:rPr lang="zh-CN" altLang="en-US" sz="1600" spc="300" dirty="0">
                  <a:cs typeface="+mn-ea"/>
                  <a:sym typeface="+mn-lt"/>
                </a:rPr>
                <a:t>的改革能够顺利进行并敢以</a:t>
              </a:r>
              <a:r>
                <a:rPr lang="en-US" altLang="zh-CN" sz="1600" spc="300" dirty="0">
                  <a:cs typeface="+mn-ea"/>
                  <a:sym typeface="+mn-lt"/>
                </a:rPr>
                <a:t>50</a:t>
              </a:r>
              <a:r>
                <a:rPr lang="zh-CN" altLang="en-US" sz="1600" spc="300" dirty="0">
                  <a:cs typeface="+mn-ea"/>
                  <a:sym typeface="+mn-lt"/>
                </a:rPr>
                <a:t>万的抵押来操盘</a:t>
              </a:r>
              <a:r>
                <a:rPr lang="en-US" altLang="zh-CN" sz="1600" spc="300" dirty="0">
                  <a:cs typeface="+mn-ea"/>
                  <a:sym typeface="+mn-lt"/>
                </a:rPr>
                <a:t>3</a:t>
              </a:r>
              <a:r>
                <a:rPr lang="zh-CN" altLang="en-US" sz="1600" spc="300" dirty="0">
                  <a:cs typeface="+mn-ea"/>
                  <a:sym typeface="+mn-lt"/>
                </a:rPr>
                <a:t>亿元的国有资产。在外界甚至公司的一部分人都不看好液晶面板的情况下李东生坚持己见，并取得了巨大的</a:t>
              </a:r>
              <a:r>
                <a:rPr lang="zh-CN" altLang="en-US" sz="1600" spc="300" dirty="0">
                  <a:cs typeface="+mn-ea"/>
                  <a:sym typeface="+mn-lt"/>
                </a:rPr>
                <a:t>成功。</a:t>
              </a:r>
              <a:endParaRPr lang="zh-CN" altLang="en-US" sz="1600" spc="300" dirty="0">
                <a:cs typeface="+mn-ea"/>
                <a:sym typeface="+mn-lt"/>
              </a:endParaRPr>
            </a:p>
          </p:txBody>
        </p:sp>
        <p:grpSp>
          <p:nvGrpSpPr>
            <p:cNvPr id="37" name="组合 36"/>
            <p:cNvGrpSpPr/>
            <p:nvPr/>
          </p:nvGrpSpPr>
          <p:grpSpPr>
            <a:xfrm>
              <a:off x="1800464" y="1172643"/>
              <a:ext cx="4473569" cy="472137"/>
              <a:chOff x="2160551" y="1172643"/>
              <a:chExt cx="4473569" cy="472137"/>
            </a:xfrm>
          </p:grpSpPr>
          <p:sp>
            <p:nvSpPr>
              <p:cNvPr id="38" name="六边形 37"/>
              <p:cNvSpPr/>
              <p:nvPr>
                <p:custDataLst>
                  <p:tags r:id="rId15"/>
                </p:custDataLst>
              </p:nvPr>
            </p:nvSpPr>
            <p:spPr>
              <a:xfrm>
                <a:off x="2160551" y="1206005"/>
                <a:ext cx="4109951"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000" dirty="0">
                  <a:cs typeface="+mn-ea"/>
                  <a:sym typeface="+mn-lt"/>
                </a:endParaRPr>
              </a:p>
            </p:txBody>
          </p:sp>
          <p:sp>
            <p:nvSpPr>
              <p:cNvPr id="39" name="Rectangle 3"/>
              <p:cNvSpPr>
                <a:spLocks noChangeArrowheads="1"/>
              </p:cNvSpPr>
              <p:nvPr>
                <p:custDataLst>
                  <p:tags r:id="rId16"/>
                </p:custDataLst>
              </p:nvPr>
            </p:nvSpPr>
            <p:spPr bwMode="auto">
              <a:xfrm>
                <a:off x="2266404" y="1172643"/>
                <a:ext cx="4367716" cy="467689"/>
              </a:xfrm>
              <a:prstGeom prst="rect">
                <a:avLst/>
              </a:prstGeom>
            </p:spPr>
            <p:txBody>
              <a:bodyPr wrap="square">
                <a:spAutoFit/>
              </a:bodyPr>
              <a:p>
                <a:pPr algn="just">
                  <a:lnSpc>
                    <a:spcPts val="2900"/>
                  </a:lnSpc>
                  <a:buClr>
                    <a:srgbClr val="000066"/>
                  </a:buClr>
                </a:pPr>
                <a:r>
                  <a:rPr lang="zh-CN" altLang="en-US" sz="1600" spc="300" dirty="0">
                    <a:solidFill>
                      <a:schemeClr val="bg1"/>
                    </a:solidFill>
                    <a:cs typeface="+mn-ea"/>
                    <a:sym typeface="+mn-lt"/>
                  </a:rPr>
                  <a:t>特质二：自信，</a:t>
                </a:r>
                <a:r>
                  <a:rPr lang="zh-CN" altLang="en-US" sz="1600" spc="300" dirty="0">
                    <a:solidFill>
                      <a:schemeClr val="bg1"/>
                    </a:solidFill>
                    <a:cs typeface="+mn-ea"/>
                    <a:sym typeface="+mn-lt"/>
                  </a:rPr>
                  <a:t>坚持</a:t>
                </a:r>
                <a:endParaRPr lang="zh-CN" altLang="en-US" sz="1600" spc="300" dirty="0">
                  <a:solidFill>
                    <a:schemeClr val="bg1"/>
                  </a:solidFill>
                  <a:cs typeface="+mn-ea"/>
                  <a:sym typeface="+mn-lt"/>
                </a:endParaRPr>
              </a:p>
            </p:txBody>
          </p:sp>
        </p:grpSp>
      </p:grpSp>
      <p:sp>
        <p:nvSpPr>
          <p:cNvPr id="40" name="文本框 39"/>
          <p:cNvSpPr txBox="1"/>
          <p:nvPr/>
        </p:nvSpPr>
        <p:spPr>
          <a:xfrm>
            <a:off x="144780" y="186690"/>
            <a:ext cx="9361805" cy="583565"/>
          </a:xfrm>
          <a:prstGeom prst="rect">
            <a:avLst/>
          </a:prstGeom>
          <a:noFill/>
        </p:spPr>
        <p:txBody>
          <a:bodyPr wrap="square" rtlCol="0">
            <a:spAutoFit/>
          </a:bodyPr>
          <a:p>
            <a:r>
              <a:rPr lang="en-US" altLang="zh-CN" sz="3200"/>
              <a:t>Q4.</a:t>
            </a:r>
            <a:r>
              <a:rPr lang="zh-CN" altLang="en-US" sz="3200"/>
              <a:t>李东生具备</a:t>
            </a:r>
            <a:r>
              <a:rPr lang="zh-CN" altLang="en-US" sz="3200"/>
              <a:t>哪些领导者的特质？</a:t>
            </a:r>
            <a:endParaRPr lang="zh-CN" altLang="en-US" sz="32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2"/>
          <p:cNvGrpSpPr/>
          <p:nvPr/>
        </p:nvGrpSpPr>
        <p:grpSpPr>
          <a:xfrm>
            <a:off x="556260" y="544830"/>
            <a:ext cx="6611620" cy="2581565"/>
            <a:chOff x="547693" y="1186252"/>
            <a:chExt cx="6611643" cy="2234251"/>
          </a:xfrm>
        </p:grpSpPr>
        <p:sp>
          <p:nvSpPr>
            <p:cNvPr id="4" name="矩形: 圆角 12"/>
            <p:cNvSpPr/>
            <p:nvPr>
              <p:custDataLst>
                <p:tags r:id="rId1"/>
              </p:custDataLst>
            </p:nvPr>
          </p:nvSpPr>
          <p:spPr>
            <a:xfrm>
              <a:off x="547693" y="1388930"/>
              <a:ext cx="6611643" cy="2030259"/>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5" name="Rectangle 5"/>
            <p:cNvSpPr>
              <a:spLocks noChangeArrowheads="1"/>
            </p:cNvSpPr>
            <p:nvPr>
              <p:custDataLst>
                <p:tags r:id="rId2"/>
              </p:custDataLst>
            </p:nvPr>
          </p:nvSpPr>
          <p:spPr bwMode="auto">
            <a:xfrm>
              <a:off x="890442" y="1732226"/>
              <a:ext cx="5926143" cy="1688277"/>
            </a:xfrm>
            <a:prstGeom prst="rect">
              <a:avLst/>
            </a:prstGeom>
          </p:spPr>
          <p:txBody>
            <a:bodyPr wrap="square">
              <a:spAutoFit/>
            </a:bodyPr>
            <a:p>
              <a:pPr algn="just">
                <a:lnSpc>
                  <a:spcPts val="2900"/>
                </a:lnSpc>
                <a:buClr>
                  <a:srgbClr val="000066"/>
                </a:buClr>
              </a:pPr>
              <a:r>
                <a:rPr lang="zh-CN" altLang="en-US" sz="1600" spc="300" dirty="0">
                  <a:cs typeface="+mn-ea"/>
                  <a:sym typeface="+mn-lt"/>
                </a:rPr>
                <a:t>在</a:t>
              </a:r>
              <a:r>
                <a:rPr lang="en-US" altLang="zh-CN" sz="1600" spc="300" dirty="0">
                  <a:cs typeface="+mn-ea"/>
                  <a:sym typeface="+mn-lt"/>
                </a:rPr>
                <a:t>TCL</a:t>
              </a:r>
              <a:r>
                <a:rPr lang="zh-CN" altLang="en-US" sz="1600" spc="300" dirty="0">
                  <a:cs typeface="+mn-ea"/>
                  <a:sym typeface="+mn-lt"/>
                </a:rPr>
                <a:t>出现巨大亏损，被戴上</a:t>
              </a:r>
              <a:r>
                <a:rPr lang="en-US" altLang="zh-CN" sz="1600" spc="300" dirty="0">
                  <a:cs typeface="+mn-ea"/>
                  <a:sym typeface="+mn-lt"/>
                </a:rPr>
                <a:t>ST</a:t>
              </a:r>
              <a:r>
                <a:rPr lang="zh-CN" altLang="en-US" sz="1600" spc="300" dirty="0">
                  <a:cs typeface="+mn-ea"/>
                  <a:sym typeface="+mn-lt"/>
                </a:rPr>
                <a:t>的</a:t>
              </a:r>
              <a:r>
                <a:rPr lang="en-US" altLang="zh-CN" sz="1600" spc="300" dirty="0">
                  <a:cs typeface="+mn-ea"/>
                  <a:sym typeface="+mn-lt"/>
                </a:rPr>
                <a:t>”</a:t>
              </a:r>
              <a:r>
                <a:rPr lang="zh-CN" altLang="en-US" sz="1600" spc="300" dirty="0">
                  <a:cs typeface="+mn-ea"/>
                  <a:sym typeface="+mn-lt"/>
                </a:rPr>
                <a:t>帽子</a:t>
              </a:r>
              <a:r>
                <a:rPr lang="en-US" altLang="zh-CN" sz="1600" spc="300" dirty="0">
                  <a:cs typeface="+mn-ea"/>
                  <a:sym typeface="+mn-lt"/>
                </a:rPr>
                <a:t>“</a:t>
              </a:r>
              <a:r>
                <a:rPr lang="zh-CN" altLang="en-US" sz="1600" spc="300" dirty="0">
                  <a:cs typeface="+mn-ea"/>
                  <a:sym typeface="+mn-lt"/>
                </a:rPr>
                <a:t>时，李东生从没想过放弃，誓要与</a:t>
              </a:r>
              <a:r>
                <a:rPr lang="en-US" altLang="zh-CN" sz="1600" spc="300" dirty="0">
                  <a:cs typeface="+mn-ea"/>
                  <a:sym typeface="+mn-lt"/>
                </a:rPr>
                <a:t>TCL</a:t>
              </a:r>
              <a:r>
                <a:rPr lang="zh-CN" altLang="en-US" sz="1600" spc="300" dirty="0">
                  <a:cs typeface="+mn-ea"/>
                  <a:sym typeface="+mn-lt"/>
                </a:rPr>
                <a:t>同命运，主动担责，逐步收缩汤姆逊公司彩电业务和阿尔卡特手机业务，并拜访正在合作的各大银行，劝说他们不要收紧授信，逐渐恢复了</a:t>
              </a:r>
              <a:r>
                <a:rPr lang="en-US" altLang="zh-CN" sz="1600" spc="300" dirty="0">
                  <a:cs typeface="+mn-ea"/>
                  <a:sym typeface="+mn-lt"/>
                </a:rPr>
                <a:t>TCL</a:t>
              </a:r>
              <a:r>
                <a:rPr lang="zh-CN" altLang="en-US" sz="1600" spc="300" dirty="0">
                  <a:cs typeface="+mn-ea"/>
                  <a:sym typeface="+mn-lt"/>
                </a:rPr>
                <a:t>的</a:t>
              </a:r>
              <a:r>
                <a:rPr lang="zh-CN" altLang="en-US" sz="1600" spc="300" dirty="0">
                  <a:cs typeface="+mn-ea"/>
                  <a:sym typeface="+mn-lt"/>
                </a:rPr>
                <a:t>元气</a:t>
              </a:r>
              <a:endParaRPr lang="zh-CN" altLang="en-US" sz="1600" spc="300" dirty="0">
                <a:cs typeface="+mn-ea"/>
                <a:sym typeface="+mn-lt"/>
              </a:endParaRPr>
            </a:p>
          </p:txBody>
        </p:sp>
        <p:grpSp>
          <p:nvGrpSpPr>
            <p:cNvPr id="8" name="组合 7"/>
            <p:cNvGrpSpPr/>
            <p:nvPr/>
          </p:nvGrpSpPr>
          <p:grpSpPr>
            <a:xfrm>
              <a:off x="1692079" y="1186252"/>
              <a:ext cx="4473570" cy="472137"/>
              <a:chOff x="2052166" y="1186252"/>
              <a:chExt cx="4473570" cy="472137"/>
            </a:xfrm>
          </p:grpSpPr>
          <p:sp>
            <p:nvSpPr>
              <p:cNvPr id="10" name="六边形 9"/>
              <p:cNvSpPr/>
              <p:nvPr>
                <p:custDataLst>
                  <p:tags r:id="rId3"/>
                </p:custDataLst>
              </p:nvPr>
            </p:nvSpPr>
            <p:spPr>
              <a:xfrm>
                <a:off x="2052166" y="1219614"/>
                <a:ext cx="438922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000" dirty="0">
                  <a:cs typeface="+mn-ea"/>
                  <a:sym typeface="+mn-lt"/>
                </a:endParaRPr>
              </a:p>
            </p:txBody>
          </p:sp>
          <p:sp>
            <p:nvSpPr>
              <p:cNvPr id="28" name="Rectangle 3"/>
              <p:cNvSpPr>
                <a:spLocks noChangeArrowheads="1"/>
              </p:cNvSpPr>
              <p:nvPr>
                <p:custDataLst>
                  <p:tags r:id="rId4"/>
                </p:custDataLst>
              </p:nvPr>
            </p:nvSpPr>
            <p:spPr bwMode="auto">
              <a:xfrm>
                <a:off x="2158020" y="1186252"/>
                <a:ext cx="4367716" cy="400636"/>
              </a:xfrm>
              <a:prstGeom prst="rect">
                <a:avLst/>
              </a:prstGeom>
            </p:spPr>
            <p:txBody>
              <a:bodyPr wrap="square">
                <a:spAutoFit/>
              </a:bodyPr>
              <a:p>
                <a:pPr algn="just">
                  <a:lnSpc>
                    <a:spcPts val="2900"/>
                  </a:lnSpc>
                  <a:buClr>
                    <a:srgbClr val="000066"/>
                  </a:buClr>
                </a:pPr>
                <a:r>
                  <a:rPr lang="zh-CN" altLang="en-US" sz="1600" spc="300" dirty="0">
                    <a:solidFill>
                      <a:schemeClr val="bg1"/>
                    </a:solidFill>
                    <a:cs typeface="+mn-ea"/>
                    <a:sym typeface="+mn-lt"/>
                  </a:rPr>
                  <a:t>特质三：责任感</a:t>
                </a:r>
                <a:r>
                  <a:rPr lang="en-US" altLang="zh-CN" sz="1600" spc="300" dirty="0">
                    <a:solidFill>
                      <a:schemeClr val="bg1"/>
                    </a:solidFill>
                    <a:cs typeface="+mn-ea"/>
                    <a:sym typeface="+mn-lt"/>
                  </a:rPr>
                  <a:t> </a:t>
                </a:r>
                <a:endParaRPr lang="en-US" altLang="zh-CN" sz="1600" spc="300" dirty="0">
                  <a:solidFill>
                    <a:schemeClr val="bg1"/>
                  </a:solidFill>
                  <a:cs typeface="+mn-ea"/>
                  <a:sym typeface="+mn-lt"/>
                </a:endParaRPr>
              </a:p>
            </p:txBody>
          </p:sp>
        </p:grpSp>
      </p:grpSp>
      <p:grpSp>
        <p:nvGrpSpPr>
          <p:cNvPr id="29" name="组合 28"/>
          <p:cNvGrpSpPr/>
          <p:nvPr>
            <p:custDataLst>
              <p:tags r:id="rId5"/>
            </p:custDataLst>
          </p:nvPr>
        </p:nvGrpSpPr>
        <p:grpSpPr>
          <a:xfrm>
            <a:off x="556055" y="3665805"/>
            <a:ext cx="6611643" cy="2233572"/>
            <a:chOff x="547693" y="1185617"/>
            <a:chExt cx="6611643" cy="2233572"/>
          </a:xfrm>
        </p:grpSpPr>
        <p:sp>
          <p:nvSpPr>
            <p:cNvPr id="30" name="矩形: 圆角 18"/>
            <p:cNvSpPr/>
            <p:nvPr>
              <p:custDataLst>
                <p:tags r:id="rId6"/>
              </p:custDataLst>
            </p:nvPr>
          </p:nvSpPr>
          <p:spPr>
            <a:xfrm>
              <a:off x="547693" y="1388930"/>
              <a:ext cx="6611643" cy="2030259"/>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31" name="Rectangle 5"/>
            <p:cNvSpPr>
              <a:spLocks noChangeArrowheads="1"/>
            </p:cNvSpPr>
            <p:nvPr>
              <p:custDataLst>
                <p:tags r:id="rId7"/>
              </p:custDataLst>
            </p:nvPr>
          </p:nvSpPr>
          <p:spPr bwMode="auto">
            <a:xfrm>
              <a:off x="890442" y="1681165"/>
              <a:ext cx="5926143" cy="835025"/>
            </a:xfrm>
            <a:prstGeom prst="rect">
              <a:avLst/>
            </a:prstGeom>
          </p:spPr>
          <p:txBody>
            <a:bodyPr wrap="square">
              <a:spAutoFit/>
            </a:bodyPr>
            <a:p>
              <a:pPr algn="just">
                <a:lnSpc>
                  <a:spcPts val="2900"/>
                </a:lnSpc>
                <a:buClr>
                  <a:srgbClr val="000066"/>
                </a:buClr>
              </a:pPr>
              <a:r>
                <a:rPr lang="zh-CN" altLang="en-US" sz="1600" spc="300" dirty="0">
                  <a:cs typeface="+mn-ea"/>
                  <a:sym typeface="+mn-lt"/>
                </a:rPr>
                <a:t>李东生为适应国内市场需求和公司自身发展的需要进行了四次</a:t>
              </a:r>
              <a:r>
                <a:rPr lang="zh-CN" altLang="en-US" sz="1600" spc="300" dirty="0">
                  <a:cs typeface="+mn-ea"/>
                  <a:sym typeface="+mn-lt"/>
                </a:rPr>
                <a:t>改革。 </a:t>
              </a:r>
              <a:endParaRPr lang="zh-CN" altLang="en-US" sz="1600" spc="300" dirty="0">
                <a:cs typeface="+mn-ea"/>
                <a:sym typeface="+mn-lt"/>
              </a:endParaRPr>
            </a:p>
          </p:txBody>
        </p:sp>
        <p:grpSp>
          <p:nvGrpSpPr>
            <p:cNvPr id="32" name="组合 31"/>
            <p:cNvGrpSpPr/>
            <p:nvPr/>
          </p:nvGrpSpPr>
          <p:grpSpPr>
            <a:xfrm>
              <a:off x="1493427" y="1185617"/>
              <a:ext cx="4931019" cy="472772"/>
              <a:chOff x="1853514" y="1185617"/>
              <a:chExt cx="4931019" cy="472772"/>
            </a:xfrm>
          </p:grpSpPr>
          <p:sp>
            <p:nvSpPr>
              <p:cNvPr id="33" name="六边形 32"/>
              <p:cNvSpPr/>
              <p:nvPr>
                <p:custDataLst>
                  <p:tags r:id="rId8"/>
                </p:custDataLst>
              </p:nvPr>
            </p:nvSpPr>
            <p:spPr>
              <a:xfrm>
                <a:off x="1853514" y="1219614"/>
                <a:ext cx="493101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000" dirty="0">
                  <a:cs typeface="+mn-ea"/>
                  <a:sym typeface="+mn-lt"/>
                </a:endParaRPr>
              </a:p>
            </p:txBody>
          </p:sp>
          <p:sp>
            <p:nvSpPr>
              <p:cNvPr id="34" name="Rectangle 3"/>
              <p:cNvSpPr>
                <a:spLocks noChangeArrowheads="1"/>
              </p:cNvSpPr>
              <p:nvPr>
                <p:custDataLst>
                  <p:tags r:id="rId9"/>
                </p:custDataLst>
              </p:nvPr>
            </p:nvSpPr>
            <p:spPr bwMode="auto">
              <a:xfrm>
                <a:off x="1899504" y="1185617"/>
                <a:ext cx="4626513" cy="462915"/>
              </a:xfrm>
              <a:prstGeom prst="rect">
                <a:avLst/>
              </a:prstGeom>
            </p:spPr>
            <p:txBody>
              <a:bodyPr wrap="square">
                <a:spAutoFit/>
              </a:bodyPr>
              <a:p>
                <a:pPr algn="just">
                  <a:lnSpc>
                    <a:spcPts val="2900"/>
                  </a:lnSpc>
                  <a:buClr>
                    <a:srgbClr val="000066"/>
                  </a:buClr>
                </a:pPr>
                <a:r>
                  <a:rPr lang="zh-CN" altLang="en-US" sz="1600" spc="300" dirty="0">
                    <a:solidFill>
                      <a:schemeClr val="bg1"/>
                    </a:solidFill>
                    <a:cs typeface="+mn-ea"/>
                    <a:sym typeface="+mn-lt"/>
                  </a:rPr>
                  <a:t>特质四：</a:t>
                </a:r>
                <a:r>
                  <a:rPr lang="zh-CN" altLang="en-US" sz="1600" spc="300" dirty="0">
                    <a:solidFill>
                      <a:schemeClr val="bg1"/>
                    </a:solidFill>
                    <a:cs typeface="+mn-ea"/>
                    <a:sym typeface="+mn-lt"/>
                  </a:rPr>
                  <a:t>适应性</a:t>
                </a:r>
                <a:endParaRPr lang="zh-CN" altLang="en-US" sz="1600" spc="300" dirty="0">
                  <a:solidFill>
                    <a:schemeClr val="bg1"/>
                  </a:solidFill>
                  <a:cs typeface="+mn-ea"/>
                  <a:sym typeface="+mn-lt"/>
                </a:endParaRPr>
              </a:p>
            </p:txBody>
          </p:sp>
        </p:grpSp>
      </p:grpSp>
      <p:pic>
        <p:nvPicPr>
          <p:cNvPr id="35" name="图片 34"/>
          <p:cNvPicPr>
            <a:picLocks noChangeAspect="1"/>
          </p:cNvPicPr>
          <p:nvPr/>
        </p:nvPicPr>
        <p:blipFill rotWithShape="1">
          <a:blip r:embed="rId10" cstate="screen">
            <a:extLst>
              <a:ext uri="{BEBA8EAE-BF5A-486C-A8C5-ECC9F3942E4B}">
                <a14:imgProps xmlns:a14="http://schemas.microsoft.com/office/drawing/2010/main">
                  <a14:imgLayer r:embed="rId11">
                    <a14:imgEffect>
                      <a14:colorTemperature colorTemp="7200"/>
                    </a14:imgEffect>
                    <a14:imgEffect>
                      <a14:saturation sat="66000"/>
                    </a14:imgEffect>
                  </a14:imgLayer>
                </a14:imgProps>
              </a:ext>
            </a:extLst>
          </a:blip>
          <a:srcRect/>
          <a:stretch>
            <a:fillRect/>
          </a:stretch>
        </p:blipFill>
        <p:spPr>
          <a:xfrm>
            <a:off x="7920094" y="964797"/>
            <a:ext cx="3125376" cy="4642136"/>
          </a:xfrm>
          <a:prstGeom prst="roundRect">
            <a:avLst>
              <a:gd name="adj" fmla="val 19992"/>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randombar(horizontal)">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rotWithShape="1">
          <a:blip r:embed="rId1" cstate="screen">
            <a:extLst>
              <a:ext uri="{BEBA8EAE-BF5A-486C-A8C5-ECC9F3942E4B}">
                <a14:imgProps xmlns:a14="http://schemas.microsoft.com/office/drawing/2010/main">
                  <a14:imgLayer r:embed="rId2">
                    <a14:imgEffect>
                      <a14:colorTemperature colorTemp="7200"/>
                    </a14:imgEffect>
                    <a14:imgEffect>
                      <a14:saturation sat="66000"/>
                    </a14:imgEffect>
                  </a14:imgLayer>
                </a14:imgProps>
              </a:ext>
            </a:extLst>
          </a:blip>
          <a:srcRect/>
          <a:stretch>
            <a:fillRect/>
          </a:stretch>
        </p:blipFill>
        <p:spPr>
          <a:xfrm>
            <a:off x="7920094" y="1442317"/>
            <a:ext cx="3125376" cy="4642136"/>
          </a:xfrm>
          <a:prstGeom prst="roundRect">
            <a:avLst>
              <a:gd name="adj" fmla="val 19992"/>
            </a:avLst>
          </a:prstGeom>
        </p:spPr>
      </p:pic>
      <p:grpSp>
        <p:nvGrpSpPr>
          <p:cNvPr id="12" name="组合 11"/>
          <p:cNvGrpSpPr/>
          <p:nvPr>
            <p:custDataLst>
              <p:tags r:id="rId3"/>
            </p:custDataLst>
          </p:nvPr>
        </p:nvGrpSpPr>
        <p:grpSpPr>
          <a:xfrm>
            <a:off x="898957" y="1408955"/>
            <a:ext cx="6611643" cy="2232937"/>
            <a:chOff x="547693" y="1186252"/>
            <a:chExt cx="6611643" cy="2232937"/>
          </a:xfrm>
        </p:grpSpPr>
        <p:sp>
          <p:nvSpPr>
            <p:cNvPr id="13" name="矩形: 圆角 12"/>
            <p:cNvSpPr/>
            <p:nvPr>
              <p:custDataLst>
                <p:tags r:id="rId4"/>
              </p:custDataLst>
            </p:nvPr>
          </p:nvSpPr>
          <p:spPr>
            <a:xfrm>
              <a:off x="547693" y="1388930"/>
              <a:ext cx="6611643" cy="2030259"/>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4" name="Rectangle 5"/>
            <p:cNvSpPr>
              <a:spLocks noChangeArrowheads="1"/>
            </p:cNvSpPr>
            <p:nvPr>
              <p:custDataLst>
                <p:tags r:id="rId5"/>
              </p:custDataLst>
            </p:nvPr>
          </p:nvSpPr>
          <p:spPr bwMode="auto">
            <a:xfrm>
              <a:off x="890442" y="1732226"/>
              <a:ext cx="5926143" cy="1579920"/>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缺少计算承包基数的科学标准，导致企业“苦乐不均”、怨声载道；承包制大大刺激了短期行为只承认国有企业有经营权，而不承认财产权，认为所有权全部属于国家。</a:t>
              </a:r>
              <a:endParaRPr lang="zh-CN" altLang="en-US" sz="1600" spc="300" dirty="0">
                <a:cs typeface="+mn-ea"/>
                <a:sym typeface="+mn-lt"/>
              </a:endParaRPr>
            </a:p>
          </p:txBody>
        </p:sp>
        <p:grpSp>
          <p:nvGrpSpPr>
            <p:cNvPr id="15" name="组合 14"/>
            <p:cNvGrpSpPr/>
            <p:nvPr/>
          </p:nvGrpSpPr>
          <p:grpSpPr>
            <a:xfrm>
              <a:off x="1692079" y="1186252"/>
              <a:ext cx="4473570" cy="472137"/>
              <a:chOff x="2052166" y="1186252"/>
              <a:chExt cx="4473570" cy="472137"/>
            </a:xfrm>
          </p:grpSpPr>
          <p:sp>
            <p:nvSpPr>
              <p:cNvPr id="16" name="六边形 15"/>
              <p:cNvSpPr/>
              <p:nvPr>
                <p:custDataLst>
                  <p:tags r:id="rId6"/>
                </p:custDataLst>
              </p:nvPr>
            </p:nvSpPr>
            <p:spPr>
              <a:xfrm>
                <a:off x="2052166" y="1219614"/>
                <a:ext cx="438922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7" name="Rectangle 3"/>
              <p:cNvSpPr>
                <a:spLocks noChangeArrowheads="1"/>
              </p:cNvSpPr>
              <p:nvPr>
                <p:custDataLst>
                  <p:tags r:id="rId7"/>
                </p:custDataLst>
              </p:nvPr>
            </p:nvSpPr>
            <p:spPr bwMode="auto">
              <a:xfrm>
                <a:off x="2158020" y="1186252"/>
                <a:ext cx="4367716"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第三阶段：承包制</a:t>
                </a:r>
                <a:r>
                  <a:rPr lang="en-US" altLang="zh-CN" sz="1600" spc="300" dirty="0">
                    <a:solidFill>
                      <a:schemeClr val="bg1"/>
                    </a:solidFill>
                    <a:cs typeface="+mn-ea"/>
                    <a:sym typeface="+mn-lt"/>
                  </a:rPr>
                  <a:t>(1987</a:t>
                </a:r>
                <a:r>
                  <a:rPr lang="zh-CN" altLang="en-US" sz="1600" spc="300" dirty="0">
                    <a:solidFill>
                      <a:schemeClr val="bg1"/>
                    </a:solidFill>
                    <a:cs typeface="+mn-ea"/>
                    <a:sym typeface="+mn-lt"/>
                  </a:rPr>
                  <a:t>年到</a:t>
                </a:r>
                <a:r>
                  <a:rPr lang="en-US" altLang="zh-CN" sz="1600" spc="300" dirty="0">
                    <a:solidFill>
                      <a:schemeClr val="bg1"/>
                    </a:solidFill>
                    <a:cs typeface="+mn-ea"/>
                    <a:sym typeface="+mn-lt"/>
                  </a:rPr>
                  <a:t>1990</a:t>
                </a:r>
                <a:r>
                  <a:rPr lang="zh-CN" altLang="en-US" sz="1600" spc="300" dirty="0">
                    <a:solidFill>
                      <a:schemeClr val="bg1"/>
                    </a:solidFill>
                    <a:cs typeface="+mn-ea"/>
                    <a:sym typeface="+mn-lt"/>
                  </a:rPr>
                  <a:t>年</a:t>
                </a:r>
                <a:r>
                  <a:rPr lang="en-US" altLang="zh-CN" sz="1600" spc="300" dirty="0">
                    <a:solidFill>
                      <a:schemeClr val="bg1"/>
                    </a:solidFill>
                    <a:cs typeface="+mn-ea"/>
                    <a:sym typeface="+mn-lt"/>
                  </a:rPr>
                  <a:t>) </a:t>
                </a:r>
                <a:endParaRPr lang="en-US" altLang="zh-CN" sz="1600" spc="300" dirty="0">
                  <a:solidFill>
                    <a:schemeClr val="bg1"/>
                  </a:solidFill>
                  <a:cs typeface="+mn-ea"/>
                  <a:sym typeface="+mn-lt"/>
                </a:endParaRPr>
              </a:p>
            </p:txBody>
          </p:sp>
        </p:grpSp>
      </p:grpSp>
      <p:grpSp>
        <p:nvGrpSpPr>
          <p:cNvPr id="18" name="组合 17"/>
          <p:cNvGrpSpPr/>
          <p:nvPr>
            <p:custDataLst>
              <p:tags r:id="rId8"/>
            </p:custDataLst>
          </p:nvPr>
        </p:nvGrpSpPr>
        <p:grpSpPr>
          <a:xfrm>
            <a:off x="898955" y="3839160"/>
            <a:ext cx="6611643" cy="2232937"/>
            <a:chOff x="547693" y="1186252"/>
            <a:chExt cx="6611643" cy="2232937"/>
          </a:xfrm>
        </p:grpSpPr>
        <p:sp>
          <p:nvSpPr>
            <p:cNvPr id="19" name="矩形: 圆角 18"/>
            <p:cNvSpPr/>
            <p:nvPr>
              <p:custDataLst>
                <p:tags r:id="rId9"/>
              </p:custDataLst>
            </p:nvPr>
          </p:nvSpPr>
          <p:spPr>
            <a:xfrm>
              <a:off x="547693" y="1388930"/>
              <a:ext cx="6611643" cy="2030259"/>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Rectangle 5"/>
            <p:cNvSpPr>
              <a:spLocks noChangeArrowheads="1"/>
            </p:cNvSpPr>
            <p:nvPr>
              <p:custDataLst>
                <p:tags r:id="rId10"/>
              </p:custDataLst>
            </p:nvPr>
          </p:nvSpPr>
          <p:spPr bwMode="auto">
            <a:xfrm>
              <a:off x="890442" y="1681165"/>
              <a:ext cx="5926143" cy="1579920"/>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适应市场经济和社会化大生产要求的、产权清晰、权责明确、政企分开和管理科学的现代企业制度，通过建立现代企业制度，使企业成为自主经营、自负盈亏、自我发展、自我约束的法人实体和市场竞争主体。 </a:t>
              </a:r>
              <a:endParaRPr lang="zh-CN" altLang="en-US" sz="1600" spc="300" dirty="0">
                <a:cs typeface="+mn-ea"/>
                <a:sym typeface="+mn-lt"/>
              </a:endParaRPr>
            </a:p>
          </p:txBody>
        </p:sp>
        <p:grpSp>
          <p:nvGrpSpPr>
            <p:cNvPr id="21" name="组合 20"/>
            <p:cNvGrpSpPr/>
            <p:nvPr/>
          </p:nvGrpSpPr>
          <p:grpSpPr>
            <a:xfrm>
              <a:off x="1493427" y="1186252"/>
              <a:ext cx="4931019" cy="792012"/>
              <a:chOff x="1853514" y="1186252"/>
              <a:chExt cx="4931019" cy="792012"/>
            </a:xfrm>
          </p:grpSpPr>
          <p:sp>
            <p:nvSpPr>
              <p:cNvPr id="22" name="六边形 21"/>
              <p:cNvSpPr/>
              <p:nvPr>
                <p:custDataLst>
                  <p:tags r:id="rId11"/>
                </p:custDataLst>
              </p:nvPr>
            </p:nvSpPr>
            <p:spPr>
              <a:xfrm>
                <a:off x="1853514" y="1219614"/>
                <a:ext cx="493101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3" name="Rectangle 3"/>
              <p:cNvSpPr>
                <a:spLocks noChangeArrowheads="1"/>
              </p:cNvSpPr>
              <p:nvPr>
                <p:custDataLst>
                  <p:tags r:id="rId12"/>
                </p:custDataLst>
              </p:nvPr>
            </p:nvSpPr>
            <p:spPr bwMode="auto">
              <a:xfrm>
                <a:off x="1947764" y="1186252"/>
                <a:ext cx="4626513" cy="792012"/>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第四阶段：建立现代企业制度</a:t>
                </a:r>
                <a:r>
                  <a:rPr lang="en-US" altLang="zh-CN" sz="1600" spc="300" dirty="0">
                    <a:solidFill>
                      <a:schemeClr val="bg1"/>
                    </a:solidFill>
                    <a:cs typeface="+mn-ea"/>
                    <a:sym typeface="+mn-lt"/>
                  </a:rPr>
                  <a:t>(1991 </a:t>
                </a:r>
                <a:r>
                  <a:rPr lang="zh-CN" altLang="en-US" sz="1600" spc="300" dirty="0">
                    <a:solidFill>
                      <a:schemeClr val="bg1"/>
                    </a:solidFill>
                    <a:cs typeface="+mn-ea"/>
                    <a:sym typeface="+mn-lt"/>
                  </a:rPr>
                  <a:t>至今</a:t>
                </a:r>
                <a:r>
                  <a:rPr lang="en-US" altLang="zh-CN" sz="1600" spc="300" dirty="0">
                    <a:solidFill>
                      <a:schemeClr val="bg1"/>
                    </a:solidFill>
                    <a:cs typeface="+mn-ea"/>
                    <a:sym typeface="+mn-lt"/>
                  </a:rPr>
                  <a:t>)</a:t>
                </a:r>
                <a:endParaRPr lang="en-US" altLang="zh-CN" sz="1600" spc="300" dirty="0">
                  <a:solidFill>
                    <a:schemeClr val="bg1"/>
                  </a:solidFill>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randombar(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custDataLst>
              <p:tags r:id="rId1"/>
            </p:custDataLst>
          </p:nvPr>
        </p:nvPicPr>
        <p:blipFill rotWithShape="1">
          <a:blip r:embed="rId2" cstate="screen">
            <a:extLst>
              <a:ext uri="{BEBA8EAE-BF5A-486C-A8C5-ECC9F3942E4B}">
                <a14:imgProps xmlns:a14="http://schemas.microsoft.com/office/drawing/2010/main">
                  <a14:imgLayer r:embed="rId3">
                    <a14:imgEffect>
                      <a14:colorTemperature colorTemp="7200"/>
                    </a14:imgEffect>
                    <a14:imgEffect>
                      <a14:saturation sat="66000"/>
                    </a14:imgEffect>
                  </a14:imgLayer>
                </a14:imgProps>
              </a:ext>
            </a:extLst>
          </a:blip>
          <a:srcRect/>
          <a:stretch>
            <a:fillRect/>
          </a:stretch>
        </p:blipFill>
        <p:spPr>
          <a:xfrm>
            <a:off x="0" y="3845311"/>
            <a:ext cx="10458711" cy="1840944"/>
          </a:xfrm>
          <a:prstGeom prst="rect">
            <a:avLst/>
          </a:prstGeom>
        </p:spPr>
      </p:pic>
      <p:pic>
        <p:nvPicPr>
          <p:cNvPr id="24" name="图片 23"/>
          <p:cNvPicPr>
            <a:picLocks noChangeAspect="1"/>
          </p:cNvPicPr>
          <p:nvPr>
            <p:custDataLst>
              <p:tags r:id="rId4"/>
            </p:custDataLst>
          </p:nvPr>
        </p:nvPicPr>
        <p:blipFill rotWithShape="1">
          <a:blip r:embed="rId5" cstate="screen">
            <a:extLst>
              <a:ext uri="{BEBA8EAE-BF5A-486C-A8C5-ECC9F3942E4B}">
                <a14:imgProps xmlns:a14="http://schemas.microsoft.com/office/drawing/2010/main">
                  <a14:imgLayer r:embed="rId6">
                    <a14:imgEffect>
                      <a14:colorTemperature colorTemp="7200"/>
                    </a14:imgEffect>
                    <a14:imgEffect>
                      <a14:saturation sat="66000"/>
                    </a14:imgEffect>
                  </a14:imgLayer>
                </a14:imgProps>
              </a:ext>
            </a:extLst>
          </a:blip>
          <a:srcRect/>
          <a:stretch>
            <a:fillRect/>
          </a:stretch>
        </p:blipFill>
        <p:spPr>
          <a:xfrm>
            <a:off x="1733289" y="1780934"/>
            <a:ext cx="10458711" cy="1821863"/>
          </a:xfrm>
          <a:prstGeom prst="rect">
            <a:avLst/>
          </a:prstGeom>
        </p:spPr>
      </p:pic>
      <p:grpSp>
        <p:nvGrpSpPr>
          <p:cNvPr id="17" name="组合 16"/>
          <p:cNvGrpSpPr/>
          <p:nvPr>
            <p:custDataLst>
              <p:tags r:id="rId7"/>
            </p:custDataLst>
          </p:nvPr>
        </p:nvGrpSpPr>
        <p:grpSpPr>
          <a:xfrm>
            <a:off x="630820" y="1557105"/>
            <a:ext cx="6611643" cy="2071918"/>
            <a:chOff x="547693" y="1172643"/>
            <a:chExt cx="6611643" cy="2071918"/>
          </a:xfrm>
        </p:grpSpPr>
        <p:sp>
          <p:nvSpPr>
            <p:cNvPr id="14" name="矩形: 圆角 13"/>
            <p:cNvSpPr/>
            <p:nvPr>
              <p:custDataLst>
                <p:tags r:id="rId8"/>
              </p:custDataLst>
            </p:nvPr>
          </p:nvSpPr>
          <p:spPr>
            <a:xfrm>
              <a:off x="547693" y="1388930"/>
              <a:ext cx="6611643" cy="1855631"/>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Rectangle 5"/>
            <p:cNvSpPr>
              <a:spLocks noChangeArrowheads="1"/>
            </p:cNvSpPr>
            <p:nvPr>
              <p:custDataLst>
                <p:tags r:id="rId9"/>
              </p:custDataLst>
            </p:nvPr>
          </p:nvSpPr>
          <p:spPr bwMode="auto">
            <a:xfrm>
              <a:off x="890442" y="1732226"/>
              <a:ext cx="5926143"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企业为扩大自销比例而压低计划指标、不完成调拨任务和财政上缴任务等问题，结果形成了“内部人”控制，出现了“工资侵蚀利润”和行为短期化问题。 </a:t>
              </a:r>
              <a:endParaRPr lang="zh-CN" altLang="en-US" sz="1600" spc="300" dirty="0">
                <a:cs typeface="+mn-ea"/>
                <a:sym typeface="+mn-lt"/>
              </a:endParaRPr>
            </a:p>
          </p:txBody>
        </p:sp>
        <p:grpSp>
          <p:nvGrpSpPr>
            <p:cNvPr id="16" name="组合 15"/>
            <p:cNvGrpSpPr/>
            <p:nvPr/>
          </p:nvGrpSpPr>
          <p:grpSpPr>
            <a:xfrm>
              <a:off x="1800464" y="1172643"/>
              <a:ext cx="4473569" cy="472137"/>
              <a:chOff x="2160551" y="1172643"/>
              <a:chExt cx="4473569" cy="472137"/>
            </a:xfrm>
          </p:grpSpPr>
          <p:sp>
            <p:nvSpPr>
              <p:cNvPr id="15" name="六边形 14"/>
              <p:cNvSpPr/>
              <p:nvPr>
                <p:custDataLst>
                  <p:tags r:id="rId10"/>
                </p:custDataLst>
              </p:nvPr>
            </p:nvSpPr>
            <p:spPr>
              <a:xfrm>
                <a:off x="2160551" y="1206005"/>
                <a:ext cx="4261031"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4" name="Rectangle 3"/>
              <p:cNvSpPr>
                <a:spLocks noChangeArrowheads="1"/>
              </p:cNvSpPr>
              <p:nvPr>
                <p:custDataLst>
                  <p:tags r:id="rId11"/>
                </p:custDataLst>
              </p:nvPr>
            </p:nvSpPr>
            <p:spPr bwMode="auto">
              <a:xfrm>
                <a:off x="2266404" y="1172643"/>
                <a:ext cx="4367716"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第一阶段：扩权让利</a:t>
                </a:r>
                <a:r>
                  <a:rPr lang="en-US" altLang="zh-CN" sz="1600" spc="300" dirty="0">
                    <a:solidFill>
                      <a:schemeClr val="bg1"/>
                    </a:solidFill>
                    <a:cs typeface="+mn-ea"/>
                    <a:sym typeface="+mn-lt"/>
                  </a:rPr>
                  <a:t>(1978-1984</a:t>
                </a:r>
                <a:r>
                  <a:rPr lang="zh-CN" altLang="en-US" sz="1600" spc="300" dirty="0">
                    <a:solidFill>
                      <a:schemeClr val="bg1"/>
                    </a:solidFill>
                    <a:cs typeface="+mn-ea"/>
                    <a:sym typeface="+mn-lt"/>
                  </a:rPr>
                  <a:t>年</a:t>
                </a:r>
                <a:r>
                  <a:rPr lang="en-US" altLang="zh-CN" sz="1600" spc="300" dirty="0">
                    <a:solidFill>
                      <a:schemeClr val="bg1"/>
                    </a:solidFill>
                    <a:cs typeface="+mn-ea"/>
                    <a:sym typeface="+mn-lt"/>
                  </a:rPr>
                  <a:t>) </a:t>
                </a:r>
                <a:endParaRPr lang="en-US" altLang="zh-CN" sz="1600" spc="300" dirty="0">
                  <a:solidFill>
                    <a:schemeClr val="bg1"/>
                  </a:solidFill>
                  <a:cs typeface="+mn-ea"/>
                  <a:sym typeface="+mn-lt"/>
                </a:endParaRPr>
              </a:p>
            </p:txBody>
          </p:sp>
        </p:grpSp>
      </p:grpSp>
      <p:grpSp>
        <p:nvGrpSpPr>
          <p:cNvPr id="18" name="组合 17"/>
          <p:cNvGrpSpPr/>
          <p:nvPr>
            <p:custDataLst>
              <p:tags r:id="rId12"/>
            </p:custDataLst>
          </p:nvPr>
        </p:nvGrpSpPr>
        <p:grpSpPr>
          <a:xfrm>
            <a:off x="4949537" y="3631221"/>
            <a:ext cx="6611643" cy="2071918"/>
            <a:chOff x="547693" y="1172643"/>
            <a:chExt cx="6611643" cy="2071918"/>
          </a:xfrm>
        </p:grpSpPr>
        <p:sp>
          <p:nvSpPr>
            <p:cNvPr id="19" name="矩形: 圆角 18"/>
            <p:cNvSpPr/>
            <p:nvPr>
              <p:custDataLst>
                <p:tags r:id="rId13"/>
              </p:custDataLst>
            </p:nvPr>
          </p:nvSpPr>
          <p:spPr>
            <a:xfrm>
              <a:off x="547693" y="1388930"/>
              <a:ext cx="6611643" cy="1855631"/>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Rectangle 5"/>
            <p:cNvSpPr>
              <a:spLocks noChangeArrowheads="1"/>
            </p:cNvSpPr>
            <p:nvPr>
              <p:custDataLst>
                <p:tags r:id="rId14"/>
              </p:custDataLst>
            </p:nvPr>
          </p:nvSpPr>
          <p:spPr bwMode="auto">
            <a:xfrm>
              <a:off x="938134" y="1732226"/>
              <a:ext cx="5926143"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本身存在的不足，加上它出台的时机正好是经济过热后的宏观经济整顿和紧缩期，利改税推行后，出现了全国国营企业实现利润连续</a:t>
              </a:r>
              <a:r>
                <a:rPr lang="en-US" altLang="zh-CN" sz="1600" spc="300" dirty="0">
                  <a:cs typeface="+mn-ea"/>
                  <a:sym typeface="+mn-lt"/>
                </a:rPr>
                <a:t>22</a:t>
              </a:r>
              <a:r>
                <a:rPr lang="zh-CN" altLang="en-US" sz="1600" spc="300" dirty="0">
                  <a:cs typeface="+mn-ea"/>
                  <a:sym typeface="+mn-lt"/>
                </a:rPr>
                <a:t>个月滑坡的局面。 </a:t>
              </a:r>
              <a:endParaRPr lang="zh-CN" altLang="en-US" sz="1600" spc="300" dirty="0">
                <a:cs typeface="+mn-ea"/>
                <a:sym typeface="+mn-lt"/>
              </a:endParaRPr>
            </a:p>
          </p:txBody>
        </p:sp>
        <p:grpSp>
          <p:nvGrpSpPr>
            <p:cNvPr id="21" name="组合 20"/>
            <p:cNvGrpSpPr/>
            <p:nvPr/>
          </p:nvGrpSpPr>
          <p:grpSpPr>
            <a:xfrm>
              <a:off x="1800464" y="1172643"/>
              <a:ext cx="4473569" cy="472137"/>
              <a:chOff x="2160551" y="1172643"/>
              <a:chExt cx="4473569" cy="472137"/>
            </a:xfrm>
          </p:grpSpPr>
          <p:sp>
            <p:nvSpPr>
              <p:cNvPr id="22" name="六边形 21"/>
              <p:cNvSpPr/>
              <p:nvPr>
                <p:custDataLst>
                  <p:tags r:id="rId15"/>
                </p:custDataLst>
              </p:nvPr>
            </p:nvSpPr>
            <p:spPr>
              <a:xfrm>
                <a:off x="2160551" y="1206005"/>
                <a:ext cx="4109951"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3" name="Rectangle 3"/>
              <p:cNvSpPr>
                <a:spLocks noChangeArrowheads="1"/>
              </p:cNvSpPr>
              <p:nvPr>
                <p:custDataLst>
                  <p:tags r:id="rId16"/>
                </p:custDataLst>
              </p:nvPr>
            </p:nvSpPr>
            <p:spPr bwMode="auto">
              <a:xfrm>
                <a:off x="2266404" y="1172643"/>
                <a:ext cx="4367716"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第二阶段：利改税</a:t>
                </a:r>
                <a:r>
                  <a:rPr lang="en-US" altLang="zh-CN" sz="1600" spc="300" dirty="0">
                    <a:solidFill>
                      <a:schemeClr val="bg1"/>
                    </a:solidFill>
                    <a:cs typeface="+mn-ea"/>
                    <a:sym typeface="+mn-lt"/>
                  </a:rPr>
                  <a:t>(1984-1986</a:t>
                </a:r>
                <a:r>
                  <a:rPr lang="zh-CN" altLang="en-US" sz="1600" spc="300" dirty="0">
                    <a:solidFill>
                      <a:schemeClr val="bg1"/>
                    </a:solidFill>
                    <a:cs typeface="+mn-ea"/>
                    <a:sym typeface="+mn-lt"/>
                  </a:rPr>
                  <a:t>年</a:t>
                </a:r>
                <a:r>
                  <a:rPr lang="en-US" altLang="zh-CN" sz="1600" spc="300" dirty="0">
                    <a:solidFill>
                      <a:schemeClr val="bg1"/>
                    </a:solidFill>
                    <a:cs typeface="+mn-ea"/>
                    <a:sym typeface="+mn-lt"/>
                  </a:rPr>
                  <a:t>) </a:t>
                </a:r>
                <a:endParaRPr lang="en-US" altLang="zh-CN" sz="1600" spc="300" dirty="0">
                  <a:solidFill>
                    <a:schemeClr val="bg1"/>
                  </a:solidFill>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95415" y="5018364"/>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3" name="矩形: 圆角 2"/>
          <p:cNvSpPr/>
          <p:nvPr/>
        </p:nvSpPr>
        <p:spPr>
          <a:xfrm>
            <a:off x="1049323" y="1178062"/>
            <a:ext cx="10398491" cy="4641397"/>
          </a:xfrm>
          <a:prstGeom prst="roundRect">
            <a:avLst>
              <a:gd name="adj" fmla="val 1247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 name="组合 3"/>
          <p:cNvGrpSpPr/>
          <p:nvPr/>
        </p:nvGrpSpPr>
        <p:grpSpPr>
          <a:xfrm>
            <a:off x="4922986" y="1483968"/>
            <a:ext cx="2583229" cy="426529"/>
            <a:chOff x="4781808" y="1483448"/>
            <a:chExt cx="2988473" cy="493441"/>
          </a:xfrm>
        </p:grpSpPr>
        <p:sp>
          <p:nvSpPr>
            <p:cNvPr id="5" name="六边形 4"/>
            <p:cNvSpPr/>
            <p:nvPr/>
          </p:nvSpPr>
          <p:spPr>
            <a:xfrm>
              <a:off x="4781808"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000" dirty="0">
                  <a:cs typeface="+mn-ea"/>
                  <a:sym typeface="+mn-lt"/>
                </a:rPr>
                <a:t>改</a:t>
              </a:r>
              <a:endParaRPr lang="zh-CN" altLang="en-US" sz="2000" dirty="0">
                <a:cs typeface="+mn-ea"/>
                <a:sym typeface="+mn-lt"/>
              </a:endParaRPr>
            </a:p>
          </p:txBody>
        </p:sp>
        <p:sp>
          <p:nvSpPr>
            <p:cNvPr id="8" name="六边形 7"/>
            <p:cNvSpPr/>
            <p:nvPr/>
          </p:nvSpPr>
          <p:spPr>
            <a:xfrm>
              <a:off x="558716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000" dirty="0">
                  <a:cs typeface="+mn-ea"/>
                  <a:sym typeface="+mn-lt"/>
                </a:rPr>
                <a:t>革</a:t>
              </a:r>
              <a:endParaRPr lang="zh-CN" altLang="en-US" sz="2000" dirty="0">
                <a:cs typeface="+mn-ea"/>
                <a:sym typeface="+mn-lt"/>
              </a:endParaRPr>
            </a:p>
          </p:txBody>
        </p:sp>
        <p:sp>
          <p:nvSpPr>
            <p:cNvPr id="10" name="六边形 9"/>
            <p:cNvSpPr/>
            <p:nvPr/>
          </p:nvSpPr>
          <p:spPr>
            <a:xfrm>
              <a:off x="6392530"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000" dirty="0">
                  <a:cs typeface="+mn-ea"/>
                  <a:sym typeface="+mn-lt"/>
                </a:rPr>
                <a:t>原</a:t>
              </a:r>
              <a:endParaRPr lang="zh-CN" altLang="en-US" sz="2000" dirty="0">
                <a:cs typeface="+mn-ea"/>
                <a:sym typeface="+mn-lt"/>
              </a:endParaRPr>
            </a:p>
          </p:txBody>
        </p:sp>
        <p:sp>
          <p:nvSpPr>
            <p:cNvPr id="28" name="六边形 27"/>
            <p:cNvSpPr/>
            <p:nvPr/>
          </p:nvSpPr>
          <p:spPr>
            <a:xfrm>
              <a:off x="719788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000" dirty="0">
                  <a:cs typeface="+mn-ea"/>
                  <a:sym typeface="+mn-lt"/>
                </a:rPr>
                <a:t>因</a:t>
              </a:r>
              <a:endParaRPr lang="zh-CN" altLang="en-US" sz="2000" dirty="0">
                <a:cs typeface="+mn-ea"/>
                <a:sym typeface="+mn-lt"/>
              </a:endParaRPr>
            </a:p>
          </p:txBody>
        </p:sp>
      </p:grpSp>
      <p:sp>
        <p:nvSpPr>
          <p:cNvPr id="29" name="矩形 28"/>
          <p:cNvSpPr/>
          <p:nvPr/>
        </p:nvSpPr>
        <p:spPr>
          <a:xfrm>
            <a:off x="1936353" y="2196125"/>
            <a:ext cx="1961794" cy="1754326"/>
          </a:xfrm>
          <a:prstGeom prst="rect">
            <a:avLst/>
          </a:prstGeom>
        </p:spPr>
        <p:txBody>
          <a:bodyPr wrap="square">
            <a:spAutoFit/>
          </a:bodyPr>
          <a:lstStyle/>
          <a:p>
            <a:pPr algn="just">
              <a:buClr>
                <a:srgbClr val="000066"/>
              </a:buClr>
            </a:pPr>
            <a:r>
              <a:rPr lang="zh-CN" altLang="en-US" sz="3600" spc="300" dirty="0">
                <a:solidFill>
                  <a:schemeClr val="tx1">
                    <a:lumMod val="95000"/>
                    <a:lumOff val="5000"/>
                  </a:schemeClr>
                </a:solidFill>
                <a:cs typeface="+mn-ea"/>
                <a:sym typeface="+mn-lt"/>
              </a:rPr>
              <a:t>业务结构过于复杂</a:t>
            </a:r>
            <a:endParaRPr lang="zh-CN" altLang="en-US" sz="3600" spc="300" dirty="0">
              <a:solidFill>
                <a:schemeClr val="tx1">
                  <a:lumMod val="95000"/>
                  <a:lumOff val="5000"/>
                </a:schemeClr>
              </a:solidFill>
              <a:cs typeface="+mn-ea"/>
              <a:sym typeface="+mn-lt"/>
            </a:endParaRPr>
          </a:p>
        </p:txBody>
      </p:sp>
      <p:sp>
        <p:nvSpPr>
          <p:cNvPr id="30" name="矩形 29"/>
          <p:cNvSpPr/>
          <p:nvPr/>
        </p:nvSpPr>
        <p:spPr>
          <a:xfrm>
            <a:off x="4594276" y="2210479"/>
            <a:ext cx="2911939" cy="1754326"/>
          </a:xfrm>
          <a:prstGeom prst="rect">
            <a:avLst/>
          </a:prstGeom>
        </p:spPr>
        <p:txBody>
          <a:bodyPr wrap="square">
            <a:spAutoFit/>
          </a:bodyPr>
          <a:lstStyle/>
          <a:p>
            <a:pPr algn="just">
              <a:buClr>
                <a:srgbClr val="000066"/>
              </a:buClr>
            </a:pPr>
            <a:r>
              <a:rPr lang="zh-CN" altLang="en-US" sz="3600" spc="300" dirty="0">
                <a:solidFill>
                  <a:schemeClr val="tx1">
                    <a:lumMod val="95000"/>
                    <a:lumOff val="5000"/>
                  </a:schemeClr>
                </a:solidFill>
                <a:cs typeface="+mn-ea"/>
                <a:sym typeface="+mn-lt"/>
              </a:rPr>
              <a:t>资本结构和管理结构亟待优化</a:t>
            </a:r>
            <a:endParaRPr lang="zh-CN" altLang="en-US" sz="3600" spc="300" dirty="0">
              <a:solidFill>
                <a:schemeClr val="tx1">
                  <a:lumMod val="95000"/>
                  <a:lumOff val="5000"/>
                </a:schemeClr>
              </a:solidFill>
              <a:cs typeface="+mn-ea"/>
              <a:sym typeface="+mn-lt"/>
            </a:endParaRPr>
          </a:p>
        </p:txBody>
      </p:sp>
      <p:sp>
        <p:nvSpPr>
          <p:cNvPr id="31" name="矩形 30"/>
          <p:cNvSpPr/>
          <p:nvPr/>
        </p:nvSpPr>
        <p:spPr>
          <a:xfrm>
            <a:off x="7892524" y="2210479"/>
            <a:ext cx="2911940" cy="1754326"/>
          </a:xfrm>
          <a:prstGeom prst="rect">
            <a:avLst/>
          </a:prstGeom>
        </p:spPr>
        <p:txBody>
          <a:bodyPr wrap="square">
            <a:spAutoFit/>
          </a:bodyPr>
          <a:lstStyle/>
          <a:p>
            <a:pPr algn="just">
              <a:buClr>
                <a:srgbClr val="000066"/>
              </a:buClr>
            </a:pPr>
            <a:r>
              <a:rPr lang="zh-CN" altLang="en-US" sz="3600" spc="300" dirty="0">
                <a:solidFill>
                  <a:schemeClr val="tx1">
                    <a:lumMod val="95000"/>
                    <a:lumOff val="5000"/>
                  </a:schemeClr>
                </a:solidFill>
                <a:cs typeface="+mn-ea"/>
                <a:sym typeface="+mn-lt"/>
              </a:rPr>
              <a:t>人力储备和组织</a:t>
            </a:r>
            <a:r>
              <a:rPr lang="zh-CN" altLang="en-US" sz="3200" spc="300" dirty="0">
                <a:solidFill>
                  <a:schemeClr val="tx1">
                    <a:lumMod val="95000"/>
                    <a:lumOff val="5000"/>
                  </a:schemeClr>
                </a:solidFill>
                <a:cs typeface="+mn-ea"/>
                <a:sym typeface="+mn-lt"/>
              </a:rPr>
              <a:t>文化</a:t>
            </a:r>
            <a:r>
              <a:rPr lang="zh-CN" altLang="en-US" sz="3600" spc="300" dirty="0">
                <a:solidFill>
                  <a:schemeClr val="tx1">
                    <a:lumMod val="95000"/>
                    <a:lumOff val="5000"/>
                  </a:schemeClr>
                </a:solidFill>
                <a:cs typeface="+mn-ea"/>
                <a:sym typeface="+mn-lt"/>
              </a:rPr>
              <a:t>出现问题</a:t>
            </a:r>
            <a:endParaRPr lang="zh-CN" altLang="en-US" sz="3600" spc="300" dirty="0">
              <a:solidFill>
                <a:schemeClr val="tx1">
                  <a:lumMod val="95000"/>
                  <a:lumOff val="5000"/>
                </a:schemeClr>
              </a:solidFill>
              <a:cs typeface="+mn-ea"/>
              <a:sym typeface="+mn-lt"/>
            </a:endParaRPr>
          </a:p>
        </p:txBody>
      </p:sp>
      <p:sp>
        <p:nvSpPr>
          <p:cNvPr id="46" name="文本框 45"/>
          <p:cNvSpPr txBox="1"/>
          <p:nvPr/>
        </p:nvSpPr>
        <p:spPr>
          <a:xfrm>
            <a:off x="415047" y="382621"/>
            <a:ext cx="6807983" cy="584775"/>
          </a:xfrm>
          <a:prstGeom prst="rect">
            <a:avLst/>
          </a:prstGeom>
          <a:noFill/>
        </p:spPr>
        <p:txBody>
          <a:bodyPr wrap="square" rtlCol="0">
            <a:spAutoFit/>
          </a:bodyPr>
          <a:lstStyle/>
          <a:p>
            <a:r>
              <a:rPr lang="en-US" altLang="zh-CN" sz="3200" dirty="0"/>
              <a:t>Q1</a:t>
            </a:r>
            <a:r>
              <a:rPr lang="zh-CN" altLang="en-US" sz="3200" dirty="0"/>
              <a:t>：</a:t>
            </a:r>
            <a:r>
              <a:rPr lang="en-US" altLang="zh-CN" sz="3200" dirty="0"/>
              <a:t>TCL</a:t>
            </a:r>
            <a:r>
              <a:rPr lang="zh-CN" altLang="en-US" sz="3200" dirty="0"/>
              <a:t>为什么要启动第四次变革？</a:t>
            </a:r>
            <a:endParaRPr lang="zh-CN" altLang="en-US" sz="3200" dirty="0"/>
          </a:p>
        </p:txBody>
      </p:sp>
      <p:sp>
        <p:nvSpPr>
          <p:cNvPr id="2" name="文本框 1"/>
          <p:cNvSpPr txBox="1"/>
          <p:nvPr/>
        </p:nvSpPr>
        <p:spPr>
          <a:xfrm>
            <a:off x="1765320" y="4161117"/>
            <a:ext cx="2176896" cy="1479764"/>
          </a:xfrm>
          <a:prstGeom prst="rect">
            <a:avLst/>
          </a:prstGeom>
          <a:noFill/>
        </p:spPr>
        <p:txBody>
          <a:bodyPr wrap="square" rtlCol="0">
            <a:spAutoFit/>
          </a:bodyPr>
          <a:lstStyle/>
          <a:p>
            <a:r>
              <a:rPr lang="zh-CN" altLang="en-US" dirty="0"/>
              <a:t>业务部门过于分散，公司资源无法集中，有限的资源大部分用于救火，组织“瘦身势在必行。</a:t>
            </a:r>
            <a:endParaRPr lang="zh-CN" altLang="en-US" dirty="0"/>
          </a:p>
        </p:txBody>
      </p:sp>
      <p:sp>
        <p:nvSpPr>
          <p:cNvPr id="6" name="矩形 5"/>
          <p:cNvSpPr/>
          <p:nvPr/>
        </p:nvSpPr>
        <p:spPr>
          <a:xfrm>
            <a:off x="1665298" y="4129029"/>
            <a:ext cx="2355639" cy="147732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500" fill="hold"/>
                                        <p:tgtEl>
                                          <p:spTgt spid="29"/>
                                        </p:tgtEl>
                                        <p:attrNameLst>
                                          <p:attrName>ppt_x</p:attrName>
                                        </p:attrNameLst>
                                      </p:cBhvr>
                                      <p:tavLst>
                                        <p:tav tm="0">
                                          <p:val>
                                            <p:strVal val="#ppt_x"/>
                                          </p:val>
                                        </p:tav>
                                        <p:tav tm="100000">
                                          <p:val>
                                            <p:strVal val="#ppt_x"/>
                                          </p:val>
                                        </p:tav>
                                      </p:tavLst>
                                    </p:anim>
                                    <p:anim calcmode="lin" valueType="num">
                                      <p:cBhvr additive="base">
                                        <p:cTn id="2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ppt_x"/>
                                          </p:val>
                                        </p:tav>
                                        <p:tav tm="100000">
                                          <p:val>
                                            <p:strVal val="#ppt_x"/>
                                          </p:val>
                                        </p:tav>
                                      </p:tavLst>
                                    </p:anim>
                                    <p:anim calcmode="lin" valueType="num">
                                      <p:cBhvr additive="base">
                                        <p:cTn id="27"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ppt_x"/>
                                          </p:val>
                                        </p:tav>
                                        <p:tav tm="100000">
                                          <p:val>
                                            <p:strVal val="#ppt_x"/>
                                          </p:val>
                                        </p:tav>
                                      </p:tavLst>
                                    </p:anim>
                                    <p:anim calcmode="lin" valueType="num">
                                      <p:cBhvr additive="base">
                                        <p:cTn id="3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p:bldP spid="30"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392158" y="3670905"/>
            <a:ext cx="11624234" cy="4351704"/>
            <a:chOff x="145701" y="4173883"/>
            <a:chExt cx="9793013" cy="3666159"/>
          </a:xfrm>
        </p:grpSpPr>
        <p:pic>
          <p:nvPicPr>
            <p:cNvPr id="18" name="图片 17"/>
            <p:cNvPicPr>
              <a:picLocks noChangeAspect="1"/>
            </p:cNvPicPr>
            <p:nvPr/>
          </p:nvPicPr>
          <p:blipFill>
            <a:blip r:embed="rId1" cstate="screen"/>
            <a:stretch>
              <a:fillRect/>
            </a:stretch>
          </p:blipFill>
          <p:spPr>
            <a:xfrm>
              <a:off x="329613" y="4454433"/>
              <a:ext cx="681514" cy="2426189"/>
            </a:xfrm>
            <a:prstGeom prst="rect">
              <a:avLst/>
            </a:prstGeom>
          </p:spPr>
        </p:pic>
        <p:pic>
          <p:nvPicPr>
            <p:cNvPr id="19" name="图片 18"/>
            <p:cNvPicPr>
              <a:picLocks noChangeAspect="1"/>
            </p:cNvPicPr>
            <p:nvPr/>
          </p:nvPicPr>
          <p:blipFill>
            <a:blip r:embed="rId2" cstate="screen"/>
            <a:stretch>
              <a:fillRect/>
            </a:stretch>
          </p:blipFill>
          <p:spPr>
            <a:xfrm>
              <a:off x="145701" y="5303520"/>
              <a:ext cx="349913" cy="1554480"/>
            </a:xfrm>
            <a:prstGeom prst="rect">
              <a:avLst/>
            </a:prstGeom>
          </p:spPr>
        </p:pic>
        <p:pic>
          <p:nvPicPr>
            <p:cNvPr id="20" name="图片 19"/>
            <p:cNvPicPr>
              <a:picLocks noChangeAspect="1"/>
            </p:cNvPicPr>
            <p:nvPr/>
          </p:nvPicPr>
          <p:blipFill>
            <a:blip r:embed="rId3" cstate="screen"/>
            <a:stretch>
              <a:fillRect/>
            </a:stretch>
          </p:blipFill>
          <p:spPr>
            <a:xfrm>
              <a:off x="1306037" y="4797571"/>
              <a:ext cx="523156" cy="2060429"/>
            </a:xfrm>
            <a:prstGeom prst="rect">
              <a:avLst/>
            </a:prstGeom>
          </p:spPr>
        </p:pic>
        <p:pic>
          <p:nvPicPr>
            <p:cNvPr id="21" name="图片 20"/>
            <p:cNvPicPr>
              <a:picLocks noChangeAspect="1"/>
            </p:cNvPicPr>
            <p:nvPr/>
          </p:nvPicPr>
          <p:blipFill>
            <a:blip r:embed="rId4" cstate="screen"/>
            <a:stretch>
              <a:fillRect/>
            </a:stretch>
          </p:blipFill>
          <p:spPr>
            <a:xfrm>
              <a:off x="2124104" y="5812970"/>
              <a:ext cx="235236" cy="1045029"/>
            </a:xfrm>
            <a:prstGeom prst="rect">
              <a:avLst/>
            </a:prstGeom>
          </p:spPr>
        </p:pic>
        <p:pic>
          <p:nvPicPr>
            <p:cNvPr id="22" name="图片 21"/>
            <p:cNvPicPr>
              <a:picLocks noChangeAspect="1"/>
            </p:cNvPicPr>
            <p:nvPr/>
          </p:nvPicPr>
          <p:blipFill>
            <a:blip r:embed="rId5" cstate="screen"/>
            <a:stretch>
              <a:fillRect/>
            </a:stretch>
          </p:blipFill>
          <p:spPr>
            <a:xfrm>
              <a:off x="2465023" y="4557474"/>
              <a:ext cx="523155" cy="2324101"/>
            </a:xfrm>
            <a:prstGeom prst="rect">
              <a:avLst/>
            </a:prstGeom>
          </p:spPr>
        </p:pic>
        <p:pic>
          <p:nvPicPr>
            <p:cNvPr id="23" name="图片 22"/>
            <p:cNvPicPr>
              <a:picLocks noChangeAspect="1"/>
            </p:cNvPicPr>
            <p:nvPr/>
          </p:nvPicPr>
          <p:blipFill>
            <a:blip r:embed="rId3"/>
            <a:stretch>
              <a:fillRect/>
            </a:stretch>
          </p:blipFill>
          <p:spPr>
            <a:xfrm>
              <a:off x="3255264" y="4173883"/>
              <a:ext cx="681514" cy="2684116"/>
            </a:xfrm>
            <a:prstGeom prst="rect">
              <a:avLst/>
            </a:prstGeom>
          </p:spPr>
        </p:pic>
        <p:pic>
          <p:nvPicPr>
            <p:cNvPr id="24" name="图片 23"/>
            <p:cNvPicPr>
              <a:picLocks noChangeAspect="1"/>
            </p:cNvPicPr>
            <p:nvPr/>
          </p:nvPicPr>
          <p:blipFill>
            <a:blip r:embed="rId5" cstate="screen"/>
            <a:stretch>
              <a:fillRect/>
            </a:stretch>
          </p:blipFill>
          <p:spPr>
            <a:xfrm>
              <a:off x="4080322" y="5515941"/>
              <a:ext cx="523155" cy="2324101"/>
            </a:xfrm>
            <a:prstGeom prst="rect">
              <a:avLst/>
            </a:prstGeom>
          </p:spPr>
        </p:pic>
        <p:pic>
          <p:nvPicPr>
            <p:cNvPr id="25" name="图片 24"/>
            <p:cNvPicPr>
              <a:picLocks noChangeAspect="1"/>
            </p:cNvPicPr>
            <p:nvPr/>
          </p:nvPicPr>
          <p:blipFill>
            <a:blip r:embed="rId3"/>
            <a:stretch>
              <a:fillRect/>
            </a:stretch>
          </p:blipFill>
          <p:spPr>
            <a:xfrm>
              <a:off x="4603477" y="4425404"/>
              <a:ext cx="816077" cy="3214087"/>
            </a:xfrm>
            <a:prstGeom prst="rect">
              <a:avLst/>
            </a:prstGeom>
          </p:spPr>
        </p:pic>
        <p:pic>
          <p:nvPicPr>
            <p:cNvPr id="26" name="图片 25"/>
            <p:cNvPicPr>
              <a:picLocks noChangeAspect="1"/>
            </p:cNvPicPr>
            <p:nvPr/>
          </p:nvPicPr>
          <p:blipFill>
            <a:blip r:embed="rId6" cstate="screen"/>
            <a:stretch>
              <a:fillRect/>
            </a:stretch>
          </p:blipFill>
          <p:spPr>
            <a:xfrm>
              <a:off x="5252314" y="5303520"/>
              <a:ext cx="443307" cy="1578173"/>
            </a:xfrm>
            <a:prstGeom prst="rect">
              <a:avLst/>
            </a:prstGeom>
          </p:spPr>
        </p:pic>
        <p:pic>
          <p:nvPicPr>
            <p:cNvPr id="27" name="图片 26"/>
            <p:cNvPicPr>
              <a:picLocks noChangeAspect="1"/>
            </p:cNvPicPr>
            <p:nvPr/>
          </p:nvPicPr>
          <p:blipFill>
            <a:blip r:embed="rId1" cstate="screen"/>
            <a:stretch>
              <a:fillRect/>
            </a:stretch>
          </p:blipFill>
          <p:spPr>
            <a:xfrm>
              <a:off x="8443949" y="4395407"/>
              <a:ext cx="687984" cy="2449223"/>
            </a:xfrm>
            <a:prstGeom prst="rect">
              <a:avLst/>
            </a:prstGeom>
          </p:spPr>
        </p:pic>
        <p:pic>
          <p:nvPicPr>
            <p:cNvPr id="28" name="图片 27"/>
            <p:cNvPicPr>
              <a:picLocks noChangeAspect="1"/>
            </p:cNvPicPr>
            <p:nvPr/>
          </p:nvPicPr>
          <p:blipFill>
            <a:blip r:embed="rId3" cstate="screen"/>
            <a:stretch>
              <a:fillRect/>
            </a:stretch>
          </p:blipFill>
          <p:spPr>
            <a:xfrm>
              <a:off x="5873541" y="4784202"/>
              <a:ext cx="523156" cy="2060429"/>
            </a:xfrm>
            <a:prstGeom prst="rect">
              <a:avLst/>
            </a:prstGeom>
          </p:spPr>
        </p:pic>
        <p:pic>
          <p:nvPicPr>
            <p:cNvPr id="29" name="图片 28"/>
            <p:cNvPicPr>
              <a:picLocks noChangeAspect="1"/>
            </p:cNvPicPr>
            <p:nvPr/>
          </p:nvPicPr>
          <p:blipFill>
            <a:blip r:embed="rId4" cstate="screen"/>
            <a:stretch>
              <a:fillRect/>
            </a:stretch>
          </p:blipFill>
          <p:spPr>
            <a:xfrm>
              <a:off x="6691608" y="5799601"/>
              <a:ext cx="235236" cy="1045029"/>
            </a:xfrm>
            <a:prstGeom prst="rect">
              <a:avLst/>
            </a:prstGeom>
          </p:spPr>
        </p:pic>
        <p:pic>
          <p:nvPicPr>
            <p:cNvPr id="30" name="图片 29"/>
            <p:cNvPicPr>
              <a:picLocks noChangeAspect="1"/>
            </p:cNvPicPr>
            <p:nvPr/>
          </p:nvPicPr>
          <p:blipFill>
            <a:blip r:embed="rId5" cstate="screen"/>
            <a:stretch>
              <a:fillRect/>
            </a:stretch>
          </p:blipFill>
          <p:spPr>
            <a:xfrm>
              <a:off x="7061171" y="4537314"/>
              <a:ext cx="523155" cy="2324101"/>
            </a:xfrm>
            <a:prstGeom prst="rect">
              <a:avLst/>
            </a:prstGeom>
          </p:spPr>
        </p:pic>
        <p:pic>
          <p:nvPicPr>
            <p:cNvPr id="31" name="图片 30"/>
            <p:cNvPicPr>
              <a:picLocks noChangeAspect="1"/>
            </p:cNvPicPr>
            <p:nvPr/>
          </p:nvPicPr>
          <p:blipFill>
            <a:blip r:embed="rId2" cstate="screen"/>
            <a:stretch>
              <a:fillRect/>
            </a:stretch>
          </p:blipFill>
          <p:spPr>
            <a:xfrm>
              <a:off x="8255222" y="5326143"/>
              <a:ext cx="349913" cy="1554480"/>
            </a:xfrm>
            <a:prstGeom prst="rect">
              <a:avLst/>
            </a:prstGeom>
          </p:spPr>
        </p:pic>
        <p:pic>
          <p:nvPicPr>
            <p:cNvPr id="32" name="图片 31"/>
            <p:cNvPicPr>
              <a:picLocks noChangeAspect="1"/>
            </p:cNvPicPr>
            <p:nvPr/>
          </p:nvPicPr>
          <p:blipFill>
            <a:blip r:embed="rId3" cstate="screen"/>
            <a:stretch>
              <a:fillRect/>
            </a:stretch>
          </p:blipFill>
          <p:spPr>
            <a:xfrm>
              <a:off x="9415558" y="4820194"/>
              <a:ext cx="523156" cy="2060429"/>
            </a:xfrm>
            <a:prstGeom prst="rect">
              <a:avLst/>
            </a:prstGeom>
          </p:spPr>
        </p:pic>
        <p:pic>
          <p:nvPicPr>
            <p:cNvPr id="33" name="图片 32"/>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5" name="矩形: 圆角 4"/>
          <p:cNvSpPr/>
          <p:nvPr/>
        </p:nvSpPr>
        <p:spPr>
          <a:xfrm>
            <a:off x="896754" y="1478478"/>
            <a:ext cx="10398491" cy="4081154"/>
          </a:xfrm>
          <a:prstGeom prst="roundRect">
            <a:avLst>
              <a:gd name="adj" fmla="val 1247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p:cNvPicPr>
            <a:picLocks noChangeAspect="1"/>
          </p:cNvPicPr>
          <p:nvPr/>
        </p:nvPicPr>
        <p:blipFill rotWithShape="1">
          <a:blip r:embed="rId7" cstate="screen">
            <a:extLst>
              <a:ext uri="{BEBA8EAE-BF5A-486C-A8C5-ECC9F3942E4B}">
                <a14:imgProps xmlns:a14="http://schemas.microsoft.com/office/drawing/2010/main">
                  <a14:imgLayer r:embed="rId8">
                    <a14:imgEffect>
                      <a14:colorTemperature colorTemp="7200"/>
                    </a14:imgEffect>
                    <a14:imgEffect>
                      <a14:saturation sat="66000"/>
                    </a14:imgEffect>
                  </a14:imgLayer>
                </a14:imgProps>
              </a:ext>
            </a:extLst>
          </a:blip>
          <a:srcRect/>
          <a:stretch>
            <a:fillRect/>
          </a:stretch>
        </p:blipFill>
        <p:spPr>
          <a:xfrm>
            <a:off x="1845498" y="2142096"/>
            <a:ext cx="1972704" cy="1972704"/>
          </a:xfrm>
          <a:prstGeom prst="ellipse">
            <a:avLst/>
          </a:prstGeom>
        </p:spPr>
      </p:pic>
      <p:pic>
        <p:nvPicPr>
          <p:cNvPr id="6" name="图片 5"/>
          <p:cNvPicPr>
            <a:picLocks noChangeAspect="1"/>
          </p:cNvPicPr>
          <p:nvPr/>
        </p:nvPicPr>
        <p:blipFill rotWithShape="1">
          <a:blip r:embed="rId9" cstate="screen">
            <a:extLst>
              <a:ext uri="{BEBA8EAE-BF5A-486C-A8C5-ECC9F3942E4B}">
                <a14:imgProps xmlns:a14="http://schemas.microsoft.com/office/drawing/2010/main">
                  <a14:imgLayer r:embed="rId10">
                    <a14:imgEffect>
                      <a14:colorTemperature colorTemp="7200"/>
                    </a14:imgEffect>
                    <a14:imgEffect>
                      <a14:saturation sat="66000"/>
                    </a14:imgEffect>
                  </a14:imgLayer>
                </a14:imgProps>
              </a:ext>
            </a:extLst>
          </a:blip>
          <a:srcRect/>
          <a:stretch>
            <a:fillRect/>
          </a:stretch>
        </p:blipFill>
        <p:spPr>
          <a:xfrm>
            <a:off x="8444052" y="2142096"/>
            <a:ext cx="1972704" cy="1972704"/>
          </a:xfrm>
          <a:prstGeom prst="ellipse">
            <a:avLst/>
          </a:prstGeom>
        </p:spPr>
      </p:pic>
      <p:pic>
        <p:nvPicPr>
          <p:cNvPr id="7" name="图片 6"/>
          <p:cNvPicPr>
            <a:picLocks noChangeAspect="1"/>
          </p:cNvPicPr>
          <p:nvPr/>
        </p:nvPicPr>
        <p:blipFill rotWithShape="1">
          <a:blip r:embed="rId11" cstate="screen">
            <a:extLst>
              <a:ext uri="{BEBA8EAE-BF5A-486C-A8C5-ECC9F3942E4B}">
                <a14:imgProps xmlns:a14="http://schemas.microsoft.com/office/drawing/2010/main">
                  <a14:imgLayer r:embed="rId12">
                    <a14:imgEffect>
                      <a14:colorTemperature colorTemp="7200"/>
                    </a14:imgEffect>
                    <a14:imgEffect>
                      <a14:saturation sat="66000"/>
                    </a14:imgEffect>
                  </a14:imgLayer>
                </a14:imgProps>
              </a:ext>
            </a:extLst>
          </a:blip>
          <a:srcRect/>
          <a:stretch>
            <a:fillRect/>
          </a:stretch>
        </p:blipFill>
        <p:spPr>
          <a:xfrm>
            <a:off x="4888466" y="1956041"/>
            <a:ext cx="2415068" cy="2415068"/>
          </a:xfrm>
          <a:prstGeom prst="ellipse">
            <a:avLst/>
          </a:prstGeom>
        </p:spPr>
      </p:pic>
      <p:grpSp>
        <p:nvGrpSpPr>
          <p:cNvPr id="10" name="组合 9"/>
          <p:cNvGrpSpPr/>
          <p:nvPr/>
        </p:nvGrpSpPr>
        <p:grpSpPr>
          <a:xfrm>
            <a:off x="4696691" y="3269975"/>
            <a:ext cx="2798618" cy="498159"/>
            <a:chOff x="4798703" y="4002742"/>
            <a:chExt cx="2798618" cy="498159"/>
          </a:xfrm>
        </p:grpSpPr>
        <p:sp>
          <p:nvSpPr>
            <p:cNvPr id="9" name="矩形: 圆角 8"/>
            <p:cNvSpPr/>
            <p:nvPr/>
          </p:nvSpPr>
          <p:spPr>
            <a:xfrm>
              <a:off x="4798703" y="4002742"/>
              <a:ext cx="2798618" cy="498159"/>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Rectangle 3"/>
            <p:cNvSpPr txBox="1">
              <a:spLocks noChangeArrowheads="1"/>
            </p:cNvSpPr>
            <p:nvPr/>
          </p:nvSpPr>
          <p:spPr>
            <a:xfrm>
              <a:off x="4920979" y="4041412"/>
              <a:ext cx="2676342"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536482"/>
                  </a:solidFill>
                  <a:latin typeface="+mn-lt"/>
                  <a:ea typeface="+mn-ea"/>
                  <a:cs typeface="+mn-ea"/>
                  <a:sym typeface="+mn-lt"/>
                </a:rPr>
                <a:t>企业的概念与特征</a:t>
              </a:r>
              <a:endParaRPr lang="zh-CN" altLang="en-US" b="1" dirty="0">
                <a:solidFill>
                  <a:srgbClr val="536482"/>
                </a:solidFill>
                <a:latin typeface="+mn-lt"/>
                <a:ea typeface="+mn-ea"/>
                <a:cs typeface="+mn-ea"/>
                <a:sym typeface="+mn-lt"/>
              </a:endParaRPr>
            </a:p>
          </p:txBody>
        </p:sp>
      </p:grpSp>
      <p:sp>
        <p:nvSpPr>
          <p:cNvPr id="11" name="Rectangle 9"/>
          <p:cNvSpPr>
            <a:spLocks noChangeArrowheads="1"/>
          </p:cNvSpPr>
          <p:nvPr/>
        </p:nvSpPr>
        <p:spPr bwMode="auto">
          <a:xfrm>
            <a:off x="2303539" y="4689050"/>
            <a:ext cx="1402948"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做什么的？</a:t>
            </a:r>
            <a:endParaRPr lang="en-US" altLang="zh-CN" sz="1600" spc="300" dirty="0">
              <a:solidFill>
                <a:schemeClr val="tx1">
                  <a:lumMod val="95000"/>
                  <a:lumOff val="5000"/>
                </a:schemeClr>
              </a:solidFill>
              <a:cs typeface="+mn-ea"/>
              <a:sym typeface="+mn-lt"/>
            </a:endParaRPr>
          </a:p>
        </p:txBody>
      </p:sp>
      <p:sp>
        <p:nvSpPr>
          <p:cNvPr id="12" name="Rectangle 11"/>
          <p:cNvSpPr>
            <a:spLocks noChangeArrowheads="1"/>
          </p:cNvSpPr>
          <p:nvPr/>
        </p:nvSpPr>
        <p:spPr bwMode="auto">
          <a:xfrm>
            <a:off x="5624629" y="4786025"/>
            <a:ext cx="1159292"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为什么？</a:t>
            </a:r>
            <a:endParaRPr lang="en-US" altLang="zh-CN" sz="1600" spc="300" dirty="0">
              <a:solidFill>
                <a:schemeClr val="tx1">
                  <a:lumMod val="95000"/>
                  <a:lumOff val="5000"/>
                </a:schemeClr>
              </a:solidFill>
              <a:cs typeface="+mn-ea"/>
              <a:sym typeface="+mn-lt"/>
            </a:endParaRPr>
          </a:p>
        </p:txBody>
      </p:sp>
      <p:sp>
        <p:nvSpPr>
          <p:cNvPr id="13" name="Rectangle 15"/>
          <p:cNvSpPr>
            <a:spLocks noChangeArrowheads="1"/>
          </p:cNvSpPr>
          <p:nvPr/>
        </p:nvSpPr>
        <p:spPr bwMode="auto">
          <a:xfrm>
            <a:off x="8655331" y="4689050"/>
            <a:ext cx="1890261"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需要什么条件？</a:t>
            </a:r>
            <a:endParaRPr lang="en-US" altLang="zh-CN" sz="1600" spc="300" dirty="0">
              <a:solidFill>
                <a:schemeClr val="tx1">
                  <a:lumMod val="95000"/>
                  <a:lumOff val="5000"/>
                </a:schemeClr>
              </a:solidFill>
              <a:cs typeface="+mn-ea"/>
              <a:sym typeface="+mn-lt"/>
            </a:endParaRPr>
          </a:p>
        </p:txBody>
      </p:sp>
      <p:sp>
        <p:nvSpPr>
          <p:cNvPr id="14" name="文本框 13"/>
          <p:cNvSpPr txBox="1"/>
          <p:nvPr/>
        </p:nvSpPr>
        <p:spPr>
          <a:xfrm>
            <a:off x="2324797" y="4365205"/>
            <a:ext cx="1602659"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altLang="zh-CN" b="1" dirty="0">
                <a:solidFill>
                  <a:srgbClr val="536482"/>
                </a:solidFill>
                <a:latin typeface="+mn-lt"/>
                <a:ea typeface="+mn-ea"/>
                <a:cs typeface="+mn-ea"/>
                <a:sym typeface="+mn-lt"/>
              </a:rPr>
              <a:t>WHAT?</a:t>
            </a:r>
            <a:endParaRPr lang="zh-CN" altLang="en-US" b="1" dirty="0">
              <a:solidFill>
                <a:srgbClr val="536482"/>
              </a:solidFill>
              <a:latin typeface="+mn-lt"/>
              <a:ea typeface="+mn-ea"/>
              <a:cs typeface="+mn-ea"/>
              <a:sym typeface="+mn-lt"/>
            </a:endParaRPr>
          </a:p>
        </p:txBody>
      </p:sp>
      <p:sp>
        <p:nvSpPr>
          <p:cNvPr id="15" name="文本框 14"/>
          <p:cNvSpPr txBox="1"/>
          <p:nvPr/>
        </p:nvSpPr>
        <p:spPr>
          <a:xfrm>
            <a:off x="5624629" y="4459976"/>
            <a:ext cx="1602659"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altLang="zh-CN" b="1" dirty="0">
                <a:solidFill>
                  <a:srgbClr val="536482"/>
                </a:solidFill>
                <a:latin typeface="+mn-lt"/>
                <a:ea typeface="+mn-ea"/>
                <a:cs typeface="+mn-ea"/>
                <a:sym typeface="+mn-lt"/>
              </a:rPr>
              <a:t>WHY?</a:t>
            </a:r>
            <a:endParaRPr lang="zh-CN" altLang="en-US" b="1" dirty="0">
              <a:solidFill>
                <a:srgbClr val="536482"/>
              </a:solidFill>
              <a:latin typeface="+mn-lt"/>
              <a:ea typeface="+mn-ea"/>
              <a:cs typeface="+mn-ea"/>
              <a:sym typeface="+mn-lt"/>
            </a:endParaRPr>
          </a:p>
        </p:txBody>
      </p:sp>
      <p:sp>
        <p:nvSpPr>
          <p:cNvPr id="16" name="文本框 15"/>
          <p:cNvSpPr txBox="1"/>
          <p:nvPr/>
        </p:nvSpPr>
        <p:spPr>
          <a:xfrm>
            <a:off x="8987144" y="4365205"/>
            <a:ext cx="1602659"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altLang="zh-CN" b="1" dirty="0">
                <a:solidFill>
                  <a:srgbClr val="536482"/>
                </a:solidFill>
                <a:latin typeface="+mn-lt"/>
                <a:ea typeface="+mn-ea"/>
                <a:cs typeface="+mn-ea"/>
                <a:sym typeface="+mn-lt"/>
              </a:rPr>
              <a:t>HOW?</a:t>
            </a:r>
            <a:endParaRPr lang="zh-CN" altLang="en-US" b="1" dirty="0">
              <a:solidFill>
                <a:srgbClr val="536482"/>
              </a:solidFill>
              <a:latin typeface="+mn-lt"/>
              <a:ea typeface="+mn-ea"/>
              <a:cs typeface="+mn-ea"/>
              <a:sym typeface="+mn-lt"/>
            </a:endParaRPr>
          </a:p>
        </p:txBody>
      </p:sp>
      <p:sp>
        <p:nvSpPr>
          <p:cNvPr id="34" name="椭圆 33"/>
          <p:cNvSpPr/>
          <p:nvPr/>
        </p:nvSpPr>
        <p:spPr>
          <a:xfrm>
            <a:off x="2184459" y="1956041"/>
            <a:ext cx="411982" cy="411982"/>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36" name="椭圆 35"/>
          <p:cNvSpPr/>
          <p:nvPr/>
        </p:nvSpPr>
        <p:spPr>
          <a:xfrm>
            <a:off x="10016813" y="2368023"/>
            <a:ext cx="244684" cy="244684"/>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par>
                                <p:cTn id="11" presetID="14"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randombar(horizontal)">
                                      <p:cBhvr>
                                        <p:cTn id="16" dur="500"/>
                                        <p:tgtEl>
                                          <p:spTgt spid="3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randombar(horizontal)">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ppt_x"/>
                                          </p:val>
                                        </p:tav>
                                        <p:tav tm="100000">
                                          <p:val>
                                            <p:strVal val="#ppt_x"/>
                                          </p:val>
                                        </p:tav>
                                      </p:tavLst>
                                    </p:anim>
                                    <p:anim calcmode="lin" valueType="num">
                                      <p:cBhvr additive="base">
                                        <p:cTn id="3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ppt_x"/>
                                          </p:val>
                                        </p:tav>
                                        <p:tav tm="100000">
                                          <p:val>
                                            <p:strVal val="#ppt_x"/>
                                          </p:val>
                                        </p:tav>
                                      </p:tavLst>
                                    </p:anim>
                                    <p:anim calcmode="lin" valueType="num">
                                      <p:cBhvr additive="base">
                                        <p:cTn id="4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down)">
                                      <p:cBhvr>
                                        <p:cTn id="5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P spid="13" grpId="0"/>
      <p:bldP spid="14" grpId="0"/>
      <p:bldP spid="15" grpId="0"/>
      <p:bldP spid="16" grpId="0"/>
      <p:bldP spid="34"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146694" y="3902213"/>
            <a:ext cx="4846733" cy="3986045"/>
            <a:chOff x="145701" y="4173883"/>
            <a:chExt cx="4457776" cy="3666159"/>
          </a:xfrm>
        </p:grpSpPr>
        <p:pic>
          <p:nvPicPr>
            <p:cNvPr id="32" name="图片 31"/>
            <p:cNvPicPr>
              <a:picLocks noChangeAspect="1"/>
            </p:cNvPicPr>
            <p:nvPr/>
          </p:nvPicPr>
          <p:blipFill>
            <a:blip r:embed="rId1" cstate="screen"/>
            <a:stretch>
              <a:fillRect/>
            </a:stretch>
          </p:blipFill>
          <p:spPr>
            <a:xfrm>
              <a:off x="329613" y="4454433"/>
              <a:ext cx="681514" cy="2426189"/>
            </a:xfrm>
            <a:prstGeom prst="rect">
              <a:avLst/>
            </a:prstGeom>
          </p:spPr>
        </p:pic>
        <p:pic>
          <p:nvPicPr>
            <p:cNvPr id="33" name="图片 32"/>
            <p:cNvPicPr>
              <a:picLocks noChangeAspect="1"/>
            </p:cNvPicPr>
            <p:nvPr/>
          </p:nvPicPr>
          <p:blipFill>
            <a:blip r:embed="rId2" cstate="screen"/>
            <a:stretch>
              <a:fillRect/>
            </a:stretch>
          </p:blipFill>
          <p:spPr>
            <a:xfrm>
              <a:off x="145701" y="5303520"/>
              <a:ext cx="349913" cy="1554480"/>
            </a:xfrm>
            <a:prstGeom prst="rect">
              <a:avLst/>
            </a:prstGeom>
          </p:spPr>
        </p:pic>
        <p:pic>
          <p:nvPicPr>
            <p:cNvPr id="34" name="图片 33"/>
            <p:cNvPicPr>
              <a:picLocks noChangeAspect="1"/>
            </p:cNvPicPr>
            <p:nvPr/>
          </p:nvPicPr>
          <p:blipFill>
            <a:blip r:embed="rId3" cstate="screen"/>
            <a:stretch>
              <a:fillRect/>
            </a:stretch>
          </p:blipFill>
          <p:spPr>
            <a:xfrm>
              <a:off x="1306037" y="4797571"/>
              <a:ext cx="523156" cy="2060429"/>
            </a:xfrm>
            <a:prstGeom prst="rect">
              <a:avLst/>
            </a:prstGeom>
          </p:spPr>
        </p:pic>
        <p:pic>
          <p:nvPicPr>
            <p:cNvPr id="35" name="图片 34"/>
            <p:cNvPicPr>
              <a:picLocks noChangeAspect="1"/>
            </p:cNvPicPr>
            <p:nvPr/>
          </p:nvPicPr>
          <p:blipFill>
            <a:blip r:embed="rId4" cstate="screen"/>
            <a:stretch>
              <a:fillRect/>
            </a:stretch>
          </p:blipFill>
          <p:spPr>
            <a:xfrm>
              <a:off x="2124104" y="5812970"/>
              <a:ext cx="235236" cy="1045029"/>
            </a:xfrm>
            <a:prstGeom prst="rect">
              <a:avLst/>
            </a:prstGeom>
          </p:spPr>
        </p:pic>
        <p:pic>
          <p:nvPicPr>
            <p:cNvPr id="36" name="图片 35"/>
            <p:cNvPicPr>
              <a:picLocks noChangeAspect="1"/>
            </p:cNvPicPr>
            <p:nvPr/>
          </p:nvPicPr>
          <p:blipFill>
            <a:blip r:embed="rId5" cstate="screen"/>
            <a:stretch>
              <a:fillRect/>
            </a:stretch>
          </p:blipFill>
          <p:spPr>
            <a:xfrm>
              <a:off x="2465023" y="4557474"/>
              <a:ext cx="523155" cy="2324101"/>
            </a:xfrm>
            <a:prstGeom prst="rect">
              <a:avLst/>
            </a:prstGeom>
          </p:spPr>
        </p:pic>
        <p:pic>
          <p:nvPicPr>
            <p:cNvPr id="37" name="图片 36"/>
            <p:cNvPicPr>
              <a:picLocks noChangeAspect="1"/>
            </p:cNvPicPr>
            <p:nvPr/>
          </p:nvPicPr>
          <p:blipFill>
            <a:blip r:embed="rId3" cstate="screen"/>
            <a:stretch>
              <a:fillRect/>
            </a:stretch>
          </p:blipFill>
          <p:spPr>
            <a:xfrm>
              <a:off x="3255264" y="4173883"/>
              <a:ext cx="681514" cy="2684116"/>
            </a:xfrm>
            <a:prstGeom prst="rect">
              <a:avLst/>
            </a:prstGeom>
          </p:spPr>
        </p:pic>
        <p:pic>
          <p:nvPicPr>
            <p:cNvPr id="38" name="图片 37"/>
            <p:cNvPicPr>
              <a:picLocks noChangeAspect="1"/>
            </p:cNvPicPr>
            <p:nvPr/>
          </p:nvPicPr>
          <p:blipFill>
            <a:blip r:embed="rId5" cstate="screen"/>
            <a:stretch>
              <a:fillRect/>
            </a:stretch>
          </p:blipFill>
          <p:spPr>
            <a:xfrm>
              <a:off x="4080322" y="5515941"/>
              <a:ext cx="523155" cy="2324101"/>
            </a:xfrm>
            <a:prstGeom prst="rect">
              <a:avLst/>
            </a:prstGeom>
          </p:spPr>
        </p:pic>
      </p:grpSp>
      <p:sp>
        <p:nvSpPr>
          <p:cNvPr id="29" name="矩形: 圆角 28"/>
          <p:cNvSpPr/>
          <p:nvPr/>
        </p:nvSpPr>
        <p:spPr>
          <a:xfrm>
            <a:off x="1183113" y="1775622"/>
            <a:ext cx="4119739" cy="4081154"/>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Round Same Side Corner Rectangle 4"/>
          <p:cNvSpPr/>
          <p:nvPr/>
        </p:nvSpPr>
        <p:spPr>
          <a:xfrm>
            <a:off x="5054579" y="1547022"/>
            <a:ext cx="456081" cy="5425278"/>
          </a:xfrm>
          <a:prstGeom prst="round2SameRect">
            <a:avLst>
              <a:gd name="adj1" fmla="val 50000"/>
              <a:gd name="adj2" fmla="val 0"/>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cs typeface="+mn-ea"/>
              <a:sym typeface="+mn-lt"/>
            </a:endParaRPr>
          </a:p>
        </p:txBody>
      </p:sp>
      <p:grpSp>
        <p:nvGrpSpPr>
          <p:cNvPr id="24" name="组合 23"/>
          <p:cNvGrpSpPr/>
          <p:nvPr>
            <p:custDataLst>
              <p:tags r:id="rId6"/>
            </p:custDataLst>
          </p:nvPr>
        </p:nvGrpSpPr>
        <p:grpSpPr>
          <a:xfrm>
            <a:off x="5265875" y="1788242"/>
            <a:ext cx="6236861" cy="817720"/>
            <a:chOff x="5016493" y="1944106"/>
            <a:chExt cx="6236861" cy="817720"/>
          </a:xfrm>
        </p:grpSpPr>
        <p:grpSp>
          <p:nvGrpSpPr>
            <p:cNvPr id="10" name="组合 9"/>
            <p:cNvGrpSpPr/>
            <p:nvPr/>
          </p:nvGrpSpPr>
          <p:grpSpPr>
            <a:xfrm>
              <a:off x="5016493" y="1944106"/>
              <a:ext cx="1535677" cy="463915"/>
              <a:chOff x="5049981" y="1879080"/>
              <a:chExt cx="1535677" cy="463915"/>
            </a:xfrm>
          </p:grpSpPr>
          <p:sp>
            <p:nvSpPr>
              <p:cNvPr id="5" name="六边形 4"/>
              <p:cNvSpPr/>
              <p:nvPr>
                <p:custDataLst>
                  <p:tags r:id="rId7"/>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9" name="Rectangle 2"/>
              <p:cNvSpPr txBox="1">
                <a:spLocks noChangeArrowheads="1"/>
              </p:cNvSpPr>
              <p:nvPr>
                <p:custDataLst>
                  <p:tags r:id="rId8"/>
                </p:custDataLst>
              </p:nvPr>
            </p:nvSpPr>
            <p:spPr>
              <a:xfrm>
                <a:off x="5450554" y="1879080"/>
                <a:ext cx="979316"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特征一</a:t>
                </a:r>
                <a:endParaRPr lang="zh-CN" altLang="en-US" dirty="0">
                  <a:solidFill>
                    <a:schemeClr val="bg1"/>
                  </a:solidFill>
                  <a:latin typeface="+mn-lt"/>
                  <a:ea typeface="+mn-ea"/>
                  <a:cs typeface="+mn-ea"/>
                  <a:sym typeface="+mn-lt"/>
                </a:endParaRPr>
              </a:p>
            </p:txBody>
          </p:sp>
        </p:grpSp>
        <p:sp>
          <p:nvSpPr>
            <p:cNvPr id="14" name="矩形 13"/>
            <p:cNvSpPr/>
            <p:nvPr>
              <p:custDataLst>
                <p:tags r:id="rId9"/>
              </p:custDataLst>
            </p:nvPr>
          </p:nvSpPr>
          <p:spPr>
            <a:xfrm>
              <a:off x="5294765" y="2341711"/>
              <a:ext cx="5958589"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必须正式在国家政府有关部门注册备案完成登记手续</a:t>
              </a:r>
              <a:endParaRPr lang="zh-CN" altLang="en-US" sz="1600" spc="300" dirty="0">
                <a:solidFill>
                  <a:schemeClr val="tx1">
                    <a:lumMod val="95000"/>
                    <a:lumOff val="5000"/>
                  </a:schemeClr>
                </a:solidFill>
                <a:cs typeface="+mn-ea"/>
                <a:sym typeface="+mn-lt"/>
              </a:endParaRPr>
            </a:p>
          </p:txBody>
        </p:sp>
      </p:grpSp>
      <p:grpSp>
        <p:nvGrpSpPr>
          <p:cNvPr id="25" name="组合 24"/>
          <p:cNvGrpSpPr/>
          <p:nvPr>
            <p:custDataLst>
              <p:tags r:id="rId10"/>
            </p:custDataLst>
          </p:nvPr>
        </p:nvGrpSpPr>
        <p:grpSpPr>
          <a:xfrm>
            <a:off x="5265875" y="2807849"/>
            <a:ext cx="6236860" cy="885402"/>
            <a:chOff x="5016493" y="2963713"/>
            <a:chExt cx="6236860" cy="885402"/>
          </a:xfrm>
        </p:grpSpPr>
        <p:grpSp>
          <p:nvGrpSpPr>
            <p:cNvPr id="11" name="组合 10"/>
            <p:cNvGrpSpPr/>
            <p:nvPr/>
          </p:nvGrpSpPr>
          <p:grpSpPr>
            <a:xfrm>
              <a:off x="5016493" y="2963713"/>
              <a:ext cx="1535677" cy="463915"/>
              <a:chOff x="5049981" y="1879080"/>
              <a:chExt cx="1535677" cy="463915"/>
            </a:xfrm>
          </p:grpSpPr>
          <p:sp>
            <p:nvSpPr>
              <p:cNvPr id="12" name="六边形 11"/>
              <p:cNvSpPr/>
              <p:nvPr>
                <p:custDataLst>
                  <p:tags r:id="rId11"/>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3" name="Rectangle 2"/>
              <p:cNvSpPr txBox="1">
                <a:spLocks noChangeArrowheads="1"/>
              </p:cNvSpPr>
              <p:nvPr>
                <p:custDataLst>
                  <p:tags r:id="rId12"/>
                </p:custDataLst>
              </p:nvPr>
            </p:nvSpPr>
            <p:spPr>
              <a:xfrm>
                <a:off x="5450554" y="1879080"/>
                <a:ext cx="979316"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特征二</a:t>
                </a:r>
                <a:endParaRPr lang="zh-CN" altLang="en-US" dirty="0">
                  <a:solidFill>
                    <a:schemeClr val="bg1"/>
                  </a:solidFill>
                  <a:latin typeface="+mn-lt"/>
                  <a:ea typeface="+mn-ea"/>
                  <a:cs typeface="+mn-ea"/>
                  <a:sym typeface="+mn-lt"/>
                </a:endParaRPr>
              </a:p>
            </p:txBody>
          </p:sp>
        </p:grpSp>
        <p:sp>
          <p:nvSpPr>
            <p:cNvPr id="15" name="矩形 14"/>
            <p:cNvSpPr/>
            <p:nvPr>
              <p:custDataLst>
                <p:tags r:id="rId13"/>
              </p:custDataLst>
            </p:nvPr>
          </p:nvSpPr>
          <p:spPr>
            <a:xfrm>
              <a:off x="5294764" y="3429000"/>
              <a:ext cx="5958589"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应有专门的名称、固定的工作地点和组织章程</a:t>
              </a:r>
              <a:endParaRPr lang="zh-CN" altLang="en-US" sz="1600" spc="300" dirty="0">
                <a:solidFill>
                  <a:schemeClr val="tx1">
                    <a:lumMod val="95000"/>
                    <a:lumOff val="5000"/>
                  </a:schemeClr>
                </a:solidFill>
                <a:cs typeface="+mn-ea"/>
                <a:sym typeface="+mn-lt"/>
              </a:endParaRPr>
            </a:p>
          </p:txBody>
        </p:sp>
      </p:grpSp>
      <p:grpSp>
        <p:nvGrpSpPr>
          <p:cNvPr id="26" name="组合 25"/>
          <p:cNvGrpSpPr/>
          <p:nvPr>
            <p:custDataLst>
              <p:tags r:id="rId14"/>
            </p:custDataLst>
          </p:nvPr>
        </p:nvGrpSpPr>
        <p:grpSpPr>
          <a:xfrm>
            <a:off x="5265875" y="3827456"/>
            <a:ext cx="5945915" cy="832868"/>
            <a:chOff x="5016493" y="3983320"/>
            <a:chExt cx="5945915" cy="832868"/>
          </a:xfrm>
        </p:grpSpPr>
        <p:grpSp>
          <p:nvGrpSpPr>
            <p:cNvPr id="16" name="组合 15"/>
            <p:cNvGrpSpPr/>
            <p:nvPr/>
          </p:nvGrpSpPr>
          <p:grpSpPr>
            <a:xfrm>
              <a:off x="5016493" y="3983320"/>
              <a:ext cx="1535677" cy="463915"/>
              <a:chOff x="5049981" y="1879080"/>
              <a:chExt cx="1535677" cy="463915"/>
            </a:xfrm>
          </p:grpSpPr>
          <p:sp>
            <p:nvSpPr>
              <p:cNvPr id="17" name="六边形 16"/>
              <p:cNvSpPr/>
              <p:nvPr>
                <p:custDataLst>
                  <p:tags r:id="rId15"/>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8" name="Rectangle 2"/>
              <p:cNvSpPr txBox="1">
                <a:spLocks noChangeArrowheads="1"/>
              </p:cNvSpPr>
              <p:nvPr>
                <p:custDataLst>
                  <p:tags r:id="rId16"/>
                </p:custDataLst>
              </p:nvPr>
            </p:nvSpPr>
            <p:spPr>
              <a:xfrm>
                <a:off x="5450554" y="1879080"/>
                <a:ext cx="979316"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特征三</a:t>
                </a:r>
                <a:endParaRPr lang="zh-CN" altLang="en-US" dirty="0">
                  <a:solidFill>
                    <a:schemeClr val="bg1"/>
                  </a:solidFill>
                  <a:latin typeface="+mn-lt"/>
                  <a:ea typeface="+mn-ea"/>
                  <a:cs typeface="+mn-ea"/>
                  <a:sym typeface="+mn-lt"/>
                </a:endParaRPr>
              </a:p>
            </p:txBody>
          </p:sp>
        </p:grpSp>
        <p:sp>
          <p:nvSpPr>
            <p:cNvPr id="19" name="矩形 18"/>
            <p:cNvSpPr/>
            <p:nvPr>
              <p:custDataLst>
                <p:tags r:id="rId17"/>
              </p:custDataLst>
            </p:nvPr>
          </p:nvSpPr>
          <p:spPr>
            <a:xfrm>
              <a:off x="5294763" y="4396073"/>
              <a:ext cx="5667645"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应有一定的组织机构和独立的财产，实行独立核算</a:t>
              </a:r>
              <a:endParaRPr lang="zh-CN" altLang="en-US" sz="1600" spc="300" dirty="0">
                <a:solidFill>
                  <a:schemeClr val="tx1">
                    <a:lumMod val="95000"/>
                    <a:lumOff val="5000"/>
                  </a:schemeClr>
                </a:solidFill>
                <a:cs typeface="+mn-ea"/>
                <a:sym typeface="+mn-lt"/>
              </a:endParaRPr>
            </a:p>
          </p:txBody>
        </p:sp>
      </p:grpSp>
      <p:grpSp>
        <p:nvGrpSpPr>
          <p:cNvPr id="27" name="组合 26"/>
          <p:cNvGrpSpPr/>
          <p:nvPr>
            <p:custDataLst>
              <p:tags r:id="rId18"/>
            </p:custDataLst>
          </p:nvPr>
        </p:nvGrpSpPr>
        <p:grpSpPr>
          <a:xfrm>
            <a:off x="5265875" y="4847063"/>
            <a:ext cx="5114643" cy="815967"/>
            <a:chOff x="5016493" y="5002927"/>
            <a:chExt cx="5114643" cy="815967"/>
          </a:xfrm>
        </p:grpSpPr>
        <p:grpSp>
          <p:nvGrpSpPr>
            <p:cNvPr id="20" name="组合 19"/>
            <p:cNvGrpSpPr/>
            <p:nvPr/>
          </p:nvGrpSpPr>
          <p:grpSpPr>
            <a:xfrm>
              <a:off x="5016493" y="5002927"/>
              <a:ext cx="1535677" cy="463915"/>
              <a:chOff x="5049981" y="1879080"/>
              <a:chExt cx="1535677" cy="463915"/>
            </a:xfrm>
          </p:grpSpPr>
          <p:sp>
            <p:nvSpPr>
              <p:cNvPr id="21" name="六边形 20"/>
              <p:cNvSpPr/>
              <p:nvPr>
                <p:custDataLst>
                  <p:tags r:id="rId19"/>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2" name="Rectangle 2"/>
              <p:cNvSpPr txBox="1">
                <a:spLocks noChangeArrowheads="1"/>
              </p:cNvSpPr>
              <p:nvPr>
                <p:custDataLst>
                  <p:tags r:id="rId20"/>
                </p:custDataLst>
              </p:nvPr>
            </p:nvSpPr>
            <p:spPr>
              <a:xfrm>
                <a:off x="5450554" y="1879080"/>
                <a:ext cx="979316"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特征四</a:t>
                </a:r>
                <a:endParaRPr lang="zh-CN" altLang="en-US" dirty="0">
                  <a:solidFill>
                    <a:schemeClr val="bg1"/>
                  </a:solidFill>
                  <a:latin typeface="+mn-lt"/>
                  <a:ea typeface="+mn-ea"/>
                  <a:cs typeface="+mn-ea"/>
                  <a:sym typeface="+mn-lt"/>
                </a:endParaRPr>
              </a:p>
            </p:txBody>
          </p:sp>
        </p:grpSp>
        <p:sp>
          <p:nvSpPr>
            <p:cNvPr id="23" name="矩形 22"/>
            <p:cNvSpPr/>
            <p:nvPr>
              <p:custDataLst>
                <p:tags r:id="rId21"/>
              </p:custDataLst>
            </p:nvPr>
          </p:nvSpPr>
          <p:spPr>
            <a:xfrm>
              <a:off x="5294763" y="5398779"/>
              <a:ext cx="4836373"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能独立承担民事责任</a:t>
              </a:r>
              <a:endParaRPr lang="zh-CN" altLang="en-US" sz="1600" spc="300" dirty="0">
                <a:solidFill>
                  <a:schemeClr val="tx1">
                    <a:lumMod val="95000"/>
                    <a:lumOff val="5000"/>
                  </a:schemeClr>
                </a:solidFill>
                <a:cs typeface="+mn-ea"/>
                <a:sym typeface="+mn-lt"/>
              </a:endParaRPr>
            </a:p>
          </p:txBody>
        </p:sp>
      </p:grpSp>
      <p:grpSp>
        <p:nvGrpSpPr>
          <p:cNvPr id="30" name="组合 29"/>
          <p:cNvGrpSpPr/>
          <p:nvPr/>
        </p:nvGrpSpPr>
        <p:grpSpPr>
          <a:xfrm>
            <a:off x="1843673" y="2351223"/>
            <a:ext cx="2798618" cy="3492751"/>
            <a:chOff x="1597296" y="2505629"/>
            <a:chExt cx="2798618" cy="3492751"/>
          </a:xfrm>
        </p:grpSpPr>
        <p:sp>
          <p:nvSpPr>
            <p:cNvPr id="4" name="Rectangle 2"/>
            <p:cNvSpPr txBox="1">
              <a:spLocks noChangeArrowheads="1"/>
            </p:cNvSpPr>
            <p:nvPr/>
          </p:nvSpPr>
          <p:spPr>
            <a:xfrm>
              <a:off x="1597296" y="2930874"/>
              <a:ext cx="2798618" cy="3067506"/>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mn-lt"/>
                  <a:ea typeface="+mn-ea"/>
                  <a:cs typeface="+mn-ea"/>
                  <a:sym typeface="+mn-lt"/>
                </a:rPr>
                <a:t>企业是从事生产、流通、服务等经济活动，为满足社会需要和获取盈利，依照法定程序成立的具有法人资格，进行自主经营，独立享受权利和承担义务的经济组织。</a:t>
              </a:r>
              <a:endParaRPr lang="zh-CN" altLang="en-US" dirty="0">
                <a:latin typeface="+mn-lt"/>
                <a:ea typeface="+mn-ea"/>
                <a:cs typeface="+mn-ea"/>
                <a:sym typeface="+mn-lt"/>
              </a:endParaRPr>
            </a:p>
            <a:p>
              <a:endParaRPr lang="zh-CN" altLang="en-US" dirty="0">
                <a:latin typeface="+mn-lt"/>
                <a:ea typeface="+mn-ea"/>
                <a:cs typeface="+mn-ea"/>
                <a:sym typeface="+mn-lt"/>
              </a:endParaRPr>
            </a:p>
          </p:txBody>
        </p:sp>
        <p:sp>
          <p:nvSpPr>
            <p:cNvPr id="8" name="Rectangle 3"/>
            <p:cNvSpPr txBox="1">
              <a:spLocks noChangeArrowheads="1"/>
            </p:cNvSpPr>
            <p:nvPr/>
          </p:nvSpPr>
          <p:spPr>
            <a:xfrm>
              <a:off x="2161465" y="2544089"/>
              <a:ext cx="1792556"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536482"/>
                  </a:solidFill>
                  <a:latin typeface="+mn-lt"/>
                  <a:ea typeface="+mn-ea"/>
                  <a:cs typeface="+mn-ea"/>
                  <a:sym typeface="+mn-lt"/>
                </a:rPr>
                <a:t>企业的概念</a:t>
              </a:r>
              <a:endParaRPr lang="zh-CN" altLang="en-US" b="1" dirty="0">
                <a:solidFill>
                  <a:srgbClr val="536482"/>
                </a:solidFill>
                <a:latin typeface="+mn-lt"/>
                <a:ea typeface="+mn-ea"/>
                <a:cs typeface="+mn-ea"/>
                <a:sym typeface="+mn-lt"/>
              </a:endParaRPr>
            </a:p>
          </p:txBody>
        </p:sp>
        <p:sp>
          <p:nvSpPr>
            <p:cNvPr id="28" name="矩形 27"/>
            <p:cNvSpPr/>
            <p:nvPr/>
          </p:nvSpPr>
          <p:spPr>
            <a:xfrm>
              <a:off x="2038468" y="2505629"/>
              <a:ext cx="1792557" cy="425245"/>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 name="组合 1"/>
          <p:cNvGrpSpPr/>
          <p:nvPr>
            <p:custDataLst>
              <p:tags r:id="rId22"/>
            </p:custDataLst>
          </p:nvPr>
        </p:nvGrpSpPr>
        <p:grpSpPr>
          <a:xfrm>
            <a:off x="5392875" y="2934849"/>
            <a:ext cx="6236860" cy="885402"/>
            <a:chOff x="5016493" y="2963713"/>
            <a:chExt cx="6236860" cy="885402"/>
          </a:xfrm>
        </p:grpSpPr>
        <p:grpSp>
          <p:nvGrpSpPr>
            <p:cNvPr id="6" name="组合 5"/>
            <p:cNvGrpSpPr/>
            <p:nvPr/>
          </p:nvGrpSpPr>
          <p:grpSpPr>
            <a:xfrm>
              <a:off x="5016493" y="2963713"/>
              <a:ext cx="1535677" cy="463915"/>
              <a:chOff x="5049981" y="1879080"/>
              <a:chExt cx="1535677" cy="463915"/>
            </a:xfrm>
          </p:grpSpPr>
          <p:sp>
            <p:nvSpPr>
              <p:cNvPr id="7" name="六边形 6"/>
              <p:cNvSpPr/>
              <p:nvPr>
                <p:custDataLst>
                  <p:tags r:id="rId23"/>
                </p:custDataLst>
              </p:nvPr>
            </p:nvSpPr>
            <p:spPr>
              <a:xfrm>
                <a:off x="5049981" y="1916466"/>
                <a:ext cx="1535677" cy="426529"/>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9" name="Rectangle 2"/>
              <p:cNvSpPr txBox="1">
                <a:spLocks noChangeArrowheads="1"/>
              </p:cNvSpPr>
              <p:nvPr>
                <p:custDataLst>
                  <p:tags r:id="rId24"/>
                </p:custDataLst>
              </p:nvPr>
            </p:nvSpPr>
            <p:spPr>
              <a:xfrm>
                <a:off x="5450554" y="1879080"/>
                <a:ext cx="979316"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特征二</a:t>
                </a:r>
                <a:endParaRPr lang="zh-CN" altLang="en-US" dirty="0">
                  <a:solidFill>
                    <a:schemeClr val="bg1"/>
                  </a:solidFill>
                  <a:latin typeface="+mn-lt"/>
                  <a:ea typeface="+mn-ea"/>
                  <a:cs typeface="+mn-ea"/>
                  <a:sym typeface="+mn-lt"/>
                </a:endParaRPr>
              </a:p>
            </p:txBody>
          </p:sp>
        </p:grpSp>
        <p:sp>
          <p:nvSpPr>
            <p:cNvPr id="40" name="矩形 39"/>
            <p:cNvSpPr/>
            <p:nvPr>
              <p:custDataLst>
                <p:tags r:id="rId25"/>
              </p:custDataLst>
            </p:nvPr>
          </p:nvSpPr>
          <p:spPr>
            <a:xfrm>
              <a:off x="5294764" y="3429000"/>
              <a:ext cx="5958589"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应有专门的名称、固定的工作地点和组织章程</a:t>
              </a:r>
              <a:endParaRPr lang="zh-CN" altLang="en-US" sz="1600" spc="300" dirty="0">
                <a:solidFill>
                  <a:schemeClr val="tx1">
                    <a:lumMod val="95000"/>
                    <a:lumOff val="5000"/>
                  </a:schemeClr>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down)">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randombar(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arn(inVertical)">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down)">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randombar(horizontal)">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arn(inVertical)">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screen">
            <a:extLst>
              <a:ext uri="{BEBA8EAE-BF5A-486C-A8C5-ECC9F3942E4B}">
                <a14:imgProps xmlns:a14="http://schemas.microsoft.com/office/drawing/2010/main">
                  <a14:imgLayer r:embed="rId2">
                    <a14:imgEffect>
                      <a14:colorTemperature colorTemp="7200"/>
                    </a14:imgEffect>
                    <a14:imgEffect>
                      <a14:saturation sat="66000"/>
                    </a14:imgEffect>
                  </a14:imgLayer>
                </a14:imgProps>
              </a:ext>
            </a:extLst>
          </a:blip>
          <a:srcRect/>
          <a:stretch>
            <a:fillRect/>
          </a:stretch>
        </p:blipFill>
        <p:spPr>
          <a:xfrm>
            <a:off x="882503" y="1807535"/>
            <a:ext cx="5092995" cy="3874237"/>
          </a:xfrm>
          <a:prstGeom prst="rect">
            <a:avLst/>
          </a:prstGeom>
        </p:spPr>
      </p:pic>
      <p:sp>
        <p:nvSpPr>
          <p:cNvPr id="3" name="矩形: 圆角 2"/>
          <p:cNvSpPr/>
          <p:nvPr/>
        </p:nvSpPr>
        <p:spPr>
          <a:xfrm>
            <a:off x="4781214" y="1704076"/>
            <a:ext cx="3354091" cy="4081154"/>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矩形: 圆角 3"/>
          <p:cNvSpPr/>
          <p:nvPr/>
        </p:nvSpPr>
        <p:spPr>
          <a:xfrm>
            <a:off x="7928511" y="1265274"/>
            <a:ext cx="3354091" cy="4844888"/>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7" name="组合 6"/>
          <p:cNvGrpSpPr/>
          <p:nvPr/>
        </p:nvGrpSpPr>
        <p:grpSpPr>
          <a:xfrm>
            <a:off x="4149199" y="1540135"/>
            <a:ext cx="2841226" cy="534800"/>
            <a:chOff x="4680827" y="2410419"/>
            <a:chExt cx="2841226" cy="534800"/>
          </a:xfrm>
        </p:grpSpPr>
        <p:sp>
          <p:nvSpPr>
            <p:cNvPr id="5" name="六边形 4"/>
            <p:cNvSpPr/>
            <p:nvPr/>
          </p:nvSpPr>
          <p:spPr>
            <a:xfrm>
              <a:off x="4680827" y="2410419"/>
              <a:ext cx="2687536" cy="534800"/>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6" name="Rectangle 2"/>
            <p:cNvSpPr txBox="1">
              <a:spLocks noChangeArrowheads="1"/>
            </p:cNvSpPr>
            <p:nvPr/>
          </p:nvSpPr>
          <p:spPr>
            <a:xfrm>
              <a:off x="5001174" y="2458432"/>
              <a:ext cx="2520879" cy="431080"/>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chemeClr val="bg1"/>
                  </a:solidFill>
                  <a:latin typeface="+mn-lt"/>
                  <a:ea typeface="+mn-ea"/>
                  <a:cs typeface="+mn-ea"/>
                  <a:sym typeface="+mn-lt"/>
                </a:rPr>
                <a:t>现代企业的特征</a:t>
              </a:r>
              <a:endParaRPr lang="zh-CN" altLang="en-US" sz="2000" dirty="0">
                <a:solidFill>
                  <a:schemeClr val="bg1"/>
                </a:solidFill>
                <a:latin typeface="+mn-lt"/>
                <a:ea typeface="+mn-ea"/>
                <a:cs typeface="+mn-ea"/>
                <a:sym typeface="+mn-lt"/>
              </a:endParaRPr>
            </a:p>
          </p:txBody>
        </p:sp>
      </p:grpSp>
      <p:sp>
        <p:nvSpPr>
          <p:cNvPr id="9" name="矩形 8"/>
          <p:cNvSpPr/>
          <p:nvPr/>
        </p:nvSpPr>
        <p:spPr>
          <a:xfrm>
            <a:off x="8585914" y="3527895"/>
            <a:ext cx="2246079" cy="157992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现代企业比较普遍地运用现代科学技术手段开展生产经营活动。</a:t>
            </a:r>
            <a:endParaRPr lang="zh-CN" altLang="en-US" sz="1600" spc="300" dirty="0">
              <a:solidFill>
                <a:schemeClr val="tx1">
                  <a:lumMod val="95000"/>
                  <a:lumOff val="5000"/>
                </a:schemeClr>
              </a:solidFill>
              <a:cs typeface="+mn-ea"/>
              <a:sym typeface="+mn-lt"/>
            </a:endParaRPr>
          </a:p>
        </p:txBody>
      </p:sp>
      <p:sp>
        <p:nvSpPr>
          <p:cNvPr id="10" name="矩形 9"/>
          <p:cNvSpPr/>
          <p:nvPr/>
        </p:nvSpPr>
        <p:spPr>
          <a:xfrm>
            <a:off x="5331321" y="3094658"/>
            <a:ext cx="2246079" cy="1951816"/>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现代企业内部分工协作的规模和细密程度极大地提高，劳动效率呈现逐步提高的态势。</a:t>
            </a:r>
            <a:endParaRPr lang="zh-CN" altLang="en-US" sz="1600" spc="300" dirty="0">
              <a:solidFill>
                <a:schemeClr val="tx1">
                  <a:lumMod val="95000"/>
                  <a:lumOff val="5000"/>
                </a:schemeClr>
              </a:solidFill>
              <a:cs typeface="+mn-ea"/>
              <a:sym typeface="+mn-lt"/>
            </a:endParaRPr>
          </a:p>
        </p:txBody>
      </p:sp>
      <p:grpSp>
        <p:nvGrpSpPr>
          <p:cNvPr id="15" name="组合 14"/>
          <p:cNvGrpSpPr/>
          <p:nvPr/>
        </p:nvGrpSpPr>
        <p:grpSpPr>
          <a:xfrm>
            <a:off x="4980445" y="2544424"/>
            <a:ext cx="2948066" cy="450603"/>
            <a:chOff x="4980445" y="2220951"/>
            <a:chExt cx="2948066" cy="450603"/>
          </a:xfrm>
        </p:grpSpPr>
        <p:sp>
          <p:nvSpPr>
            <p:cNvPr id="11" name="矩形 10"/>
            <p:cNvSpPr/>
            <p:nvPr/>
          </p:nvSpPr>
          <p:spPr>
            <a:xfrm>
              <a:off x="5063624" y="2220951"/>
              <a:ext cx="2864887"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现代企业的环境适应性。</a:t>
              </a:r>
              <a:endParaRPr lang="zh-CN" altLang="en-US" sz="1600" spc="300" dirty="0">
                <a:solidFill>
                  <a:schemeClr val="tx1">
                    <a:lumMod val="95000"/>
                    <a:lumOff val="5000"/>
                  </a:schemeClr>
                </a:solidFill>
                <a:cs typeface="+mn-ea"/>
                <a:sym typeface="+mn-lt"/>
              </a:endParaRPr>
            </a:p>
          </p:txBody>
        </p:sp>
        <p:sp>
          <p:nvSpPr>
            <p:cNvPr id="12" name="矩形 11"/>
            <p:cNvSpPr/>
            <p:nvPr/>
          </p:nvSpPr>
          <p:spPr>
            <a:xfrm>
              <a:off x="4980445" y="2246309"/>
              <a:ext cx="2779237" cy="425245"/>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4" name="组合 13"/>
          <p:cNvGrpSpPr/>
          <p:nvPr/>
        </p:nvGrpSpPr>
        <p:grpSpPr>
          <a:xfrm>
            <a:off x="8334536" y="2497749"/>
            <a:ext cx="2569801" cy="832356"/>
            <a:chOff x="8319335" y="1676364"/>
            <a:chExt cx="2569801" cy="832356"/>
          </a:xfrm>
        </p:grpSpPr>
        <p:sp>
          <p:nvSpPr>
            <p:cNvPr id="8" name="Text Box 13"/>
            <p:cNvSpPr txBox="1">
              <a:spLocks noChangeArrowheads="1"/>
            </p:cNvSpPr>
            <p:nvPr/>
          </p:nvSpPr>
          <p:spPr bwMode="auto">
            <a:xfrm>
              <a:off x="8446973" y="1676364"/>
              <a:ext cx="2346399" cy="791050"/>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latin typeface="+mn-lt"/>
                  <a:ea typeface="+mn-ea"/>
                  <a:cs typeface="+mn-ea"/>
                  <a:sym typeface="+mn-lt"/>
                </a:rPr>
                <a:t>现代企业经营活动的经济性和盈利性。</a:t>
              </a:r>
              <a:endParaRPr lang="zh-CN" altLang="en-US" dirty="0">
                <a:latin typeface="+mn-lt"/>
                <a:ea typeface="+mn-ea"/>
                <a:cs typeface="+mn-ea"/>
                <a:sym typeface="+mn-lt"/>
              </a:endParaRPr>
            </a:p>
          </p:txBody>
        </p:sp>
        <p:sp>
          <p:nvSpPr>
            <p:cNvPr id="13" name="矩形 12"/>
            <p:cNvSpPr/>
            <p:nvPr/>
          </p:nvSpPr>
          <p:spPr>
            <a:xfrm>
              <a:off x="8319335" y="1704076"/>
              <a:ext cx="2569801" cy="804644"/>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893950" y="3731160"/>
            <a:ext cx="10647489" cy="3986045"/>
            <a:chOff x="145701" y="4173883"/>
            <a:chExt cx="9793013" cy="3666159"/>
          </a:xfrm>
        </p:grpSpPr>
        <p:pic>
          <p:nvPicPr>
            <p:cNvPr id="24" name="图片 23"/>
            <p:cNvPicPr>
              <a:picLocks noChangeAspect="1"/>
            </p:cNvPicPr>
            <p:nvPr/>
          </p:nvPicPr>
          <p:blipFill>
            <a:blip r:embed="rId1" cstate="screen"/>
            <a:stretch>
              <a:fillRect/>
            </a:stretch>
          </p:blipFill>
          <p:spPr>
            <a:xfrm>
              <a:off x="329613" y="4454433"/>
              <a:ext cx="681514" cy="2426189"/>
            </a:xfrm>
            <a:prstGeom prst="rect">
              <a:avLst/>
            </a:prstGeom>
          </p:spPr>
        </p:pic>
        <p:pic>
          <p:nvPicPr>
            <p:cNvPr id="25" name="图片 24"/>
            <p:cNvPicPr>
              <a:picLocks noChangeAspect="1"/>
            </p:cNvPicPr>
            <p:nvPr/>
          </p:nvPicPr>
          <p:blipFill>
            <a:blip r:embed="rId2" cstate="screen"/>
            <a:stretch>
              <a:fillRect/>
            </a:stretch>
          </p:blipFill>
          <p:spPr>
            <a:xfrm>
              <a:off x="145701" y="5303520"/>
              <a:ext cx="349913" cy="1554480"/>
            </a:xfrm>
            <a:prstGeom prst="rect">
              <a:avLst/>
            </a:prstGeom>
          </p:spPr>
        </p:pic>
        <p:pic>
          <p:nvPicPr>
            <p:cNvPr id="26" name="图片 25"/>
            <p:cNvPicPr>
              <a:picLocks noChangeAspect="1"/>
            </p:cNvPicPr>
            <p:nvPr/>
          </p:nvPicPr>
          <p:blipFill>
            <a:blip r:embed="rId3" cstate="screen"/>
            <a:stretch>
              <a:fillRect/>
            </a:stretch>
          </p:blipFill>
          <p:spPr>
            <a:xfrm>
              <a:off x="1306037" y="4797571"/>
              <a:ext cx="523156" cy="2060429"/>
            </a:xfrm>
            <a:prstGeom prst="rect">
              <a:avLst/>
            </a:prstGeom>
          </p:spPr>
        </p:pic>
        <p:pic>
          <p:nvPicPr>
            <p:cNvPr id="27" name="图片 26"/>
            <p:cNvPicPr>
              <a:picLocks noChangeAspect="1"/>
            </p:cNvPicPr>
            <p:nvPr/>
          </p:nvPicPr>
          <p:blipFill>
            <a:blip r:embed="rId4" cstate="screen"/>
            <a:stretch>
              <a:fillRect/>
            </a:stretch>
          </p:blipFill>
          <p:spPr>
            <a:xfrm>
              <a:off x="2124104" y="5812970"/>
              <a:ext cx="235236" cy="1045029"/>
            </a:xfrm>
            <a:prstGeom prst="rect">
              <a:avLst/>
            </a:prstGeom>
          </p:spPr>
        </p:pic>
        <p:pic>
          <p:nvPicPr>
            <p:cNvPr id="28" name="图片 27"/>
            <p:cNvPicPr>
              <a:picLocks noChangeAspect="1"/>
            </p:cNvPicPr>
            <p:nvPr/>
          </p:nvPicPr>
          <p:blipFill>
            <a:blip r:embed="rId5" cstate="screen"/>
            <a:stretch>
              <a:fillRect/>
            </a:stretch>
          </p:blipFill>
          <p:spPr>
            <a:xfrm>
              <a:off x="2465023" y="4557474"/>
              <a:ext cx="523155" cy="2324101"/>
            </a:xfrm>
            <a:prstGeom prst="rect">
              <a:avLst/>
            </a:prstGeom>
          </p:spPr>
        </p:pic>
        <p:pic>
          <p:nvPicPr>
            <p:cNvPr id="29" name="图片 28"/>
            <p:cNvPicPr>
              <a:picLocks noChangeAspect="1"/>
            </p:cNvPicPr>
            <p:nvPr/>
          </p:nvPicPr>
          <p:blipFill>
            <a:blip r:embed="rId3" cstate="screen"/>
            <a:stretch>
              <a:fillRect/>
            </a:stretch>
          </p:blipFill>
          <p:spPr>
            <a:xfrm>
              <a:off x="3255264" y="4173883"/>
              <a:ext cx="681514" cy="2684116"/>
            </a:xfrm>
            <a:prstGeom prst="rect">
              <a:avLst/>
            </a:prstGeom>
          </p:spPr>
        </p:pic>
        <p:pic>
          <p:nvPicPr>
            <p:cNvPr id="30" name="图片 29"/>
            <p:cNvPicPr>
              <a:picLocks noChangeAspect="1"/>
            </p:cNvPicPr>
            <p:nvPr/>
          </p:nvPicPr>
          <p:blipFill>
            <a:blip r:embed="rId5" cstate="screen"/>
            <a:stretch>
              <a:fillRect/>
            </a:stretch>
          </p:blipFill>
          <p:spPr>
            <a:xfrm>
              <a:off x="4080322" y="5515941"/>
              <a:ext cx="523155" cy="2324101"/>
            </a:xfrm>
            <a:prstGeom prst="rect">
              <a:avLst/>
            </a:prstGeom>
          </p:spPr>
        </p:pic>
        <p:pic>
          <p:nvPicPr>
            <p:cNvPr id="31" name="图片 30"/>
            <p:cNvPicPr>
              <a:picLocks noChangeAspect="1"/>
            </p:cNvPicPr>
            <p:nvPr/>
          </p:nvPicPr>
          <p:blipFill>
            <a:blip r:embed="rId3"/>
            <a:stretch>
              <a:fillRect/>
            </a:stretch>
          </p:blipFill>
          <p:spPr>
            <a:xfrm>
              <a:off x="4603477" y="4425404"/>
              <a:ext cx="816077" cy="3214087"/>
            </a:xfrm>
            <a:prstGeom prst="rect">
              <a:avLst/>
            </a:prstGeom>
          </p:spPr>
        </p:pic>
        <p:pic>
          <p:nvPicPr>
            <p:cNvPr id="32" name="图片 31"/>
            <p:cNvPicPr>
              <a:picLocks noChangeAspect="1"/>
            </p:cNvPicPr>
            <p:nvPr/>
          </p:nvPicPr>
          <p:blipFill>
            <a:blip r:embed="rId6" cstate="screen"/>
            <a:stretch>
              <a:fillRect/>
            </a:stretch>
          </p:blipFill>
          <p:spPr>
            <a:xfrm>
              <a:off x="5252314" y="5303520"/>
              <a:ext cx="443307" cy="1578173"/>
            </a:xfrm>
            <a:prstGeom prst="rect">
              <a:avLst/>
            </a:prstGeom>
          </p:spPr>
        </p:pic>
        <p:pic>
          <p:nvPicPr>
            <p:cNvPr id="33" name="图片 32"/>
            <p:cNvPicPr>
              <a:picLocks noChangeAspect="1"/>
            </p:cNvPicPr>
            <p:nvPr/>
          </p:nvPicPr>
          <p:blipFill>
            <a:blip r:embed="rId1" cstate="screen"/>
            <a:stretch>
              <a:fillRect/>
            </a:stretch>
          </p:blipFill>
          <p:spPr>
            <a:xfrm>
              <a:off x="8443949" y="4395407"/>
              <a:ext cx="687984" cy="2449223"/>
            </a:xfrm>
            <a:prstGeom prst="rect">
              <a:avLst/>
            </a:prstGeom>
          </p:spPr>
        </p:pic>
        <p:pic>
          <p:nvPicPr>
            <p:cNvPr id="34" name="图片 33"/>
            <p:cNvPicPr>
              <a:picLocks noChangeAspect="1"/>
            </p:cNvPicPr>
            <p:nvPr/>
          </p:nvPicPr>
          <p:blipFill>
            <a:blip r:embed="rId3" cstate="screen"/>
            <a:stretch>
              <a:fillRect/>
            </a:stretch>
          </p:blipFill>
          <p:spPr>
            <a:xfrm>
              <a:off x="5873541" y="4784202"/>
              <a:ext cx="523156" cy="2060429"/>
            </a:xfrm>
            <a:prstGeom prst="rect">
              <a:avLst/>
            </a:prstGeom>
          </p:spPr>
        </p:pic>
        <p:pic>
          <p:nvPicPr>
            <p:cNvPr id="35" name="图片 34"/>
            <p:cNvPicPr>
              <a:picLocks noChangeAspect="1"/>
            </p:cNvPicPr>
            <p:nvPr/>
          </p:nvPicPr>
          <p:blipFill>
            <a:blip r:embed="rId4" cstate="screen"/>
            <a:stretch>
              <a:fillRect/>
            </a:stretch>
          </p:blipFill>
          <p:spPr>
            <a:xfrm>
              <a:off x="6691608" y="5799601"/>
              <a:ext cx="235236" cy="1045029"/>
            </a:xfrm>
            <a:prstGeom prst="rect">
              <a:avLst/>
            </a:prstGeom>
          </p:spPr>
        </p:pic>
        <p:pic>
          <p:nvPicPr>
            <p:cNvPr id="36" name="图片 35"/>
            <p:cNvPicPr>
              <a:picLocks noChangeAspect="1"/>
            </p:cNvPicPr>
            <p:nvPr/>
          </p:nvPicPr>
          <p:blipFill>
            <a:blip r:embed="rId5" cstate="screen"/>
            <a:stretch>
              <a:fillRect/>
            </a:stretch>
          </p:blipFill>
          <p:spPr>
            <a:xfrm>
              <a:off x="7061171" y="4537314"/>
              <a:ext cx="523155" cy="2324101"/>
            </a:xfrm>
            <a:prstGeom prst="rect">
              <a:avLst/>
            </a:prstGeom>
          </p:spPr>
        </p:pic>
        <p:pic>
          <p:nvPicPr>
            <p:cNvPr id="37" name="图片 36"/>
            <p:cNvPicPr>
              <a:picLocks noChangeAspect="1"/>
            </p:cNvPicPr>
            <p:nvPr/>
          </p:nvPicPr>
          <p:blipFill>
            <a:blip r:embed="rId2" cstate="screen"/>
            <a:stretch>
              <a:fillRect/>
            </a:stretch>
          </p:blipFill>
          <p:spPr>
            <a:xfrm>
              <a:off x="8255222" y="5326143"/>
              <a:ext cx="349913" cy="1554480"/>
            </a:xfrm>
            <a:prstGeom prst="rect">
              <a:avLst/>
            </a:prstGeom>
          </p:spPr>
        </p:pic>
        <p:pic>
          <p:nvPicPr>
            <p:cNvPr id="38" name="图片 37"/>
            <p:cNvPicPr>
              <a:picLocks noChangeAspect="1"/>
            </p:cNvPicPr>
            <p:nvPr/>
          </p:nvPicPr>
          <p:blipFill>
            <a:blip r:embed="rId3" cstate="screen"/>
            <a:stretch>
              <a:fillRect/>
            </a:stretch>
          </p:blipFill>
          <p:spPr>
            <a:xfrm>
              <a:off x="9415558" y="4820194"/>
              <a:ext cx="523156" cy="2060429"/>
            </a:xfrm>
            <a:prstGeom prst="rect">
              <a:avLst/>
            </a:prstGeom>
          </p:spPr>
        </p:pic>
        <p:pic>
          <p:nvPicPr>
            <p:cNvPr id="39" name="图片 38"/>
            <p:cNvPicPr>
              <a:picLocks noChangeAspect="1"/>
            </p:cNvPicPr>
            <p:nvPr/>
          </p:nvPicPr>
          <p:blipFill>
            <a:blip r:embed="rId3" cstate="screen"/>
            <a:stretch>
              <a:fillRect/>
            </a:stretch>
          </p:blipFill>
          <p:spPr>
            <a:xfrm>
              <a:off x="7824652" y="5737939"/>
              <a:ext cx="523156" cy="2060429"/>
            </a:xfrm>
            <a:prstGeom prst="rect">
              <a:avLst/>
            </a:prstGeom>
          </p:spPr>
        </p:pic>
      </p:grpSp>
      <p:pic>
        <p:nvPicPr>
          <p:cNvPr id="14" name="图片 13"/>
          <p:cNvPicPr>
            <a:picLocks noChangeAspect="1"/>
          </p:cNvPicPr>
          <p:nvPr/>
        </p:nvPicPr>
        <p:blipFill rotWithShape="1">
          <a:blip r:embed="rId7" cstate="screen">
            <a:extLst>
              <a:ext uri="{BEBA8EAE-BF5A-486C-A8C5-ECC9F3942E4B}">
                <a14:imgProps xmlns:a14="http://schemas.microsoft.com/office/drawing/2010/main">
                  <a14:imgLayer r:embed="rId8">
                    <a14:imgEffect>
                      <a14:colorTemperature colorTemp="7200"/>
                    </a14:imgEffect>
                    <a14:imgEffect>
                      <a14:saturation sat="66000"/>
                    </a14:imgEffect>
                  </a14:imgLayer>
                </a14:imgProps>
              </a:ext>
            </a:extLst>
          </a:blip>
          <a:srcRect/>
          <a:stretch>
            <a:fillRect/>
          </a:stretch>
        </p:blipFill>
        <p:spPr>
          <a:xfrm>
            <a:off x="0" y="2211287"/>
            <a:ext cx="12192000" cy="2225173"/>
          </a:xfrm>
          <a:prstGeom prst="rect">
            <a:avLst/>
          </a:prstGeom>
        </p:spPr>
      </p:pic>
      <p:sp>
        <p:nvSpPr>
          <p:cNvPr id="5" name="矩形: 圆角 4"/>
          <p:cNvSpPr/>
          <p:nvPr/>
        </p:nvSpPr>
        <p:spPr>
          <a:xfrm>
            <a:off x="4318257" y="2863767"/>
            <a:ext cx="2217703" cy="2527199"/>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3" name="组合 12"/>
          <p:cNvGrpSpPr/>
          <p:nvPr/>
        </p:nvGrpSpPr>
        <p:grpSpPr>
          <a:xfrm>
            <a:off x="7293935" y="1248295"/>
            <a:ext cx="3169462" cy="4646314"/>
            <a:chOff x="4591232" y="1381975"/>
            <a:chExt cx="3169462" cy="4646314"/>
          </a:xfrm>
        </p:grpSpPr>
        <p:grpSp>
          <p:nvGrpSpPr>
            <p:cNvPr id="9" name="组合 8"/>
            <p:cNvGrpSpPr/>
            <p:nvPr/>
          </p:nvGrpSpPr>
          <p:grpSpPr>
            <a:xfrm>
              <a:off x="4591232" y="1381975"/>
              <a:ext cx="3169462" cy="4646314"/>
              <a:chOff x="4670244" y="1706757"/>
              <a:chExt cx="2851511" cy="4180210"/>
            </a:xfrm>
          </p:grpSpPr>
          <p:pic>
            <p:nvPicPr>
              <p:cNvPr id="10" name="Picture 2"/>
              <p:cNvPicPr>
                <a:picLocks noChangeAspect="1" noChangeArrowheads="1"/>
              </p:cNvPicPr>
              <p:nvPr/>
            </p:nvPicPr>
            <p:blipFill>
              <a:blip r:embed="rId9" cstate="email"/>
              <a:srcRect/>
              <a:stretch>
                <a:fillRect/>
              </a:stretch>
            </p:blipFill>
            <p:spPr bwMode="auto">
              <a:xfrm>
                <a:off x="4670244" y="1706757"/>
                <a:ext cx="2851511" cy="418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4815274" y="2036224"/>
                <a:ext cx="2552477" cy="3397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 name="Text Box 6"/>
            <p:cNvSpPr txBox="1">
              <a:spLocks noChangeArrowheads="1"/>
            </p:cNvSpPr>
            <p:nvPr/>
          </p:nvSpPr>
          <p:spPr bwMode="auto">
            <a:xfrm>
              <a:off x="4896239" y="2122151"/>
              <a:ext cx="2549472" cy="3067506"/>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solidFill>
                    <a:schemeClr val="tx1"/>
                  </a:solidFill>
                  <a:latin typeface="+mn-lt"/>
                  <a:ea typeface="+mn-ea"/>
                  <a:cs typeface="+mn-ea"/>
                  <a:sym typeface="+mn-lt"/>
                </a:rPr>
                <a:t>管理是为了实现一定的目标，所采取的最有效、最经济的行动，是对行动的计划、组织和控制。管理的实质是协调</a:t>
              </a:r>
              <a:r>
                <a:rPr lang="en-US" altLang="zh-CN" dirty="0">
                  <a:solidFill>
                    <a:schemeClr val="tx1"/>
                  </a:solidFill>
                  <a:latin typeface="+mn-lt"/>
                  <a:ea typeface="+mn-ea"/>
                  <a:cs typeface="+mn-ea"/>
                  <a:sym typeface="+mn-lt"/>
                </a:rPr>
                <a:t>,</a:t>
              </a:r>
              <a:r>
                <a:rPr lang="zh-CN" altLang="en-US" dirty="0">
                  <a:solidFill>
                    <a:schemeClr val="tx1"/>
                  </a:solidFill>
                  <a:latin typeface="+mn-lt"/>
                  <a:ea typeface="+mn-ea"/>
                  <a:cs typeface="+mn-ea"/>
                  <a:sym typeface="+mn-lt"/>
                </a:rPr>
                <a:t>在于围绕共同目标</a:t>
              </a:r>
              <a:r>
                <a:rPr lang="en-US" altLang="zh-CN" dirty="0">
                  <a:solidFill>
                    <a:schemeClr val="tx1"/>
                  </a:solidFill>
                  <a:latin typeface="+mn-lt"/>
                  <a:ea typeface="+mn-ea"/>
                  <a:cs typeface="+mn-ea"/>
                  <a:sym typeface="+mn-lt"/>
                </a:rPr>
                <a:t>,</a:t>
              </a:r>
              <a:r>
                <a:rPr lang="zh-CN" altLang="en-US" dirty="0">
                  <a:solidFill>
                    <a:schemeClr val="tx1"/>
                  </a:solidFill>
                  <a:latin typeface="+mn-lt"/>
                  <a:ea typeface="+mn-ea"/>
                  <a:cs typeface="+mn-ea"/>
                  <a:sym typeface="+mn-lt"/>
                </a:rPr>
                <a:t>解决矛盾</a:t>
              </a:r>
              <a:r>
                <a:rPr lang="en-US" altLang="zh-CN" dirty="0">
                  <a:solidFill>
                    <a:schemeClr val="tx1"/>
                  </a:solidFill>
                  <a:latin typeface="+mn-lt"/>
                  <a:ea typeface="+mn-ea"/>
                  <a:cs typeface="+mn-ea"/>
                  <a:sym typeface="+mn-lt"/>
                </a:rPr>
                <a:t>,</a:t>
              </a:r>
              <a:r>
                <a:rPr lang="zh-CN" altLang="en-US" dirty="0">
                  <a:solidFill>
                    <a:schemeClr val="tx1"/>
                  </a:solidFill>
                  <a:latin typeface="+mn-lt"/>
                  <a:ea typeface="+mn-ea"/>
                  <a:cs typeface="+mn-ea"/>
                  <a:sym typeface="+mn-lt"/>
                </a:rPr>
                <a:t>协调力量</a:t>
              </a:r>
              <a:r>
                <a:rPr lang="en-US" altLang="zh-CN" dirty="0">
                  <a:solidFill>
                    <a:schemeClr val="tx1"/>
                  </a:solidFill>
                  <a:latin typeface="+mn-lt"/>
                  <a:ea typeface="+mn-ea"/>
                  <a:cs typeface="+mn-ea"/>
                  <a:sym typeface="+mn-lt"/>
                </a:rPr>
                <a:t>,</a:t>
              </a:r>
              <a:r>
                <a:rPr lang="zh-CN" altLang="en-US" dirty="0">
                  <a:solidFill>
                    <a:schemeClr val="tx1"/>
                  </a:solidFill>
                  <a:latin typeface="+mn-lt"/>
                  <a:ea typeface="+mn-ea"/>
                  <a:cs typeface="+mn-ea"/>
                  <a:sym typeface="+mn-lt"/>
                </a:rPr>
                <a:t>形成一致。    </a:t>
              </a:r>
              <a:endParaRPr lang="zh-CN" altLang="en-US" dirty="0">
                <a:solidFill>
                  <a:schemeClr val="tx1"/>
                </a:solidFill>
                <a:latin typeface="+mn-lt"/>
                <a:ea typeface="+mn-ea"/>
                <a:cs typeface="+mn-ea"/>
                <a:sym typeface="+mn-lt"/>
              </a:endParaRPr>
            </a:p>
          </p:txBody>
        </p:sp>
      </p:grpSp>
      <p:sp>
        <p:nvSpPr>
          <p:cNvPr id="15" name="矩形: 圆角 14"/>
          <p:cNvSpPr/>
          <p:nvPr/>
        </p:nvSpPr>
        <p:spPr>
          <a:xfrm>
            <a:off x="1480802" y="2863766"/>
            <a:ext cx="2217703" cy="2527199"/>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矩形 15"/>
          <p:cNvSpPr/>
          <p:nvPr/>
        </p:nvSpPr>
        <p:spPr>
          <a:xfrm>
            <a:off x="1899779" y="3880038"/>
            <a:ext cx="1581175" cy="792012"/>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管理是一种组织活动</a:t>
            </a:r>
            <a:endParaRPr lang="zh-CN" altLang="en-US" sz="1600" spc="300" dirty="0">
              <a:solidFill>
                <a:schemeClr val="tx1">
                  <a:lumMod val="95000"/>
                  <a:lumOff val="5000"/>
                </a:schemeClr>
              </a:solidFill>
              <a:cs typeface="+mn-ea"/>
              <a:sym typeface="+mn-lt"/>
            </a:endParaRPr>
          </a:p>
        </p:txBody>
      </p:sp>
      <p:sp>
        <p:nvSpPr>
          <p:cNvPr id="17" name="矩形 16"/>
          <p:cNvSpPr/>
          <p:nvPr/>
        </p:nvSpPr>
        <p:spPr>
          <a:xfrm>
            <a:off x="4705632" y="3880038"/>
            <a:ext cx="1581175" cy="792012"/>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管理≠命令≠权利</a:t>
            </a:r>
            <a:endParaRPr lang="zh-CN" altLang="en-US" sz="1600" spc="300" dirty="0">
              <a:solidFill>
                <a:schemeClr val="tx1">
                  <a:lumMod val="95000"/>
                  <a:lumOff val="5000"/>
                </a:schemeClr>
              </a:solidFill>
              <a:cs typeface="+mn-ea"/>
              <a:sym typeface="+mn-lt"/>
            </a:endParaRPr>
          </a:p>
        </p:txBody>
      </p:sp>
      <p:grpSp>
        <p:nvGrpSpPr>
          <p:cNvPr id="18" name="组合 17"/>
          <p:cNvGrpSpPr/>
          <p:nvPr/>
        </p:nvGrpSpPr>
        <p:grpSpPr>
          <a:xfrm>
            <a:off x="2585882" y="3056473"/>
            <a:ext cx="2841226" cy="534800"/>
            <a:chOff x="4680827" y="2410419"/>
            <a:chExt cx="2841226" cy="534800"/>
          </a:xfrm>
        </p:grpSpPr>
        <p:sp>
          <p:nvSpPr>
            <p:cNvPr id="19" name="六边形 18"/>
            <p:cNvSpPr/>
            <p:nvPr/>
          </p:nvSpPr>
          <p:spPr>
            <a:xfrm>
              <a:off x="4680827" y="2410419"/>
              <a:ext cx="2687536" cy="534800"/>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0" name="Rectangle 2"/>
            <p:cNvSpPr txBox="1">
              <a:spLocks noChangeArrowheads="1"/>
            </p:cNvSpPr>
            <p:nvPr/>
          </p:nvSpPr>
          <p:spPr>
            <a:xfrm>
              <a:off x="5001174" y="2458432"/>
              <a:ext cx="2520879" cy="431080"/>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chemeClr val="bg1"/>
                  </a:solidFill>
                  <a:latin typeface="+mn-lt"/>
                  <a:ea typeface="+mn-ea"/>
                  <a:cs typeface="+mn-ea"/>
                  <a:sym typeface="+mn-lt"/>
                </a:rPr>
                <a:t>现代企业的特征</a:t>
              </a:r>
              <a:endParaRPr lang="zh-CN" altLang="en-US" sz="2000" dirty="0">
                <a:solidFill>
                  <a:schemeClr val="bg1"/>
                </a:solidFill>
                <a:latin typeface="+mn-lt"/>
                <a:ea typeface="+mn-ea"/>
                <a:cs typeface="+mn-ea"/>
                <a:sym typeface="+mn-lt"/>
              </a:endParaRPr>
            </a:p>
          </p:txBody>
        </p:sp>
      </p:grpSp>
      <p:sp>
        <p:nvSpPr>
          <p:cNvPr id="21" name="矩形 20"/>
          <p:cNvSpPr/>
          <p:nvPr/>
        </p:nvSpPr>
        <p:spPr>
          <a:xfrm>
            <a:off x="1845794" y="3855903"/>
            <a:ext cx="1581175" cy="896850"/>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矩形 21"/>
          <p:cNvSpPr/>
          <p:nvPr/>
        </p:nvSpPr>
        <p:spPr>
          <a:xfrm>
            <a:off x="4636520" y="3829876"/>
            <a:ext cx="1581175" cy="896850"/>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randombar(horizontal)">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6" grpId="0"/>
      <p:bldP spid="17" grpId="0"/>
      <p:bldP spid="21" grpId="0" animBg="1"/>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6376555" y="2661285"/>
            <a:ext cx="4702625" cy="1804880"/>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2"/>
          <p:cNvSpPr/>
          <p:nvPr/>
        </p:nvSpPr>
        <p:spPr>
          <a:xfrm>
            <a:off x="6705822" y="3043893"/>
            <a:ext cx="4173460" cy="1208023"/>
          </a:xfrm>
          <a:prstGeom prst="rect">
            <a:avLst/>
          </a:prstGeom>
        </p:spPr>
        <p:txBody>
          <a:bodyPr wrap="square">
            <a:spAutoFit/>
          </a:bodyPr>
          <a:lstStyle/>
          <a:p>
            <a:pPr algn="just">
              <a:lnSpc>
                <a:spcPts val="2900"/>
              </a:lnSpc>
              <a:buClr>
                <a:srgbClr val="000066"/>
              </a:buClr>
            </a:pPr>
            <a:r>
              <a:rPr lang="en-US" altLang="zh-CN" sz="1600" spc="300" dirty="0">
                <a:cs typeface="+mn-ea"/>
                <a:sym typeface="+mn-lt"/>
              </a:rPr>
              <a:t>1.</a:t>
            </a:r>
            <a:r>
              <a:rPr lang="zh-CN" altLang="en-US" sz="1600" spc="300" dirty="0">
                <a:cs typeface="+mn-ea"/>
                <a:sym typeface="+mn-lt"/>
              </a:rPr>
              <a:t>管理的社会属性体现在管理作为一种社会活动，它只能在一定的社会历史条件下和一定的社会关系中进行。</a:t>
            </a:r>
            <a:endParaRPr lang="zh-CN" altLang="en-US" sz="1600" spc="300" dirty="0">
              <a:cs typeface="+mn-ea"/>
              <a:sym typeface="+mn-lt"/>
            </a:endParaRPr>
          </a:p>
        </p:txBody>
      </p:sp>
      <p:sp>
        <p:nvSpPr>
          <p:cNvPr id="6" name="矩形: 圆角 5"/>
          <p:cNvSpPr/>
          <p:nvPr/>
        </p:nvSpPr>
        <p:spPr>
          <a:xfrm>
            <a:off x="6376554" y="4333009"/>
            <a:ext cx="4702625" cy="1380064"/>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矩形 3"/>
          <p:cNvSpPr/>
          <p:nvPr/>
        </p:nvSpPr>
        <p:spPr>
          <a:xfrm>
            <a:off x="6705822" y="4622028"/>
            <a:ext cx="4173460" cy="792012"/>
          </a:xfrm>
          <a:prstGeom prst="rect">
            <a:avLst/>
          </a:prstGeom>
        </p:spPr>
        <p:txBody>
          <a:bodyPr wrap="square">
            <a:spAutoFit/>
          </a:bodyPr>
          <a:lstStyle/>
          <a:p>
            <a:pPr algn="just">
              <a:lnSpc>
                <a:spcPts val="2900"/>
              </a:lnSpc>
              <a:buClr>
                <a:srgbClr val="000066"/>
              </a:buClr>
            </a:pPr>
            <a:r>
              <a:rPr lang="en-US" altLang="zh-CN" sz="1600" spc="300" dirty="0">
                <a:cs typeface="+mn-ea"/>
                <a:sym typeface="+mn-lt"/>
              </a:rPr>
              <a:t>2.</a:t>
            </a:r>
            <a:r>
              <a:rPr lang="zh-CN" altLang="en-US" sz="1600" spc="300" dirty="0">
                <a:cs typeface="+mn-ea"/>
                <a:sym typeface="+mn-lt"/>
              </a:rPr>
              <a:t>管理具有维护和巩固生产关系，实现特定生产目的的功能。</a:t>
            </a:r>
            <a:endParaRPr lang="zh-CN" altLang="en-US" sz="1600" spc="300" dirty="0">
              <a:cs typeface="+mn-ea"/>
              <a:sym typeface="+mn-lt"/>
            </a:endParaRPr>
          </a:p>
        </p:txBody>
      </p:sp>
      <p:grpSp>
        <p:nvGrpSpPr>
          <p:cNvPr id="7" name="组合 6"/>
          <p:cNvGrpSpPr/>
          <p:nvPr/>
        </p:nvGrpSpPr>
        <p:grpSpPr>
          <a:xfrm>
            <a:off x="6127173" y="2479174"/>
            <a:ext cx="2203247" cy="486787"/>
            <a:chOff x="4680827" y="2458431"/>
            <a:chExt cx="2203247" cy="486787"/>
          </a:xfrm>
        </p:grpSpPr>
        <p:sp>
          <p:nvSpPr>
            <p:cNvPr id="8" name="六边形 7"/>
            <p:cNvSpPr/>
            <p:nvPr/>
          </p:nvSpPr>
          <p:spPr>
            <a:xfrm>
              <a:off x="4680827" y="2506443"/>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9" name="Rectangle 2"/>
            <p:cNvSpPr txBox="1">
              <a:spLocks noChangeArrowheads="1"/>
            </p:cNvSpPr>
            <p:nvPr/>
          </p:nvSpPr>
          <p:spPr>
            <a:xfrm>
              <a:off x="4870580" y="2458431"/>
              <a:ext cx="1888804"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管理的社会属性</a:t>
              </a:r>
              <a:endParaRPr lang="zh-CN" altLang="en-US" dirty="0">
                <a:solidFill>
                  <a:schemeClr val="bg1"/>
                </a:solidFill>
                <a:latin typeface="+mn-lt"/>
                <a:ea typeface="+mn-ea"/>
                <a:cs typeface="+mn-ea"/>
                <a:sym typeface="+mn-lt"/>
              </a:endParaRPr>
            </a:p>
          </p:txBody>
        </p:sp>
      </p:grpSp>
      <p:grpSp>
        <p:nvGrpSpPr>
          <p:cNvPr id="15" name="组合 14"/>
          <p:cNvGrpSpPr/>
          <p:nvPr/>
        </p:nvGrpSpPr>
        <p:grpSpPr>
          <a:xfrm>
            <a:off x="866159" y="2479174"/>
            <a:ext cx="4952007" cy="3233899"/>
            <a:chOff x="894613" y="2541519"/>
            <a:chExt cx="4952007" cy="3233899"/>
          </a:xfrm>
        </p:grpSpPr>
        <p:sp>
          <p:nvSpPr>
            <p:cNvPr id="10" name="矩形: 圆角 9"/>
            <p:cNvSpPr/>
            <p:nvPr/>
          </p:nvSpPr>
          <p:spPr>
            <a:xfrm>
              <a:off x="1143995" y="2723630"/>
              <a:ext cx="4702625" cy="1804880"/>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圆角 10"/>
            <p:cNvSpPr/>
            <p:nvPr/>
          </p:nvSpPr>
          <p:spPr>
            <a:xfrm>
              <a:off x="1143994" y="4395354"/>
              <a:ext cx="4702625" cy="1380064"/>
            </a:xfrm>
            <a:prstGeom prst="roundRect">
              <a:avLst>
                <a:gd name="adj" fmla="val 840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2" name="组合 11"/>
            <p:cNvGrpSpPr/>
            <p:nvPr/>
          </p:nvGrpSpPr>
          <p:grpSpPr>
            <a:xfrm>
              <a:off x="894613" y="2541519"/>
              <a:ext cx="2203247" cy="486787"/>
              <a:chOff x="4680827" y="2458431"/>
              <a:chExt cx="2203247" cy="486787"/>
            </a:xfrm>
          </p:grpSpPr>
          <p:sp>
            <p:nvSpPr>
              <p:cNvPr id="13" name="六边形 12"/>
              <p:cNvSpPr/>
              <p:nvPr/>
            </p:nvSpPr>
            <p:spPr>
              <a:xfrm>
                <a:off x="4680827" y="2506443"/>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4" name="Rectangle 2"/>
              <p:cNvSpPr txBox="1">
                <a:spLocks noChangeArrowheads="1"/>
              </p:cNvSpPr>
              <p:nvPr/>
            </p:nvSpPr>
            <p:spPr>
              <a:xfrm>
                <a:off x="4870580" y="2458431"/>
                <a:ext cx="1888804" cy="419154"/>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管理的自然属性</a:t>
                </a:r>
                <a:endParaRPr lang="zh-CN" altLang="en-US" dirty="0">
                  <a:solidFill>
                    <a:schemeClr val="bg1"/>
                  </a:solidFill>
                  <a:latin typeface="+mn-lt"/>
                  <a:ea typeface="+mn-ea"/>
                  <a:cs typeface="+mn-ea"/>
                  <a:sym typeface="+mn-lt"/>
                </a:endParaRPr>
              </a:p>
            </p:txBody>
          </p:sp>
        </p:grpSp>
      </p:grpSp>
      <p:sp>
        <p:nvSpPr>
          <p:cNvPr id="16" name="Text Box 9"/>
          <p:cNvSpPr txBox="1">
            <a:spLocks noChangeArrowheads="1"/>
          </p:cNvSpPr>
          <p:nvPr/>
        </p:nvSpPr>
        <p:spPr bwMode="auto">
          <a:xfrm>
            <a:off x="1379689" y="4589672"/>
            <a:ext cx="4174325" cy="791050"/>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altLang="zh-CN" dirty="0">
                <a:latin typeface="+mn-lt"/>
                <a:ea typeface="+mn-ea"/>
                <a:cs typeface="+mn-ea"/>
                <a:sym typeface="+mn-lt"/>
              </a:rPr>
              <a:t>2.</a:t>
            </a:r>
            <a:r>
              <a:rPr lang="zh-CN" altLang="en-US" dirty="0">
                <a:latin typeface="+mn-lt"/>
                <a:ea typeface="+mn-ea"/>
                <a:cs typeface="+mn-ea"/>
                <a:sym typeface="+mn-lt"/>
              </a:rPr>
              <a:t>社会劳动过程的一般要求。管理是社会化生产得以顺利进行的必要条件。</a:t>
            </a:r>
            <a:endParaRPr lang="zh-CN" altLang="en-US" dirty="0">
              <a:latin typeface="+mn-lt"/>
              <a:ea typeface="+mn-ea"/>
              <a:cs typeface="+mn-ea"/>
              <a:sym typeface="+mn-lt"/>
            </a:endParaRPr>
          </a:p>
        </p:txBody>
      </p:sp>
      <p:sp>
        <p:nvSpPr>
          <p:cNvPr id="17" name="矩形 16"/>
          <p:cNvSpPr/>
          <p:nvPr/>
        </p:nvSpPr>
        <p:spPr>
          <a:xfrm>
            <a:off x="1379690" y="2958152"/>
            <a:ext cx="4174324" cy="1208023"/>
          </a:xfrm>
          <a:prstGeom prst="rect">
            <a:avLst/>
          </a:prstGeom>
        </p:spPr>
        <p:txBody>
          <a:bodyPr wrap="square">
            <a:spAutoFit/>
          </a:bodyPr>
          <a:lstStyle/>
          <a:p>
            <a:pPr algn="just">
              <a:lnSpc>
                <a:spcPts val="2900"/>
              </a:lnSpc>
              <a:buClr>
                <a:srgbClr val="000066"/>
              </a:buClr>
            </a:pPr>
            <a:r>
              <a:rPr lang="en-US" altLang="zh-CN" sz="1600" spc="300" dirty="0">
                <a:cs typeface="+mn-ea"/>
                <a:sym typeface="+mn-lt"/>
              </a:rPr>
              <a:t>1.</a:t>
            </a:r>
            <a:r>
              <a:rPr lang="zh-CN" altLang="en-US" sz="1600" spc="300" dirty="0">
                <a:cs typeface="+mn-ea"/>
                <a:sym typeface="+mn-lt"/>
              </a:rPr>
              <a:t>由社会分工所产生的社会劳动过程的一种特殊职能只有管理才能把生产过程中各种要素得以组合和发挥作用。</a:t>
            </a:r>
            <a:endParaRPr lang="zh-CN" altLang="en-US" sz="1600" spc="300" dirty="0">
              <a:cs typeface="+mn-ea"/>
              <a:sym typeface="+mn-lt"/>
            </a:endParaRPr>
          </a:p>
        </p:txBody>
      </p:sp>
      <p:grpSp>
        <p:nvGrpSpPr>
          <p:cNvPr id="25" name="组合 24"/>
          <p:cNvGrpSpPr/>
          <p:nvPr/>
        </p:nvGrpSpPr>
        <p:grpSpPr>
          <a:xfrm>
            <a:off x="4823233" y="1447498"/>
            <a:ext cx="2987386" cy="703788"/>
            <a:chOff x="2821356" y="1611842"/>
            <a:chExt cx="2987386" cy="703788"/>
          </a:xfrm>
        </p:grpSpPr>
        <p:grpSp>
          <p:nvGrpSpPr>
            <p:cNvPr id="21" name="组合 20"/>
            <p:cNvGrpSpPr/>
            <p:nvPr/>
          </p:nvGrpSpPr>
          <p:grpSpPr>
            <a:xfrm>
              <a:off x="3010124" y="1701138"/>
              <a:ext cx="2798618" cy="498159"/>
              <a:chOff x="4798703" y="4002742"/>
              <a:chExt cx="2798618" cy="498159"/>
            </a:xfrm>
          </p:grpSpPr>
          <p:sp>
            <p:nvSpPr>
              <p:cNvPr id="22" name="矩形: 圆角 21"/>
              <p:cNvSpPr/>
              <p:nvPr/>
            </p:nvSpPr>
            <p:spPr>
              <a:xfrm>
                <a:off x="4798703" y="4002742"/>
                <a:ext cx="2122985" cy="498159"/>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Rectangle 3"/>
              <p:cNvSpPr txBox="1">
                <a:spLocks noChangeArrowheads="1"/>
              </p:cNvSpPr>
              <p:nvPr/>
            </p:nvSpPr>
            <p:spPr>
              <a:xfrm>
                <a:off x="4920979" y="4041412"/>
                <a:ext cx="2676342"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536482"/>
                    </a:solidFill>
                    <a:latin typeface="+mn-lt"/>
                    <a:ea typeface="+mn-ea"/>
                    <a:cs typeface="+mn-ea"/>
                    <a:sym typeface="+mn-lt"/>
                  </a:rPr>
                  <a:t>管理的二重性</a:t>
                </a:r>
                <a:endParaRPr lang="zh-CN" altLang="en-US" b="1" dirty="0">
                  <a:solidFill>
                    <a:srgbClr val="536482"/>
                  </a:solidFill>
                  <a:latin typeface="+mn-lt"/>
                  <a:ea typeface="+mn-ea"/>
                  <a:cs typeface="+mn-ea"/>
                  <a:sym typeface="+mn-lt"/>
                </a:endParaRPr>
              </a:p>
            </p:txBody>
          </p:sp>
        </p:grpSp>
        <p:sp>
          <p:nvSpPr>
            <p:cNvPr id="24" name="矩形: 圆角 23"/>
            <p:cNvSpPr/>
            <p:nvPr/>
          </p:nvSpPr>
          <p:spPr>
            <a:xfrm>
              <a:off x="2821356" y="1611842"/>
              <a:ext cx="2500519" cy="703788"/>
            </a:xfrm>
            <a:prstGeom prst="roundRect">
              <a:avLst>
                <a:gd name="adj" fmla="val 50000"/>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ppt_x"/>
                                          </p:val>
                                        </p:tav>
                                        <p:tav tm="100000">
                                          <p:val>
                                            <p:strVal val="#ppt_x"/>
                                          </p:val>
                                        </p:tav>
                                      </p:tavLst>
                                    </p:anim>
                                    <p:anim calcmode="lin" valueType="num">
                                      <p:cBhvr additive="base">
                                        <p:cTn id="3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6" grpId="0" animBg="1"/>
      <p:bldP spid="4"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478027" y="1485779"/>
            <a:ext cx="3854290" cy="4039290"/>
            <a:chOff x="6691608" y="4395407"/>
            <a:chExt cx="3247106" cy="3402961"/>
          </a:xfrm>
        </p:grpSpPr>
        <p:pic>
          <p:nvPicPr>
            <p:cNvPr id="56" name="图片 55"/>
            <p:cNvPicPr>
              <a:picLocks noChangeAspect="1"/>
            </p:cNvPicPr>
            <p:nvPr/>
          </p:nvPicPr>
          <p:blipFill>
            <a:blip r:embed="rId1" cstate="screen"/>
            <a:stretch>
              <a:fillRect/>
            </a:stretch>
          </p:blipFill>
          <p:spPr>
            <a:xfrm>
              <a:off x="8443949" y="4395407"/>
              <a:ext cx="687984" cy="2449223"/>
            </a:xfrm>
            <a:prstGeom prst="rect">
              <a:avLst/>
            </a:prstGeom>
          </p:spPr>
        </p:pic>
        <p:pic>
          <p:nvPicPr>
            <p:cNvPr id="58" name="图片 57"/>
            <p:cNvPicPr>
              <a:picLocks noChangeAspect="1"/>
            </p:cNvPicPr>
            <p:nvPr/>
          </p:nvPicPr>
          <p:blipFill>
            <a:blip r:embed="rId2" cstate="screen"/>
            <a:stretch>
              <a:fillRect/>
            </a:stretch>
          </p:blipFill>
          <p:spPr>
            <a:xfrm>
              <a:off x="6691608" y="5799601"/>
              <a:ext cx="235236" cy="1045029"/>
            </a:xfrm>
            <a:prstGeom prst="rect">
              <a:avLst/>
            </a:prstGeom>
          </p:spPr>
        </p:pic>
        <p:pic>
          <p:nvPicPr>
            <p:cNvPr id="59" name="图片 58"/>
            <p:cNvPicPr>
              <a:picLocks noChangeAspect="1"/>
            </p:cNvPicPr>
            <p:nvPr/>
          </p:nvPicPr>
          <p:blipFill>
            <a:blip r:embed="rId3" cstate="screen"/>
            <a:stretch>
              <a:fillRect/>
            </a:stretch>
          </p:blipFill>
          <p:spPr>
            <a:xfrm>
              <a:off x="7061171" y="4537314"/>
              <a:ext cx="523155" cy="2324101"/>
            </a:xfrm>
            <a:prstGeom prst="rect">
              <a:avLst/>
            </a:prstGeom>
          </p:spPr>
        </p:pic>
        <p:pic>
          <p:nvPicPr>
            <p:cNvPr id="60" name="图片 59"/>
            <p:cNvPicPr>
              <a:picLocks noChangeAspect="1"/>
            </p:cNvPicPr>
            <p:nvPr/>
          </p:nvPicPr>
          <p:blipFill>
            <a:blip r:embed="rId4" cstate="screen"/>
            <a:stretch>
              <a:fillRect/>
            </a:stretch>
          </p:blipFill>
          <p:spPr>
            <a:xfrm>
              <a:off x="8255222" y="5326143"/>
              <a:ext cx="349913" cy="1554480"/>
            </a:xfrm>
            <a:prstGeom prst="rect">
              <a:avLst/>
            </a:prstGeom>
          </p:spPr>
        </p:pic>
        <p:pic>
          <p:nvPicPr>
            <p:cNvPr id="61" name="图片 60"/>
            <p:cNvPicPr>
              <a:picLocks noChangeAspect="1"/>
            </p:cNvPicPr>
            <p:nvPr/>
          </p:nvPicPr>
          <p:blipFill>
            <a:blip r:embed="rId5" cstate="screen"/>
            <a:stretch>
              <a:fillRect/>
            </a:stretch>
          </p:blipFill>
          <p:spPr>
            <a:xfrm>
              <a:off x="9415558" y="4820194"/>
              <a:ext cx="523156" cy="2060429"/>
            </a:xfrm>
            <a:prstGeom prst="rect">
              <a:avLst/>
            </a:prstGeom>
          </p:spPr>
        </p:pic>
        <p:pic>
          <p:nvPicPr>
            <p:cNvPr id="62" name="图片 61"/>
            <p:cNvPicPr>
              <a:picLocks noChangeAspect="1"/>
            </p:cNvPicPr>
            <p:nvPr/>
          </p:nvPicPr>
          <p:blipFill>
            <a:blip r:embed="rId5" cstate="screen"/>
            <a:stretch>
              <a:fillRect/>
            </a:stretch>
          </p:blipFill>
          <p:spPr>
            <a:xfrm>
              <a:off x="7824652" y="5737939"/>
              <a:ext cx="523156" cy="2060429"/>
            </a:xfrm>
            <a:prstGeom prst="rect">
              <a:avLst/>
            </a:prstGeom>
          </p:spPr>
        </p:pic>
      </p:grpSp>
      <p:grpSp>
        <p:nvGrpSpPr>
          <p:cNvPr id="34" name="组合 33"/>
          <p:cNvGrpSpPr/>
          <p:nvPr/>
        </p:nvGrpSpPr>
        <p:grpSpPr>
          <a:xfrm>
            <a:off x="3409885" y="1651871"/>
            <a:ext cx="7554319" cy="3554258"/>
            <a:chOff x="1170389" y="888469"/>
            <a:chExt cx="9860760" cy="4639424"/>
          </a:xfrm>
        </p:grpSpPr>
        <p:sp>
          <p:nvSpPr>
            <p:cNvPr id="18" name="Freeform 21"/>
            <p:cNvSpPr/>
            <p:nvPr/>
          </p:nvSpPr>
          <p:spPr>
            <a:xfrm rot="19805282">
              <a:off x="1170389" y="888469"/>
              <a:ext cx="9860760" cy="4639424"/>
            </a:xfrm>
            <a:custGeom>
              <a:avLst/>
              <a:gdLst>
                <a:gd name="connsiteX0" fmla="*/ 9210674 w 9350488"/>
                <a:gd name="connsiteY0" fmla="*/ 3819266 h 4399344"/>
                <a:gd name="connsiteX1" fmla="*/ 9350488 w 9350488"/>
                <a:gd name="connsiteY1" fmla="*/ 4082226 h 4399344"/>
                <a:gd name="connsiteX2" fmla="*/ 9033370 w 9350488"/>
                <a:gd name="connsiteY2" fmla="*/ 4399344 h 4399344"/>
                <a:gd name="connsiteX3" fmla="*/ 6852320 w 9350488"/>
                <a:gd name="connsiteY3" fmla="*/ 4399344 h 4399344"/>
                <a:gd name="connsiteX4" fmla="*/ 6844759 w 9350488"/>
                <a:gd name="connsiteY4" fmla="*/ 4398581 h 4399344"/>
                <a:gd name="connsiteX5" fmla="*/ 6831730 w 9350488"/>
                <a:gd name="connsiteY5" fmla="*/ 4398964 h 4399344"/>
                <a:gd name="connsiteX6" fmla="*/ 6805150 w 9350488"/>
                <a:gd name="connsiteY6" fmla="*/ 4394589 h 4399344"/>
                <a:gd name="connsiteX7" fmla="*/ 6788410 w 9350488"/>
                <a:gd name="connsiteY7" fmla="*/ 4392901 h 4399344"/>
                <a:gd name="connsiteX8" fmla="*/ 6781081 w 9350488"/>
                <a:gd name="connsiteY8" fmla="*/ 4390626 h 4399344"/>
                <a:gd name="connsiteX9" fmla="*/ 6771692 w 9350488"/>
                <a:gd name="connsiteY9" fmla="*/ 4389080 h 4399344"/>
                <a:gd name="connsiteX10" fmla="*/ 6748678 w 9350488"/>
                <a:gd name="connsiteY10" fmla="*/ 4380567 h 4399344"/>
                <a:gd name="connsiteX11" fmla="*/ 6728884 w 9350488"/>
                <a:gd name="connsiteY11" fmla="*/ 4374423 h 4399344"/>
                <a:gd name="connsiteX12" fmla="*/ 6722076 w 9350488"/>
                <a:gd name="connsiteY12" fmla="*/ 4370728 h 4399344"/>
                <a:gd name="connsiteX13" fmla="*/ 6714626 w 9350488"/>
                <a:gd name="connsiteY13" fmla="*/ 4367972 h 4399344"/>
                <a:gd name="connsiteX14" fmla="*/ 6695104 w 9350488"/>
                <a:gd name="connsiteY14" fmla="*/ 4356088 h 4399344"/>
                <a:gd name="connsiteX15" fmla="*/ 6675017 w 9350488"/>
                <a:gd name="connsiteY15" fmla="*/ 4345185 h 4399344"/>
                <a:gd name="connsiteX16" fmla="*/ 6668890 w 9350488"/>
                <a:gd name="connsiteY16" fmla="*/ 4340130 h 4399344"/>
                <a:gd name="connsiteX17" fmla="*/ 6662274 w 9350488"/>
                <a:gd name="connsiteY17" fmla="*/ 4336102 h 4399344"/>
                <a:gd name="connsiteX18" fmla="*/ 6647012 w 9350488"/>
                <a:gd name="connsiteY18" fmla="*/ 4322079 h 4399344"/>
                <a:gd name="connsiteX19" fmla="*/ 6628085 w 9350488"/>
                <a:gd name="connsiteY19" fmla="*/ 4306462 h 4399344"/>
                <a:gd name="connsiteX20" fmla="*/ 6622029 w 9350488"/>
                <a:gd name="connsiteY20" fmla="*/ 4299122 h 4399344"/>
                <a:gd name="connsiteX21" fmla="*/ 6616378 w 9350488"/>
                <a:gd name="connsiteY21" fmla="*/ 4293931 h 4399344"/>
                <a:gd name="connsiteX22" fmla="*/ 6606505 w 9350488"/>
                <a:gd name="connsiteY22" fmla="*/ 4280307 h 4399344"/>
                <a:gd name="connsiteX23" fmla="*/ 6589361 w 9350488"/>
                <a:gd name="connsiteY23" fmla="*/ 4259529 h 4399344"/>
                <a:gd name="connsiteX24" fmla="*/ 6583143 w 9350488"/>
                <a:gd name="connsiteY24" fmla="*/ 4248073 h 4399344"/>
                <a:gd name="connsiteX25" fmla="*/ 6578683 w 9350488"/>
                <a:gd name="connsiteY25" fmla="*/ 4241920 h 4399344"/>
                <a:gd name="connsiteX26" fmla="*/ 5577164 w 9350488"/>
                <a:gd name="connsiteY26" fmla="*/ 2519482 h 4399344"/>
                <a:gd name="connsiteX27" fmla="*/ 3584720 w 9350488"/>
                <a:gd name="connsiteY27" fmla="*/ 2519482 h 4399344"/>
                <a:gd name="connsiteX28" fmla="*/ 3577151 w 9350488"/>
                <a:gd name="connsiteY28" fmla="*/ 2518719 h 4399344"/>
                <a:gd name="connsiteX29" fmla="*/ 3564128 w 9350488"/>
                <a:gd name="connsiteY29" fmla="*/ 2519102 h 4399344"/>
                <a:gd name="connsiteX30" fmla="*/ 3537559 w 9350488"/>
                <a:gd name="connsiteY30" fmla="*/ 2514728 h 4399344"/>
                <a:gd name="connsiteX31" fmla="*/ 3520810 w 9350488"/>
                <a:gd name="connsiteY31" fmla="*/ 2513039 h 4399344"/>
                <a:gd name="connsiteX32" fmla="*/ 3513476 w 9350488"/>
                <a:gd name="connsiteY32" fmla="*/ 2510763 h 4399344"/>
                <a:gd name="connsiteX33" fmla="*/ 3504091 w 9350488"/>
                <a:gd name="connsiteY33" fmla="*/ 2509217 h 4399344"/>
                <a:gd name="connsiteX34" fmla="*/ 3481082 w 9350488"/>
                <a:gd name="connsiteY34" fmla="*/ 2500707 h 4399344"/>
                <a:gd name="connsiteX35" fmla="*/ 3461284 w 9350488"/>
                <a:gd name="connsiteY35" fmla="*/ 2494561 h 4399344"/>
                <a:gd name="connsiteX36" fmla="*/ 3454474 w 9350488"/>
                <a:gd name="connsiteY36" fmla="*/ 2490865 h 4399344"/>
                <a:gd name="connsiteX37" fmla="*/ 3447024 w 9350488"/>
                <a:gd name="connsiteY37" fmla="*/ 2488109 h 4399344"/>
                <a:gd name="connsiteX38" fmla="*/ 3427503 w 9350488"/>
                <a:gd name="connsiteY38" fmla="*/ 2476226 h 4399344"/>
                <a:gd name="connsiteX39" fmla="*/ 3407416 w 9350488"/>
                <a:gd name="connsiteY39" fmla="*/ 2465323 h 4399344"/>
                <a:gd name="connsiteX40" fmla="*/ 3401290 w 9350488"/>
                <a:gd name="connsiteY40" fmla="*/ 2460268 h 4399344"/>
                <a:gd name="connsiteX41" fmla="*/ 3394672 w 9350488"/>
                <a:gd name="connsiteY41" fmla="*/ 2456239 h 4399344"/>
                <a:gd name="connsiteX42" fmla="*/ 3379407 w 9350488"/>
                <a:gd name="connsiteY42" fmla="*/ 2442213 h 4399344"/>
                <a:gd name="connsiteX43" fmla="*/ 3360484 w 9350488"/>
                <a:gd name="connsiteY43" fmla="*/ 2426600 h 4399344"/>
                <a:gd name="connsiteX44" fmla="*/ 3354430 w 9350488"/>
                <a:gd name="connsiteY44" fmla="*/ 2419263 h 4399344"/>
                <a:gd name="connsiteX45" fmla="*/ 3348776 w 9350488"/>
                <a:gd name="connsiteY45" fmla="*/ 2414068 h 4399344"/>
                <a:gd name="connsiteX46" fmla="*/ 3338897 w 9350488"/>
                <a:gd name="connsiteY46" fmla="*/ 2400437 h 4399344"/>
                <a:gd name="connsiteX47" fmla="*/ 3321761 w 9350488"/>
                <a:gd name="connsiteY47" fmla="*/ 2379667 h 4399344"/>
                <a:gd name="connsiteX48" fmla="*/ 3315545 w 9350488"/>
                <a:gd name="connsiteY48" fmla="*/ 2368216 h 4399344"/>
                <a:gd name="connsiteX49" fmla="*/ 3311081 w 9350488"/>
                <a:gd name="connsiteY49" fmla="*/ 2362057 h 4399344"/>
                <a:gd name="connsiteX50" fmla="*/ 2309562 w 9350488"/>
                <a:gd name="connsiteY50" fmla="*/ 639619 h 4399344"/>
                <a:gd name="connsiteX51" fmla="*/ 317118 w 9350488"/>
                <a:gd name="connsiteY51" fmla="*/ 639619 h 4399344"/>
                <a:gd name="connsiteX52" fmla="*/ 1 w 9350488"/>
                <a:gd name="connsiteY52" fmla="*/ 322501 h 4399344"/>
                <a:gd name="connsiteX53" fmla="*/ 317119 w 9350488"/>
                <a:gd name="connsiteY53" fmla="*/ 5383 h 4399344"/>
                <a:gd name="connsiteX54" fmla="*/ 2436279 w 9350488"/>
                <a:gd name="connsiteY54" fmla="*/ 5383 h 4399344"/>
                <a:gd name="connsiteX55" fmla="*/ 2448735 w 9350488"/>
                <a:gd name="connsiteY55" fmla="*/ 2523 h 4399344"/>
                <a:gd name="connsiteX56" fmla="*/ 2627103 w 9350488"/>
                <a:gd name="connsiteY56" fmla="*/ 31715 h 4399344"/>
                <a:gd name="connsiteX57" fmla="*/ 2650943 w 9350488"/>
                <a:gd name="connsiteY57" fmla="*/ 46228 h 4399344"/>
                <a:gd name="connsiteX58" fmla="*/ 2675472 w 9350488"/>
                <a:gd name="connsiteY58" fmla="*/ 59542 h 4399344"/>
                <a:gd name="connsiteX59" fmla="*/ 2790366 w 9350488"/>
                <a:gd name="connsiteY59" fmla="*/ 199065 h 4399344"/>
                <a:gd name="connsiteX60" fmla="*/ 2794154 w 9350488"/>
                <a:gd name="connsiteY60" fmla="*/ 211270 h 4399344"/>
                <a:gd name="connsiteX61" fmla="*/ 3767495 w 9350488"/>
                <a:gd name="connsiteY61" fmla="*/ 1885246 h 4399344"/>
                <a:gd name="connsiteX62" fmla="*/ 5703881 w 9350488"/>
                <a:gd name="connsiteY62" fmla="*/ 1885246 h 4399344"/>
                <a:gd name="connsiteX63" fmla="*/ 5716337 w 9350488"/>
                <a:gd name="connsiteY63" fmla="*/ 1882386 h 4399344"/>
                <a:gd name="connsiteX64" fmla="*/ 5894704 w 9350488"/>
                <a:gd name="connsiteY64" fmla="*/ 1911577 h 4399344"/>
                <a:gd name="connsiteX65" fmla="*/ 5930433 w 9350488"/>
                <a:gd name="connsiteY65" fmla="*/ 1933328 h 4399344"/>
                <a:gd name="connsiteX66" fmla="*/ 5943074 w 9350488"/>
                <a:gd name="connsiteY66" fmla="*/ 1939405 h 4399344"/>
                <a:gd name="connsiteX67" fmla="*/ 6044613 w 9350488"/>
                <a:gd name="connsiteY67" fmla="*/ 2051207 h 4399344"/>
                <a:gd name="connsiteX68" fmla="*/ 6057322 w 9350488"/>
                <a:gd name="connsiteY68" fmla="*/ 2083506 h 4399344"/>
                <a:gd name="connsiteX69" fmla="*/ 7035096 w 9350488"/>
                <a:gd name="connsiteY69" fmla="*/ 3765107 h 4399344"/>
                <a:gd name="connsiteX70" fmla="*/ 9033370 w 9350488"/>
                <a:gd name="connsiteY70" fmla="*/ 3765107 h 4399344"/>
                <a:gd name="connsiteX71" fmla="*/ 9210674 w 9350488"/>
                <a:gd name="connsiteY71" fmla="*/ 3819266 h 439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350488" h="4399344">
                  <a:moveTo>
                    <a:pt x="9210674" y="3819266"/>
                  </a:moveTo>
                  <a:cubicBezTo>
                    <a:pt x="9295028" y="3876255"/>
                    <a:pt x="9350488" y="3972763"/>
                    <a:pt x="9350488" y="4082226"/>
                  </a:cubicBezTo>
                  <a:cubicBezTo>
                    <a:pt x="9350488" y="4257365"/>
                    <a:pt x="9208509" y="4399344"/>
                    <a:pt x="9033370" y="4399344"/>
                  </a:cubicBezTo>
                  <a:lnTo>
                    <a:pt x="6852320" y="4399344"/>
                  </a:lnTo>
                  <a:lnTo>
                    <a:pt x="6844759" y="4398581"/>
                  </a:lnTo>
                  <a:lnTo>
                    <a:pt x="6831730" y="4398964"/>
                  </a:lnTo>
                  <a:lnTo>
                    <a:pt x="6805150" y="4394589"/>
                  </a:lnTo>
                  <a:lnTo>
                    <a:pt x="6788410" y="4392901"/>
                  </a:lnTo>
                  <a:lnTo>
                    <a:pt x="6781081" y="4390626"/>
                  </a:lnTo>
                  <a:lnTo>
                    <a:pt x="6771692" y="4389080"/>
                  </a:lnTo>
                  <a:lnTo>
                    <a:pt x="6748678" y="4380567"/>
                  </a:lnTo>
                  <a:lnTo>
                    <a:pt x="6728884" y="4374423"/>
                  </a:lnTo>
                  <a:lnTo>
                    <a:pt x="6722076" y="4370728"/>
                  </a:lnTo>
                  <a:lnTo>
                    <a:pt x="6714626" y="4367972"/>
                  </a:lnTo>
                  <a:lnTo>
                    <a:pt x="6695104" y="4356088"/>
                  </a:lnTo>
                  <a:lnTo>
                    <a:pt x="6675017" y="4345185"/>
                  </a:lnTo>
                  <a:lnTo>
                    <a:pt x="6668890" y="4340130"/>
                  </a:lnTo>
                  <a:lnTo>
                    <a:pt x="6662274" y="4336102"/>
                  </a:lnTo>
                  <a:lnTo>
                    <a:pt x="6647012" y="4322079"/>
                  </a:lnTo>
                  <a:lnTo>
                    <a:pt x="6628085" y="4306462"/>
                  </a:lnTo>
                  <a:lnTo>
                    <a:pt x="6622029" y="4299122"/>
                  </a:lnTo>
                  <a:lnTo>
                    <a:pt x="6616378" y="4293931"/>
                  </a:lnTo>
                  <a:lnTo>
                    <a:pt x="6606505" y="4280307"/>
                  </a:lnTo>
                  <a:lnTo>
                    <a:pt x="6589361" y="4259529"/>
                  </a:lnTo>
                  <a:lnTo>
                    <a:pt x="6583143" y="4248073"/>
                  </a:lnTo>
                  <a:lnTo>
                    <a:pt x="6578683" y="4241920"/>
                  </a:lnTo>
                  <a:lnTo>
                    <a:pt x="5577164" y="2519482"/>
                  </a:lnTo>
                  <a:lnTo>
                    <a:pt x="3584720" y="2519482"/>
                  </a:lnTo>
                  <a:lnTo>
                    <a:pt x="3577151" y="2518719"/>
                  </a:lnTo>
                  <a:lnTo>
                    <a:pt x="3564128" y="2519102"/>
                  </a:lnTo>
                  <a:lnTo>
                    <a:pt x="3537559" y="2514728"/>
                  </a:lnTo>
                  <a:lnTo>
                    <a:pt x="3520810" y="2513039"/>
                  </a:lnTo>
                  <a:lnTo>
                    <a:pt x="3513476" y="2510763"/>
                  </a:lnTo>
                  <a:lnTo>
                    <a:pt x="3504091" y="2509217"/>
                  </a:lnTo>
                  <a:lnTo>
                    <a:pt x="3481082" y="2500707"/>
                  </a:lnTo>
                  <a:lnTo>
                    <a:pt x="3461284" y="2494561"/>
                  </a:lnTo>
                  <a:lnTo>
                    <a:pt x="3454474" y="2490865"/>
                  </a:lnTo>
                  <a:lnTo>
                    <a:pt x="3447024" y="2488109"/>
                  </a:lnTo>
                  <a:lnTo>
                    <a:pt x="3427503" y="2476226"/>
                  </a:lnTo>
                  <a:lnTo>
                    <a:pt x="3407416" y="2465323"/>
                  </a:lnTo>
                  <a:lnTo>
                    <a:pt x="3401290" y="2460268"/>
                  </a:lnTo>
                  <a:lnTo>
                    <a:pt x="3394672" y="2456239"/>
                  </a:lnTo>
                  <a:lnTo>
                    <a:pt x="3379407" y="2442213"/>
                  </a:lnTo>
                  <a:lnTo>
                    <a:pt x="3360484" y="2426600"/>
                  </a:lnTo>
                  <a:lnTo>
                    <a:pt x="3354430" y="2419263"/>
                  </a:lnTo>
                  <a:lnTo>
                    <a:pt x="3348776" y="2414068"/>
                  </a:lnTo>
                  <a:lnTo>
                    <a:pt x="3338897" y="2400437"/>
                  </a:lnTo>
                  <a:lnTo>
                    <a:pt x="3321761" y="2379667"/>
                  </a:lnTo>
                  <a:lnTo>
                    <a:pt x="3315545" y="2368216"/>
                  </a:lnTo>
                  <a:lnTo>
                    <a:pt x="3311081" y="2362057"/>
                  </a:lnTo>
                  <a:lnTo>
                    <a:pt x="2309562" y="639619"/>
                  </a:lnTo>
                  <a:lnTo>
                    <a:pt x="317118" y="639619"/>
                  </a:lnTo>
                  <a:cubicBezTo>
                    <a:pt x="141979" y="639619"/>
                    <a:pt x="0" y="497640"/>
                    <a:pt x="1" y="322501"/>
                  </a:cubicBezTo>
                  <a:cubicBezTo>
                    <a:pt x="0" y="147362"/>
                    <a:pt x="141979" y="5383"/>
                    <a:pt x="317119" y="5383"/>
                  </a:cubicBezTo>
                  <a:lnTo>
                    <a:pt x="2436279" y="5383"/>
                  </a:lnTo>
                  <a:lnTo>
                    <a:pt x="2448735" y="2523"/>
                  </a:lnTo>
                  <a:cubicBezTo>
                    <a:pt x="2510031" y="-5274"/>
                    <a:pt x="2572102" y="5149"/>
                    <a:pt x="2627103" y="31715"/>
                  </a:cubicBezTo>
                  <a:lnTo>
                    <a:pt x="2650943" y="46228"/>
                  </a:lnTo>
                  <a:lnTo>
                    <a:pt x="2675472" y="59542"/>
                  </a:lnTo>
                  <a:cubicBezTo>
                    <a:pt x="2726084" y="93735"/>
                    <a:pt x="2766295" y="142156"/>
                    <a:pt x="2790366" y="199065"/>
                  </a:cubicBezTo>
                  <a:lnTo>
                    <a:pt x="2794154" y="211270"/>
                  </a:lnTo>
                  <a:lnTo>
                    <a:pt x="3767495" y="1885246"/>
                  </a:lnTo>
                  <a:lnTo>
                    <a:pt x="5703881" y="1885246"/>
                  </a:lnTo>
                  <a:lnTo>
                    <a:pt x="5716337" y="1882386"/>
                  </a:lnTo>
                  <a:cubicBezTo>
                    <a:pt x="5777633" y="1874589"/>
                    <a:pt x="5839704" y="1885011"/>
                    <a:pt x="5894704" y="1911577"/>
                  </a:cubicBezTo>
                  <a:lnTo>
                    <a:pt x="5930433" y="1933328"/>
                  </a:lnTo>
                  <a:lnTo>
                    <a:pt x="5943074" y="1939405"/>
                  </a:lnTo>
                  <a:cubicBezTo>
                    <a:pt x="5985251" y="1967899"/>
                    <a:pt x="6020204" y="2006273"/>
                    <a:pt x="6044613" y="2051207"/>
                  </a:cubicBezTo>
                  <a:lnTo>
                    <a:pt x="6057322" y="2083506"/>
                  </a:lnTo>
                  <a:lnTo>
                    <a:pt x="7035096" y="3765107"/>
                  </a:lnTo>
                  <a:lnTo>
                    <a:pt x="9033370" y="3765107"/>
                  </a:lnTo>
                  <a:cubicBezTo>
                    <a:pt x="9099047" y="3765107"/>
                    <a:pt x="9160061" y="3785073"/>
                    <a:pt x="9210674" y="3819266"/>
                  </a:cubicBez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dirty="0">
                <a:cs typeface="+mn-ea"/>
                <a:sym typeface="+mn-lt"/>
              </a:endParaRPr>
            </a:p>
          </p:txBody>
        </p:sp>
        <p:sp>
          <p:nvSpPr>
            <p:cNvPr id="20" name="Rounded Rectangle 17"/>
            <p:cNvSpPr/>
            <p:nvPr/>
          </p:nvSpPr>
          <p:spPr>
            <a:xfrm rot="19805282">
              <a:off x="2773623" y="2317742"/>
              <a:ext cx="669557" cy="66884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21" name="Rounded Rectangle 18"/>
            <p:cNvSpPr/>
            <p:nvPr/>
          </p:nvSpPr>
          <p:spPr>
            <a:xfrm rot="19805282">
              <a:off x="4756035" y="3434696"/>
              <a:ext cx="669557" cy="66884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22" name="Rounded Rectangle 19"/>
            <p:cNvSpPr/>
            <p:nvPr/>
          </p:nvSpPr>
          <p:spPr>
            <a:xfrm rot="19805282">
              <a:off x="6753280" y="2317745"/>
              <a:ext cx="669557" cy="66884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24" name="Rounded Rectangle 22"/>
            <p:cNvSpPr/>
            <p:nvPr/>
          </p:nvSpPr>
          <p:spPr>
            <a:xfrm rot="19805282">
              <a:off x="8719514" y="3430335"/>
              <a:ext cx="669557" cy="66884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mn-ea"/>
                <a:sym typeface="+mn-lt"/>
              </a:endParaRPr>
            </a:p>
          </p:txBody>
        </p:sp>
        <p:sp>
          <p:nvSpPr>
            <p:cNvPr id="25" name="Freeform 23"/>
            <p:cNvSpPr>
              <a:spLocks noEditPoints="1"/>
            </p:cNvSpPr>
            <p:nvPr/>
          </p:nvSpPr>
          <p:spPr bwMode="auto">
            <a:xfrm>
              <a:off x="2904139" y="2448909"/>
              <a:ext cx="408523" cy="406512"/>
            </a:xfrm>
            <a:custGeom>
              <a:avLst/>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solidFill>
              <a:srgbClr val="536482"/>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prstClr val="black"/>
                </a:solidFill>
                <a:cs typeface="+mn-ea"/>
                <a:sym typeface="+mn-lt"/>
              </a:endParaRPr>
            </a:p>
          </p:txBody>
        </p:sp>
        <p:sp>
          <p:nvSpPr>
            <p:cNvPr id="26" name="Freeform 24"/>
            <p:cNvSpPr>
              <a:spLocks noEditPoints="1"/>
            </p:cNvSpPr>
            <p:nvPr/>
          </p:nvSpPr>
          <p:spPr bwMode="auto">
            <a:xfrm>
              <a:off x="6888826" y="2448909"/>
              <a:ext cx="398463" cy="382362"/>
            </a:xfrm>
            <a:custGeom>
              <a:avLst/>
              <a:gdLst>
                <a:gd name="T0" fmla="*/ 80 w 198"/>
                <a:gd name="T1" fmla="*/ 39 h 190"/>
                <a:gd name="T2" fmla="*/ 32 w 198"/>
                <a:gd name="T3" fmla="*/ 39 h 190"/>
                <a:gd name="T4" fmla="*/ 24 w 198"/>
                <a:gd name="T5" fmla="*/ 52 h 190"/>
                <a:gd name="T6" fmla="*/ 32 w 198"/>
                <a:gd name="T7" fmla="*/ 65 h 190"/>
                <a:gd name="T8" fmla="*/ 80 w 198"/>
                <a:gd name="T9" fmla="*/ 65 h 190"/>
                <a:gd name="T10" fmla="*/ 80 w 198"/>
                <a:gd name="T11" fmla="*/ 39 h 190"/>
                <a:gd name="T12" fmla="*/ 80 w 198"/>
                <a:gd name="T13" fmla="*/ 39 h 190"/>
                <a:gd name="T14" fmla="*/ 114 w 198"/>
                <a:gd name="T15" fmla="*/ 65 h 190"/>
                <a:gd name="T16" fmla="*/ 170 w 198"/>
                <a:gd name="T17" fmla="*/ 65 h 190"/>
                <a:gd name="T18" fmla="*/ 177 w 198"/>
                <a:gd name="T19" fmla="*/ 65 h 190"/>
                <a:gd name="T20" fmla="*/ 179 w 198"/>
                <a:gd name="T21" fmla="*/ 69 h 190"/>
                <a:gd name="T22" fmla="*/ 194 w 198"/>
                <a:gd name="T23" fmla="*/ 93 h 190"/>
                <a:gd name="T24" fmla="*/ 198 w 198"/>
                <a:gd name="T25" fmla="*/ 99 h 190"/>
                <a:gd name="T26" fmla="*/ 194 w 198"/>
                <a:gd name="T27" fmla="*/ 103 h 190"/>
                <a:gd name="T28" fmla="*/ 179 w 198"/>
                <a:gd name="T29" fmla="*/ 127 h 190"/>
                <a:gd name="T30" fmla="*/ 177 w 198"/>
                <a:gd name="T31" fmla="*/ 134 h 190"/>
                <a:gd name="T32" fmla="*/ 170 w 198"/>
                <a:gd name="T33" fmla="*/ 134 h 190"/>
                <a:gd name="T34" fmla="*/ 114 w 198"/>
                <a:gd name="T35" fmla="*/ 134 h 190"/>
                <a:gd name="T36" fmla="*/ 114 w 198"/>
                <a:gd name="T37" fmla="*/ 164 h 190"/>
                <a:gd name="T38" fmla="*/ 164 w 198"/>
                <a:gd name="T39" fmla="*/ 164 h 190"/>
                <a:gd name="T40" fmla="*/ 164 w 198"/>
                <a:gd name="T41" fmla="*/ 190 h 190"/>
                <a:gd name="T42" fmla="*/ 37 w 198"/>
                <a:gd name="T43" fmla="*/ 190 h 190"/>
                <a:gd name="T44" fmla="*/ 37 w 198"/>
                <a:gd name="T45" fmla="*/ 164 h 190"/>
                <a:gd name="T46" fmla="*/ 82 w 198"/>
                <a:gd name="T47" fmla="*/ 164 h 190"/>
                <a:gd name="T48" fmla="*/ 82 w 198"/>
                <a:gd name="T49" fmla="*/ 86 h 190"/>
                <a:gd name="T50" fmla="*/ 26 w 198"/>
                <a:gd name="T51" fmla="*/ 86 h 190"/>
                <a:gd name="T52" fmla="*/ 19 w 198"/>
                <a:gd name="T53" fmla="*/ 86 h 190"/>
                <a:gd name="T54" fmla="*/ 17 w 198"/>
                <a:gd name="T55" fmla="*/ 80 h 190"/>
                <a:gd name="T56" fmla="*/ 2 w 198"/>
                <a:gd name="T57" fmla="*/ 56 h 190"/>
                <a:gd name="T58" fmla="*/ 0 w 198"/>
                <a:gd name="T59" fmla="*/ 52 h 190"/>
                <a:gd name="T60" fmla="*/ 2 w 198"/>
                <a:gd name="T61" fmla="*/ 45 h 190"/>
                <a:gd name="T62" fmla="*/ 17 w 198"/>
                <a:gd name="T63" fmla="*/ 21 h 190"/>
                <a:gd name="T64" fmla="*/ 19 w 198"/>
                <a:gd name="T65" fmla="*/ 17 h 190"/>
                <a:gd name="T66" fmla="*/ 26 w 198"/>
                <a:gd name="T67" fmla="*/ 17 h 190"/>
                <a:gd name="T68" fmla="*/ 82 w 198"/>
                <a:gd name="T69" fmla="*/ 17 h 190"/>
                <a:gd name="T70" fmla="*/ 82 w 198"/>
                <a:gd name="T71" fmla="*/ 13 h 190"/>
                <a:gd name="T72" fmla="*/ 99 w 198"/>
                <a:gd name="T73" fmla="*/ 0 h 190"/>
                <a:gd name="T74" fmla="*/ 114 w 198"/>
                <a:gd name="T75" fmla="*/ 13 h 190"/>
                <a:gd name="T76" fmla="*/ 114 w 198"/>
                <a:gd name="T77" fmla="*/ 65 h 190"/>
                <a:gd name="T78" fmla="*/ 114 w 198"/>
                <a:gd name="T79" fmla="*/ 65 h 190"/>
                <a:gd name="T80" fmla="*/ 166 w 198"/>
                <a:gd name="T81" fmla="*/ 84 h 190"/>
                <a:gd name="T82" fmla="*/ 116 w 198"/>
                <a:gd name="T83" fmla="*/ 84 h 190"/>
                <a:gd name="T84" fmla="*/ 116 w 198"/>
                <a:gd name="T85" fmla="*/ 112 h 190"/>
                <a:gd name="T86" fmla="*/ 166 w 198"/>
                <a:gd name="T87" fmla="*/ 112 h 190"/>
                <a:gd name="T88" fmla="*/ 175 w 198"/>
                <a:gd name="T89" fmla="*/ 99 h 190"/>
                <a:gd name="T90" fmla="*/ 166 w 198"/>
                <a:gd name="T91" fmla="*/ 8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90">
                  <a:moveTo>
                    <a:pt x="80" y="39"/>
                  </a:moveTo>
                  <a:lnTo>
                    <a:pt x="32" y="39"/>
                  </a:lnTo>
                  <a:lnTo>
                    <a:pt x="24" y="52"/>
                  </a:lnTo>
                  <a:lnTo>
                    <a:pt x="32" y="65"/>
                  </a:lnTo>
                  <a:lnTo>
                    <a:pt x="80" y="65"/>
                  </a:lnTo>
                  <a:lnTo>
                    <a:pt x="80" y="39"/>
                  </a:lnTo>
                  <a:lnTo>
                    <a:pt x="80" y="39"/>
                  </a:lnTo>
                  <a:close/>
                  <a:moveTo>
                    <a:pt x="114" y="65"/>
                  </a:moveTo>
                  <a:lnTo>
                    <a:pt x="170" y="65"/>
                  </a:lnTo>
                  <a:lnTo>
                    <a:pt x="177" y="65"/>
                  </a:lnTo>
                  <a:lnTo>
                    <a:pt x="179" y="69"/>
                  </a:lnTo>
                  <a:lnTo>
                    <a:pt x="194" y="93"/>
                  </a:lnTo>
                  <a:lnTo>
                    <a:pt x="198" y="99"/>
                  </a:lnTo>
                  <a:lnTo>
                    <a:pt x="194" y="103"/>
                  </a:lnTo>
                  <a:lnTo>
                    <a:pt x="179" y="127"/>
                  </a:lnTo>
                  <a:lnTo>
                    <a:pt x="177" y="134"/>
                  </a:lnTo>
                  <a:lnTo>
                    <a:pt x="170" y="134"/>
                  </a:lnTo>
                  <a:lnTo>
                    <a:pt x="114" y="134"/>
                  </a:lnTo>
                  <a:lnTo>
                    <a:pt x="114" y="164"/>
                  </a:lnTo>
                  <a:lnTo>
                    <a:pt x="164" y="164"/>
                  </a:lnTo>
                  <a:lnTo>
                    <a:pt x="164" y="190"/>
                  </a:lnTo>
                  <a:lnTo>
                    <a:pt x="37" y="190"/>
                  </a:lnTo>
                  <a:lnTo>
                    <a:pt x="37" y="164"/>
                  </a:lnTo>
                  <a:lnTo>
                    <a:pt x="82" y="164"/>
                  </a:lnTo>
                  <a:lnTo>
                    <a:pt x="82" y="86"/>
                  </a:lnTo>
                  <a:lnTo>
                    <a:pt x="26" y="86"/>
                  </a:lnTo>
                  <a:lnTo>
                    <a:pt x="19" y="86"/>
                  </a:lnTo>
                  <a:lnTo>
                    <a:pt x="17" y="80"/>
                  </a:lnTo>
                  <a:lnTo>
                    <a:pt x="2" y="56"/>
                  </a:lnTo>
                  <a:lnTo>
                    <a:pt x="0" y="52"/>
                  </a:lnTo>
                  <a:lnTo>
                    <a:pt x="2" y="45"/>
                  </a:lnTo>
                  <a:lnTo>
                    <a:pt x="17" y="21"/>
                  </a:lnTo>
                  <a:lnTo>
                    <a:pt x="19" y="17"/>
                  </a:lnTo>
                  <a:lnTo>
                    <a:pt x="26" y="17"/>
                  </a:lnTo>
                  <a:lnTo>
                    <a:pt x="82" y="17"/>
                  </a:lnTo>
                  <a:lnTo>
                    <a:pt x="82" y="13"/>
                  </a:lnTo>
                  <a:lnTo>
                    <a:pt x="99" y="0"/>
                  </a:lnTo>
                  <a:lnTo>
                    <a:pt x="114" y="13"/>
                  </a:lnTo>
                  <a:lnTo>
                    <a:pt x="114" y="65"/>
                  </a:lnTo>
                  <a:lnTo>
                    <a:pt x="114" y="65"/>
                  </a:lnTo>
                  <a:close/>
                  <a:moveTo>
                    <a:pt x="166" y="84"/>
                  </a:moveTo>
                  <a:lnTo>
                    <a:pt x="116" y="84"/>
                  </a:lnTo>
                  <a:lnTo>
                    <a:pt x="116" y="112"/>
                  </a:lnTo>
                  <a:lnTo>
                    <a:pt x="166" y="112"/>
                  </a:lnTo>
                  <a:lnTo>
                    <a:pt x="175" y="99"/>
                  </a:lnTo>
                  <a:lnTo>
                    <a:pt x="166" y="84"/>
                  </a:lnTo>
                  <a:close/>
                </a:path>
              </a:pathLst>
            </a:custGeom>
            <a:solidFill>
              <a:srgbClr val="536482"/>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prstClr val="black"/>
                </a:solidFill>
                <a:cs typeface="+mn-ea"/>
                <a:sym typeface="+mn-lt"/>
              </a:endParaRPr>
            </a:p>
          </p:txBody>
        </p:sp>
        <p:sp>
          <p:nvSpPr>
            <p:cNvPr id="27" name="Freeform 25"/>
            <p:cNvSpPr>
              <a:spLocks noEditPoints="1"/>
            </p:cNvSpPr>
            <p:nvPr/>
          </p:nvSpPr>
          <p:spPr bwMode="auto">
            <a:xfrm>
              <a:off x="4912713" y="3590682"/>
              <a:ext cx="356201" cy="348152"/>
            </a:xfrm>
            <a:custGeom>
              <a:avLst/>
              <a:gdLst>
                <a:gd name="T0" fmla="*/ 74 w 82"/>
                <a:gd name="T1" fmla="*/ 6 h 80"/>
                <a:gd name="T2" fmla="*/ 67 w 82"/>
                <a:gd name="T3" fmla="*/ 27 h 80"/>
                <a:gd name="T4" fmla="*/ 65 w 82"/>
                <a:gd name="T5" fmla="*/ 30 h 80"/>
                <a:gd name="T6" fmla="*/ 75 w 82"/>
                <a:gd name="T7" fmla="*/ 71 h 80"/>
                <a:gd name="T8" fmla="*/ 66 w 82"/>
                <a:gd name="T9" fmla="*/ 80 h 80"/>
                <a:gd name="T10" fmla="*/ 44 w 82"/>
                <a:gd name="T11" fmla="*/ 50 h 80"/>
                <a:gd name="T12" fmla="*/ 36 w 82"/>
                <a:gd name="T13" fmla="*/ 57 h 80"/>
                <a:gd name="T14" fmla="*/ 39 w 82"/>
                <a:gd name="T15" fmla="*/ 70 h 80"/>
                <a:gd name="T16" fmla="*/ 34 w 82"/>
                <a:gd name="T17" fmla="*/ 75 h 80"/>
                <a:gd name="T18" fmla="*/ 26 w 82"/>
                <a:gd name="T19" fmla="*/ 61 h 80"/>
                <a:gd name="T20" fmla="*/ 21 w 82"/>
                <a:gd name="T21" fmla="*/ 67 h 80"/>
                <a:gd name="T22" fmla="*/ 16 w 82"/>
                <a:gd name="T23" fmla="*/ 62 h 80"/>
                <a:gd name="T24" fmla="*/ 21 w 82"/>
                <a:gd name="T25" fmla="*/ 57 h 80"/>
                <a:gd name="T26" fmla="*/ 7 w 82"/>
                <a:gd name="T27" fmla="*/ 50 h 80"/>
                <a:gd name="T28" fmla="*/ 12 w 82"/>
                <a:gd name="T29" fmla="*/ 44 h 80"/>
                <a:gd name="T30" fmla="*/ 25 w 82"/>
                <a:gd name="T31" fmla="*/ 47 h 80"/>
                <a:gd name="T32" fmla="*/ 32 w 82"/>
                <a:gd name="T33" fmla="*/ 39 h 80"/>
                <a:gd name="T34" fmla="*/ 0 w 82"/>
                <a:gd name="T35" fmla="*/ 18 h 80"/>
                <a:gd name="T36" fmla="*/ 9 w 82"/>
                <a:gd name="T37" fmla="*/ 8 h 80"/>
                <a:gd name="T38" fmla="*/ 51 w 82"/>
                <a:gd name="T39" fmla="*/ 16 h 80"/>
                <a:gd name="T40" fmla="*/ 53 w 82"/>
                <a:gd name="T41" fmla="*/ 13 h 80"/>
                <a:gd name="T42" fmla="*/ 74 w 82"/>
                <a:gd name="T43" fmla="*/ 6 h 80"/>
                <a:gd name="T44" fmla="*/ 82 w 82"/>
                <a:gd name="T45" fmla="*/ 50 h 80"/>
                <a:gd name="T46" fmla="*/ 74 w 82"/>
                <a:gd name="T47" fmla="*/ 42 h 80"/>
                <a:gd name="T48" fmla="*/ 72 w 82"/>
                <a:gd name="T49" fmla="*/ 44 h 80"/>
                <a:gd name="T50" fmla="*/ 76 w 82"/>
                <a:gd name="T51" fmla="*/ 57 h 80"/>
                <a:gd name="T52" fmla="*/ 82 w 82"/>
                <a:gd name="T53" fmla="*/ 50 h 80"/>
                <a:gd name="T54" fmla="*/ 29 w 82"/>
                <a:gd name="T55" fmla="*/ 0 h 80"/>
                <a:gd name="T56" fmla="*/ 23 w 82"/>
                <a:gd name="T57" fmla="*/ 7 h 80"/>
                <a:gd name="T58" fmla="*/ 36 w 82"/>
                <a:gd name="T59" fmla="*/ 10 h 80"/>
                <a:gd name="T60" fmla="*/ 37 w 82"/>
                <a:gd name="T61" fmla="*/ 8 h 80"/>
                <a:gd name="T62" fmla="*/ 29 w 82"/>
                <a:gd name="T6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80">
                  <a:moveTo>
                    <a:pt x="74" y="6"/>
                  </a:moveTo>
                  <a:cubicBezTo>
                    <a:pt x="76" y="15"/>
                    <a:pt x="74" y="21"/>
                    <a:pt x="67" y="27"/>
                  </a:cubicBezTo>
                  <a:cubicBezTo>
                    <a:pt x="65" y="30"/>
                    <a:pt x="65" y="30"/>
                    <a:pt x="65" y="30"/>
                  </a:cubicBezTo>
                  <a:cubicBezTo>
                    <a:pt x="75" y="71"/>
                    <a:pt x="75" y="71"/>
                    <a:pt x="75" y="71"/>
                  </a:cubicBezTo>
                  <a:cubicBezTo>
                    <a:pt x="66" y="80"/>
                    <a:pt x="66" y="80"/>
                    <a:pt x="66" y="80"/>
                  </a:cubicBezTo>
                  <a:cubicBezTo>
                    <a:pt x="44" y="50"/>
                    <a:pt x="44" y="50"/>
                    <a:pt x="44" y="50"/>
                  </a:cubicBezTo>
                  <a:cubicBezTo>
                    <a:pt x="36" y="57"/>
                    <a:pt x="36" y="57"/>
                    <a:pt x="36" y="57"/>
                  </a:cubicBezTo>
                  <a:cubicBezTo>
                    <a:pt x="39" y="70"/>
                    <a:pt x="39" y="70"/>
                    <a:pt x="39" y="70"/>
                  </a:cubicBezTo>
                  <a:cubicBezTo>
                    <a:pt x="34" y="75"/>
                    <a:pt x="34" y="75"/>
                    <a:pt x="34" y="75"/>
                  </a:cubicBezTo>
                  <a:cubicBezTo>
                    <a:pt x="26" y="61"/>
                    <a:pt x="26" y="61"/>
                    <a:pt x="26" y="61"/>
                  </a:cubicBezTo>
                  <a:cubicBezTo>
                    <a:pt x="21" y="67"/>
                    <a:pt x="21" y="67"/>
                    <a:pt x="21" y="67"/>
                  </a:cubicBezTo>
                  <a:cubicBezTo>
                    <a:pt x="16" y="62"/>
                    <a:pt x="16" y="62"/>
                    <a:pt x="16" y="62"/>
                  </a:cubicBezTo>
                  <a:cubicBezTo>
                    <a:pt x="21" y="57"/>
                    <a:pt x="21" y="57"/>
                    <a:pt x="21" y="57"/>
                  </a:cubicBezTo>
                  <a:cubicBezTo>
                    <a:pt x="7" y="50"/>
                    <a:pt x="7" y="50"/>
                    <a:pt x="7" y="50"/>
                  </a:cubicBezTo>
                  <a:cubicBezTo>
                    <a:pt x="12" y="44"/>
                    <a:pt x="12" y="44"/>
                    <a:pt x="12" y="44"/>
                  </a:cubicBezTo>
                  <a:cubicBezTo>
                    <a:pt x="25" y="47"/>
                    <a:pt x="25" y="47"/>
                    <a:pt x="25" y="47"/>
                  </a:cubicBezTo>
                  <a:cubicBezTo>
                    <a:pt x="32" y="39"/>
                    <a:pt x="32" y="39"/>
                    <a:pt x="32" y="39"/>
                  </a:cubicBezTo>
                  <a:cubicBezTo>
                    <a:pt x="0" y="18"/>
                    <a:pt x="0" y="18"/>
                    <a:pt x="0" y="18"/>
                  </a:cubicBezTo>
                  <a:cubicBezTo>
                    <a:pt x="9" y="8"/>
                    <a:pt x="9" y="8"/>
                    <a:pt x="9" y="8"/>
                  </a:cubicBezTo>
                  <a:cubicBezTo>
                    <a:pt x="51" y="16"/>
                    <a:pt x="51" y="16"/>
                    <a:pt x="51" y="16"/>
                  </a:cubicBezTo>
                  <a:cubicBezTo>
                    <a:pt x="53" y="13"/>
                    <a:pt x="53" y="13"/>
                    <a:pt x="53" y="13"/>
                  </a:cubicBezTo>
                  <a:cubicBezTo>
                    <a:pt x="60" y="5"/>
                    <a:pt x="67" y="4"/>
                    <a:pt x="74" y="6"/>
                  </a:cubicBezTo>
                  <a:close/>
                  <a:moveTo>
                    <a:pt x="82" y="50"/>
                  </a:moveTo>
                  <a:cubicBezTo>
                    <a:pt x="74" y="42"/>
                    <a:pt x="74" y="42"/>
                    <a:pt x="74" y="42"/>
                  </a:cubicBezTo>
                  <a:cubicBezTo>
                    <a:pt x="72" y="44"/>
                    <a:pt x="72" y="44"/>
                    <a:pt x="72" y="44"/>
                  </a:cubicBezTo>
                  <a:cubicBezTo>
                    <a:pt x="76" y="57"/>
                    <a:pt x="76" y="57"/>
                    <a:pt x="76" y="57"/>
                  </a:cubicBezTo>
                  <a:cubicBezTo>
                    <a:pt x="82" y="50"/>
                    <a:pt x="82" y="50"/>
                    <a:pt x="82" y="50"/>
                  </a:cubicBezTo>
                  <a:close/>
                  <a:moveTo>
                    <a:pt x="29" y="0"/>
                  </a:moveTo>
                  <a:cubicBezTo>
                    <a:pt x="23" y="7"/>
                    <a:pt x="23" y="7"/>
                    <a:pt x="23" y="7"/>
                  </a:cubicBezTo>
                  <a:cubicBezTo>
                    <a:pt x="36" y="10"/>
                    <a:pt x="36" y="10"/>
                    <a:pt x="36" y="10"/>
                  </a:cubicBezTo>
                  <a:cubicBezTo>
                    <a:pt x="37" y="8"/>
                    <a:pt x="37" y="8"/>
                    <a:pt x="37" y="8"/>
                  </a:cubicBezTo>
                  <a:lnTo>
                    <a:pt x="29" y="0"/>
                  </a:lnTo>
                  <a:close/>
                </a:path>
              </a:pathLst>
            </a:custGeom>
            <a:solidFill>
              <a:srgbClr val="536482"/>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prstClr val="black"/>
                </a:solidFill>
                <a:cs typeface="+mn-ea"/>
                <a:sym typeface="+mn-lt"/>
              </a:endParaRPr>
            </a:p>
          </p:txBody>
        </p:sp>
        <p:sp>
          <p:nvSpPr>
            <p:cNvPr id="28" name="Freeform 26"/>
            <p:cNvSpPr>
              <a:spLocks noEditPoints="1"/>
            </p:cNvSpPr>
            <p:nvPr/>
          </p:nvSpPr>
          <p:spPr bwMode="auto">
            <a:xfrm>
              <a:off x="8887259" y="3562508"/>
              <a:ext cx="334064" cy="404500"/>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536482"/>
            </a:solid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prstClr val="black"/>
                </a:solidFill>
                <a:cs typeface="+mn-ea"/>
                <a:sym typeface="+mn-lt"/>
              </a:endParaRPr>
            </a:p>
          </p:txBody>
        </p:sp>
      </p:grpSp>
      <p:sp>
        <p:nvSpPr>
          <p:cNvPr id="35" name="矩形 34"/>
          <p:cNvSpPr/>
          <p:nvPr/>
        </p:nvSpPr>
        <p:spPr>
          <a:xfrm>
            <a:off x="4109011" y="3737772"/>
            <a:ext cx="1652136" cy="1208023"/>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企业管理是一种文化现象和社会现象。</a:t>
            </a:r>
            <a:endParaRPr lang="zh-CN" altLang="en-US" sz="1600" spc="300" dirty="0">
              <a:solidFill>
                <a:schemeClr val="tx1">
                  <a:lumMod val="95000"/>
                  <a:lumOff val="5000"/>
                </a:schemeClr>
              </a:solidFill>
              <a:cs typeface="+mn-ea"/>
              <a:sym typeface="+mn-lt"/>
            </a:endParaRPr>
          </a:p>
        </p:txBody>
      </p:sp>
      <p:sp>
        <p:nvSpPr>
          <p:cNvPr id="36" name="矩形 35"/>
          <p:cNvSpPr/>
          <p:nvPr/>
        </p:nvSpPr>
        <p:spPr>
          <a:xfrm>
            <a:off x="5761147" y="1882319"/>
            <a:ext cx="1506654" cy="1208023"/>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企业管理的主体是管理者。 </a:t>
            </a:r>
            <a:endParaRPr lang="zh-CN" altLang="en-US" sz="1600" spc="300" dirty="0">
              <a:solidFill>
                <a:schemeClr val="tx1">
                  <a:lumMod val="95000"/>
                  <a:lumOff val="5000"/>
                </a:schemeClr>
              </a:solidFill>
              <a:cs typeface="+mn-ea"/>
              <a:sym typeface="+mn-lt"/>
            </a:endParaRPr>
          </a:p>
        </p:txBody>
      </p:sp>
      <p:sp>
        <p:nvSpPr>
          <p:cNvPr id="37" name="矩形 36"/>
          <p:cNvSpPr/>
          <p:nvPr/>
        </p:nvSpPr>
        <p:spPr>
          <a:xfrm>
            <a:off x="8740784" y="4155014"/>
            <a:ext cx="1417901" cy="792012"/>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管理的职能、任务与层次。</a:t>
            </a:r>
            <a:endParaRPr lang="zh-CN" altLang="en-US" sz="1600" spc="300" dirty="0">
              <a:solidFill>
                <a:schemeClr val="tx1">
                  <a:lumMod val="95000"/>
                  <a:lumOff val="5000"/>
                </a:schemeClr>
              </a:solidFill>
              <a:cs typeface="+mn-ea"/>
              <a:sym typeface="+mn-lt"/>
            </a:endParaRPr>
          </a:p>
        </p:txBody>
      </p:sp>
      <p:sp>
        <p:nvSpPr>
          <p:cNvPr id="38" name="矩形 37"/>
          <p:cNvSpPr/>
          <p:nvPr/>
        </p:nvSpPr>
        <p:spPr>
          <a:xfrm>
            <a:off x="8623816" y="1882319"/>
            <a:ext cx="1528691" cy="1208023"/>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管理的核心是处理好人际关系。 </a:t>
            </a:r>
            <a:endParaRPr lang="zh-CN" altLang="en-US" sz="1600" spc="300" dirty="0">
              <a:solidFill>
                <a:schemeClr val="tx1">
                  <a:lumMod val="95000"/>
                  <a:lumOff val="5000"/>
                </a:schemeClr>
              </a:solidFill>
              <a:cs typeface="+mn-ea"/>
              <a:sym typeface="+mn-lt"/>
            </a:endParaRPr>
          </a:p>
        </p:txBody>
      </p:sp>
      <p:grpSp>
        <p:nvGrpSpPr>
          <p:cNvPr id="45" name="组合 44"/>
          <p:cNvGrpSpPr/>
          <p:nvPr/>
        </p:nvGrpSpPr>
        <p:grpSpPr>
          <a:xfrm>
            <a:off x="1426813" y="3051357"/>
            <a:ext cx="2312198" cy="1291248"/>
            <a:chOff x="1437213" y="3076410"/>
            <a:chExt cx="2312198" cy="1291248"/>
          </a:xfrm>
        </p:grpSpPr>
        <p:sp>
          <p:nvSpPr>
            <p:cNvPr id="43" name="矩形: 圆角 42"/>
            <p:cNvSpPr/>
            <p:nvPr/>
          </p:nvSpPr>
          <p:spPr>
            <a:xfrm>
              <a:off x="1437213" y="3076410"/>
              <a:ext cx="2312198" cy="1291248"/>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Rectangle 3"/>
            <p:cNvSpPr txBox="1">
              <a:spLocks noChangeArrowheads="1"/>
            </p:cNvSpPr>
            <p:nvPr/>
          </p:nvSpPr>
          <p:spPr>
            <a:xfrm>
              <a:off x="1799509" y="3337269"/>
              <a:ext cx="1666538" cy="830997"/>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dirty="0">
                  <a:solidFill>
                    <a:srgbClr val="536482"/>
                  </a:solidFill>
                  <a:latin typeface="+mn-lt"/>
                  <a:ea typeface="+mn-ea"/>
                  <a:cs typeface="+mn-ea"/>
                  <a:sym typeface="+mn-lt"/>
                </a:rPr>
                <a:t>企业管理的基本特征</a:t>
              </a:r>
              <a:endParaRPr lang="en-US" altLang="zh-CN" dirty="0">
                <a:solidFill>
                  <a:srgbClr val="536482"/>
                </a:solidFill>
                <a:latin typeface="+mn-lt"/>
                <a:ea typeface="+mn-ea"/>
                <a:cs typeface="+mn-ea"/>
                <a:sym typeface="+mn-lt"/>
              </a:endParaRPr>
            </a:p>
          </p:txBody>
        </p:sp>
      </p:grpSp>
      <p:sp>
        <p:nvSpPr>
          <p:cNvPr id="30" name="TextBox 29"/>
          <p:cNvSpPr txBox="1"/>
          <p:nvPr/>
        </p:nvSpPr>
        <p:spPr>
          <a:xfrm>
            <a:off x="674497" y="6605068"/>
            <a:ext cx="1224136"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下载 </a:t>
            </a:r>
            <a:r>
              <a:rPr kumimoji="0" lang="en-US" altLang="zh-CN" sz="100" b="0" i="0" u="none" strike="noStrike" kern="0" cap="none" spc="0" normalizeH="0" baseline="0" noProof="0" dirty="0">
                <a:ln>
                  <a:noFill/>
                </a:ln>
                <a:solidFill>
                  <a:schemeClr val="bg1">
                    <a:lumMod val="95000"/>
                  </a:schemeClr>
                </a:solidFill>
                <a:effectLst/>
                <a:uLnTx/>
                <a:uFillTx/>
              </a:rPr>
              <a:t>http://www.1ppt.com/xiazai/</a:t>
            </a:r>
            <a:endParaRPr kumimoji="0" lang="en-US" altLang="zh-CN" sz="100" b="0" i="0" u="none" strike="noStrike" kern="0" cap="none" spc="0" normalizeH="0" baseline="0" noProof="0" dirty="0">
              <a:ln>
                <a:noFill/>
              </a:ln>
              <a:solidFill>
                <a:schemeClr val="bg1">
                  <a:lumMod val="95000"/>
                </a:schemeClr>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randombar(horizontal)">
                                      <p:cBhvr>
                                        <p:cTn id="7" dur="500"/>
                                        <p:tgtEl>
                                          <p:spTgt spid="46"/>
                                        </p:tgtEl>
                                      </p:cBhvr>
                                    </p:animEffect>
                                  </p:childTnLst>
                                </p:cTn>
                              </p:par>
                              <p:par>
                                <p:cTn id="8" presetID="14" presetClass="entr" presetSubtype="10"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randombar(horizontal)">
                                      <p:cBhvr>
                                        <p:cTn id="10" dur="500"/>
                                        <p:tgtEl>
                                          <p:spTgt spid="45"/>
                                        </p:tgtEl>
                                      </p:cBhvr>
                                    </p:animEffect>
                                  </p:childTnLst>
                                </p:cTn>
                              </p:par>
                              <p:par>
                                <p:cTn id="11" presetID="14" presetClass="entr" presetSubtype="1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randombar(horizontal)">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ppt_x"/>
                                          </p:val>
                                        </p:tav>
                                        <p:tav tm="100000">
                                          <p:val>
                                            <p:strVal val="#ppt_x"/>
                                          </p:val>
                                        </p:tav>
                                      </p:tavLst>
                                    </p:anim>
                                    <p:anim calcmode="lin" valueType="num">
                                      <p:cBhvr additive="base">
                                        <p:cTn id="1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6"/>
                                        </p:tgtEl>
                                        <p:attrNameLst>
                                          <p:attrName>style.visibility</p:attrName>
                                        </p:attrNameLst>
                                      </p:cBhvr>
                                      <p:to>
                                        <p:strVal val="visible"/>
                                      </p:to>
                                    </p:set>
                                    <p:anim calcmode="lin" valueType="num">
                                      <p:cBhvr additive="base">
                                        <p:cTn id="24" dur="500" fill="hold"/>
                                        <p:tgtEl>
                                          <p:spTgt spid="36"/>
                                        </p:tgtEl>
                                        <p:attrNameLst>
                                          <p:attrName>ppt_x</p:attrName>
                                        </p:attrNameLst>
                                      </p:cBhvr>
                                      <p:tavLst>
                                        <p:tav tm="0">
                                          <p:val>
                                            <p:strVal val="#ppt_x"/>
                                          </p:val>
                                        </p:tav>
                                        <p:tav tm="100000">
                                          <p:val>
                                            <p:strVal val="#ppt_x"/>
                                          </p:val>
                                        </p:tav>
                                      </p:tavLst>
                                    </p:anim>
                                    <p:anim calcmode="lin" valueType="num">
                                      <p:cBhvr additive="base">
                                        <p:cTn id="2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8"/>
                                        </p:tgtEl>
                                        <p:attrNameLst>
                                          <p:attrName>style.visibility</p:attrName>
                                        </p:attrNameLst>
                                      </p:cBhvr>
                                      <p:to>
                                        <p:strVal val="visible"/>
                                      </p:to>
                                    </p:set>
                                    <p:anim calcmode="lin" valueType="num">
                                      <p:cBhvr additive="base">
                                        <p:cTn id="30" dur="500" fill="hold"/>
                                        <p:tgtEl>
                                          <p:spTgt spid="38"/>
                                        </p:tgtEl>
                                        <p:attrNameLst>
                                          <p:attrName>ppt_x</p:attrName>
                                        </p:attrNameLst>
                                      </p:cBhvr>
                                      <p:tavLst>
                                        <p:tav tm="0">
                                          <p:val>
                                            <p:strVal val="#ppt_x"/>
                                          </p:val>
                                        </p:tav>
                                        <p:tav tm="100000">
                                          <p:val>
                                            <p:strVal val="#ppt_x"/>
                                          </p:val>
                                        </p:tav>
                                      </p:tavLst>
                                    </p:anim>
                                    <p:anim calcmode="lin" valueType="num">
                                      <p:cBhvr additive="base">
                                        <p:cTn id="31"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ppt_x"/>
                                          </p:val>
                                        </p:tav>
                                        <p:tav tm="100000">
                                          <p:val>
                                            <p:strVal val="#ppt_x"/>
                                          </p:val>
                                        </p:tav>
                                      </p:tavLst>
                                    </p:anim>
                                    <p:anim calcmode="lin" valueType="num">
                                      <p:cBhvr additive="base">
                                        <p:cTn id="3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02</a:t>
            </a:r>
            <a:endParaRPr lang="zh-CN" altLang="en-US" sz="6600" dirty="0">
              <a:solidFill>
                <a:srgbClr val="536482"/>
              </a:solidFill>
              <a:cs typeface="+mn-ea"/>
              <a:sym typeface="+mn-lt"/>
            </a:endParaRPr>
          </a:p>
        </p:txBody>
      </p:sp>
      <p:grpSp>
        <p:nvGrpSpPr>
          <p:cNvPr id="8" name="组合 7"/>
          <p:cNvGrpSpPr/>
          <p:nvPr/>
        </p:nvGrpSpPr>
        <p:grpSpPr>
          <a:xfrm>
            <a:off x="3793246" y="2780683"/>
            <a:ext cx="4665165" cy="1292081"/>
            <a:chOff x="903350" y="2642647"/>
            <a:chExt cx="4665165" cy="1292081"/>
          </a:xfrm>
        </p:grpSpPr>
        <p:sp>
          <p:nvSpPr>
            <p:cNvPr id="9" name="文本框 8"/>
            <p:cNvSpPr txBox="1"/>
            <p:nvPr/>
          </p:nvSpPr>
          <p:spPr>
            <a:xfrm>
              <a:off x="903350" y="2642647"/>
              <a:ext cx="4665165" cy="830997"/>
            </a:xfrm>
            <a:prstGeom prst="rect">
              <a:avLst/>
            </a:prstGeom>
            <a:noFill/>
          </p:spPr>
          <p:txBody>
            <a:bodyPr wrap="square" rtlCol="0">
              <a:spAutoFit/>
            </a:bodyPr>
            <a:lstStyle/>
            <a:p>
              <a:pPr algn="ctr"/>
              <a:r>
                <a:rPr lang="zh-CN" altLang="en-US" sz="4800" spc="300" dirty="0">
                  <a:solidFill>
                    <a:srgbClr val="536482"/>
                  </a:solidFill>
                  <a:cs typeface="+mn-ea"/>
                  <a:sym typeface="+mn-lt"/>
                </a:rPr>
                <a:t>理论形成演变</a:t>
              </a:r>
              <a:endParaRPr lang="zh-CN" altLang="en-US" sz="4800" spc="300" dirty="0">
                <a:solidFill>
                  <a:srgbClr val="536482"/>
                </a:solidFill>
                <a:cs typeface="+mn-ea"/>
                <a:sym typeface="+mn-lt"/>
              </a:endParaRPr>
            </a:p>
          </p:txBody>
        </p:sp>
        <p:sp>
          <p:nvSpPr>
            <p:cNvPr id="10" name="矩形 9"/>
            <p:cNvSpPr/>
            <p:nvPr/>
          </p:nvSpPr>
          <p:spPr>
            <a:xfrm>
              <a:off x="1733683" y="3557317"/>
              <a:ext cx="3004497" cy="377411"/>
            </a:xfrm>
            <a:prstGeom prst="rect">
              <a:avLst/>
            </a:prstGeom>
            <a:noFill/>
          </p:spPr>
          <p:txBody>
            <a:bodyPr vert="horz" wrap="square" rtlCol="0">
              <a:spAutoFit/>
            </a:bodyPr>
            <a:lstStyle/>
            <a:p>
              <a:pPr>
                <a:lnSpc>
                  <a:spcPct val="150000"/>
                </a:lnSpc>
              </a:pPr>
              <a:r>
                <a:rPr lang="zh-CN" altLang="en-US" sz="1400" spc="300" dirty="0">
                  <a:cs typeface="+mn-ea"/>
                  <a:sym typeface="+mn-lt"/>
                </a:rPr>
                <a:t>在此处写下您的工作计划总结</a:t>
              </a:r>
              <a:endParaRPr lang="zh-CN" altLang="en-US" sz="1400" spc="3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792473" y="4523339"/>
            <a:ext cx="6607054" cy="6607054"/>
            <a:chOff x="3492910" y="3153951"/>
            <a:chExt cx="5206180" cy="5206180"/>
          </a:xfrm>
        </p:grpSpPr>
        <p:sp>
          <p:nvSpPr>
            <p:cNvPr id="16" name="椭圆 15"/>
            <p:cNvSpPr/>
            <p:nvPr/>
          </p:nvSpPr>
          <p:spPr>
            <a:xfrm>
              <a:off x="3492910" y="3153951"/>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5" name="图片 14"/>
            <p:cNvPicPr>
              <a:picLocks noChangeAspect="1"/>
            </p:cNvPicPr>
            <p:nvPr/>
          </p:nvPicPr>
          <p:blipFill rotWithShape="1">
            <a:blip r:embed="rId1" cstate="screen">
              <a:extLst>
                <a:ext uri="{BEBA8EAE-BF5A-486C-A8C5-ECC9F3942E4B}">
                  <a14:imgProps xmlns:a14="http://schemas.microsoft.com/office/drawing/2010/main">
                    <a14:imgLayer r:embed="rId2">
                      <a14:imgEffect>
                        <a14:colorTemperature colorTemp="7200"/>
                      </a14:imgEffect>
                      <a14:imgEffect>
                        <a14:saturation sat="66000"/>
                      </a14:imgEffect>
                    </a14:imgLayer>
                  </a14:imgProps>
                </a:ext>
              </a:extLst>
            </a:blip>
            <a:srcRect/>
            <a:stretch>
              <a:fillRect/>
            </a:stretch>
          </p:blipFill>
          <p:spPr>
            <a:xfrm>
              <a:off x="3999206" y="3465919"/>
              <a:ext cx="4213970" cy="4213970"/>
            </a:xfrm>
            <a:prstGeom prst="ellipse">
              <a:avLst/>
            </a:prstGeom>
          </p:spPr>
        </p:pic>
      </p:grpSp>
      <p:grpSp>
        <p:nvGrpSpPr>
          <p:cNvPr id="4" name="组合 3"/>
          <p:cNvGrpSpPr/>
          <p:nvPr/>
        </p:nvGrpSpPr>
        <p:grpSpPr>
          <a:xfrm>
            <a:off x="4876612" y="4392836"/>
            <a:ext cx="2438775" cy="627757"/>
            <a:chOff x="4922456" y="3565290"/>
            <a:chExt cx="2438775" cy="627757"/>
          </a:xfrm>
        </p:grpSpPr>
        <p:sp>
          <p:nvSpPr>
            <p:cNvPr id="3" name="矩形: 圆角 2"/>
            <p:cNvSpPr/>
            <p:nvPr/>
          </p:nvSpPr>
          <p:spPr>
            <a:xfrm>
              <a:off x="4922456" y="3565290"/>
              <a:ext cx="2358879" cy="62775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Rectangle 3"/>
            <p:cNvSpPr txBox="1">
              <a:spLocks noChangeArrowheads="1"/>
            </p:cNvSpPr>
            <p:nvPr/>
          </p:nvSpPr>
          <p:spPr>
            <a:xfrm>
              <a:off x="5002352" y="3679114"/>
              <a:ext cx="2358879"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36482"/>
                  </a:solidFill>
                  <a:latin typeface="+mn-lt"/>
                  <a:ea typeface="+mn-ea"/>
                  <a:cs typeface="+mn-ea"/>
                  <a:sym typeface="+mn-lt"/>
                </a:rPr>
                <a:t>现代管理学流派</a:t>
              </a:r>
              <a:endParaRPr lang="en-US" altLang="zh-CN" dirty="0">
                <a:solidFill>
                  <a:srgbClr val="536482"/>
                </a:solidFill>
                <a:latin typeface="+mn-lt"/>
                <a:ea typeface="+mn-ea"/>
                <a:cs typeface="+mn-ea"/>
                <a:sym typeface="+mn-lt"/>
              </a:endParaRPr>
            </a:p>
          </p:txBody>
        </p:sp>
      </p:grpSp>
      <p:grpSp>
        <p:nvGrpSpPr>
          <p:cNvPr id="21" name="组合 20"/>
          <p:cNvGrpSpPr/>
          <p:nvPr/>
        </p:nvGrpSpPr>
        <p:grpSpPr>
          <a:xfrm>
            <a:off x="862265" y="1769304"/>
            <a:ext cx="3555942" cy="2664097"/>
            <a:chOff x="1320670" y="1679526"/>
            <a:chExt cx="3555942" cy="2664097"/>
          </a:xfrm>
        </p:grpSpPr>
        <p:sp>
          <p:nvSpPr>
            <p:cNvPr id="19" name="矩形: 圆角 18"/>
            <p:cNvSpPr/>
            <p:nvPr/>
          </p:nvSpPr>
          <p:spPr>
            <a:xfrm>
              <a:off x="1320670" y="1829818"/>
              <a:ext cx="3555942" cy="2513805"/>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Rectangle 3"/>
            <p:cNvSpPr>
              <a:spLocks noChangeArrowheads="1"/>
            </p:cNvSpPr>
            <p:nvPr/>
          </p:nvSpPr>
          <p:spPr bwMode="auto">
            <a:xfrm>
              <a:off x="1689953" y="2236673"/>
              <a:ext cx="2866050" cy="1951816"/>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管理的理论知识解决不了现实问题，充其量是过时的经验；管理科学应建立在目前成功或失败的管理经验。</a:t>
              </a:r>
              <a:endParaRPr lang="zh-CN" altLang="en-US" sz="1600" spc="300" dirty="0">
                <a:cs typeface="+mn-ea"/>
                <a:sym typeface="+mn-lt"/>
              </a:endParaRPr>
            </a:p>
          </p:txBody>
        </p:sp>
        <p:sp>
          <p:nvSpPr>
            <p:cNvPr id="20" name="六边形 19"/>
            <p:cNvSpPr/>
            <p:nvPr/>
          </p:nvSpPr>
          <p:spPr>
            <a:xfrm>
              <a:off x="1907056" y="1728512"/>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9" name="矩形 8"/>
            <p:cNvSpPr/>
            <p:nvPr/>
          </p:nvSpPr>
          <p:spPr>
            <a:xfrm>
              <a:off x="2299676" y="1679526"/>
              <a:ext cx="1646605" cy="420115"/>
            </a:xfrm>
            <a:prstGeom prst="rect">
              <a:avLst/>
            </a:prstGeom>
          </p:spPr>
          <p:txBody>
            <a:bodyPr wrap="none">
              <a:spAutoFit/>
            </a:bodyPr>
            <a:lstStyle/>
            <a:p>
              <a:pPr algn="just">
                <a:lnSpc>
                  <a:spcPts val="2900"/>
                </a:lnSpc>
                <a:buClr>
                  <a:srgbClr val="000066"/>
                </a:buClr>
              </a:pPr>
              <a:r>
                <a:rPr lang="zh-CN" altLang="en-US" sz="1600" spc="300" dirty="0">
                  <a:solidFill>
                    <a:schemeClr val="bg1"/>
                  </a:solidFill>
                  <a:cs typeface="+mn-ea"/>
                  <a:sym typeface="+mn-lt"/>
                </a:rPr>
                <a:t>管理经验学派</a:t>
              </a:r>
              <a:endParaRPr lang="zh-CN" altLang="en-US" sz="1600" spc="300" dirty="0">
                <a:solidFill>
                  <a:schemeClr val="bg1"/>
                </a:solidFill>
                <a:cs typeface="+mn-ea"/>
                <a:sym typeface="+mn-lt"/>
              </a:endParaRPr>
            </a:p>
          </p:txBody>
        </p:sp>
      </p:grpSp>
      <p:grpSp>
        <p:nvGrpSpPr>
          <p:cNvPr id="27" name="组合 26"/>
          <p:cNvGrpSpPr/>
          <p:nvPr/>
        </p:nvGrpSpPr>
        <p:grpSpPr>
          <a:xfrm>
            <a:off x="7835531" y="1769304"/>
            <a:ext cx="3555942" cy="2664097"/>
            <a:chOff x="1320670" y="1679526"/>
            <a:chExt cx="3555942" cy="2664097"/>
          </a:xfrm>
        </p:grpSpPr>
        <p:sp>
          <p:nvSpPr>
            <p:cNvPr id="28" name="矩形: 圆角 27"/>
            <p:cNvSpPr/>
            <p:nvPr/>
          </p:nvSpPr>
          <p:spPr>
            <a:xfrm>
              <a:off x="1320670" y="1829818"/>
              <a:ext cx="3555942" cy="2513805"/>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9" name="Rectangle 3"/>
            <p:cNvSpPr>
              <a:spLocks noChangeArrowheads="1"/>
            </p:cNvSpPr>
            <p:nvPr/>
          </p:nvSpPr>
          <p:spPr bwMode="auto">
            <a:xfrm>
              <a:off x="1689953" y="2236673"/>
              <a:ext cx="2866050" cy="1579920"/>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管理就是决策</a:t>
              </a:r>
              <a:r>
                <a:rPr lang="en-US" altLang="zh-CN" sz="1600" spc="300" dirty="0">
                  <a:cs typeface="+mn-ea"/>
                  <a:sym typeface="+mn-lt"/>
                </a:rPr>
                <a:t>;</a:t>
              </a:r>
              <a:r>
                <a:rPr lang="zh-CN" altLang="en-US" sz="1600" spc="300" dirty="0">
                  <a:cs typeface="+mn-ea"/>
                  <a:sym typeface="+mn-lt"/>
                </a:rPr>
                <a:t>决策分为程序性决策和非程序性决策</a:t>
              </a:r>
              <a:r>
                <a:rPr lang="en-US" altLang="zh-CN" sz="1600" spc="300" dirty="0">
                  <a:cs typeface="+mn-ea"/>
                  <a:sym typeface="+mn-lt"/>
                </a:rPr>
                <a:t>;</a:t>
              </a:r>
              <a:r>
                <a:rPr lang="zh-CN" altLang="en-US" sz="1600" spc="300" dirty="0">
                  <a:cs typeface="+mn-ea"/>
                  <a:sym typeface="+mn-lt"/>
                </a:rPr>
                <a:t>有限理性决策模型 及其他类型。</a:t>
              </a:r>
              <a:endParaRPr lang="zh-CN" altLang="en-US" sz="1600" spc="300" dirty="0">
                <a:cs typeface="+mn-ea"/>
                <a:sym typeface="+mn-lt"/>
              </a:endParaRPr>
            </a:p>
          </p:txBody>
        </p:sp>
        <p:sp>
          <p:nvSpPr>
            <p:cNvPr id="30" name="六边形 29"/>
            <p:cNvSpPr/>
            <p:nvPr/>
          </p:nvSpPr>
          <p:spPr>
            <a:xfrm>
              <a:off x="1907056" y="1728512"/>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1" name="矩形 30"/>
            <p:cNvSpPr/>
            <p:nvPr/>
          </p:nvSpPr>
          <p:spPr>
            <a:xfrm>
              <a:off x="2299676" y="1679526"/>
              <a:ext cx="1646605" cy="420115"/>
            </a:xfrm>
            <a:prstGeom prst="rect">
              <a:avLst/>
            </a:prstGeom>
          </p:spPr>
          <p:txBody>
            <a:bodyPr wrap="none">
              <a:spAutoFit/>
            </a:bodyPr>
            <a:lstStyle/>
            <a:p>
              <a:pPr algn="just">
                <a:lnSpc>
                  <a:spcPts val="2900"/>
                </a:lnSpc>
                <a:buClr>
                  <a:srgbClr val="000066"/>
                </a:buClr>
              </a:pPr>
              <a:r>
                <a:rPr lang="zh-CN" altLang="en-US" sz="1600" spc="300" dirty="0">
                  <a:solidFill>
                    <a:schemeClr val="bg1"/>
                  </a:solidFill>
                  <a:cs typeface="+mn-ea"/>
                  <a:sym typeface="+mn-lt"/>
                </a:rPr>
                <a:t>系统管理学派</a:t>
              </a:r>
              <a:endParaRPr lang="zh-CN" altLang="en-US" sz="1600" spc="300" dirty="0">
                <a:solidFill>
                  <a:schemeClr val="bg1"/>
                </a:solidFill>
                <a:cs typeface="+mn-ea"/>
                <a:sym typeface="+mn-lt"/>
              </a:endParaRPr>
            </a:p>
          </p:txBody>
        </p:sp>
      </p:grpSp>
      <p:grpSp>
        <p:nvGrpSpPr>
          <p:cNvPr id="22" name="组合 21"/>
          <p:cNvGrpSpPr/>
          <p:nvPr/>
        </p:nvGrpSpPr>
        <p:grpSpPr>
          <a:xfrm>
            <a:off x="4348898" y="1373392"/>
            <a:ext cx="3555942" cy="2664097"/>
            <a:chOff x="1320670" y="1679526"/>
            <a:chExt cx="3555942" cy="2664097"/>
          </a:xfrm>
        </p:grpSpPr>
        <p:sp>
          <p:nvSpPr>
            <p:cNvPr id="23" name="矩形: 圆角 22"/>
            <p:cNvSpPr/>
            <p:nvPr/>
          </p:nvSpPr>
          <p:spPr>
            <a:xfrm>
              <a:off x="1320670" y="1829818"/>
              <a:ext cx="3555942" cy="2513805"/>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Rectangle 3"/>
            <p:cNvSpPr>
              <a:spLocks noChangeArrowheads="1"/>
            </p:cNvSpPr>
            <p:nvPr/>
          </p:nvSpPr>
          <p:spPr bwMode="auto">
            <a:xfrm>
              <a:off x="1689953" y="2236673"/>
              <a:ext cx="2866050" cy="1579920"/>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管理就是决策</a:t>
              </a:r>
              <a:r>
                <a:rPr lang="en-US" altLang="zh-CN" sz="1600" spc="300" dirty="0">
                  <a:cs typeface="+mn-ea"/>
                  <a:sym typeface="+mn-lt"/>
                </a:rPr>
                <a:t>;</a:t>
              </a:r>
              <a:r>
                <a:rPr lang="zh-CN" altLang="en-US" sz="1600" spc="300" dirty="0">
                  <a:cs typeface="+mn-ea"/>
                  <a:sym typeface="+mn-lt"/>
                </a:rPr>
                <a:t>决策分为程序性决策和非程序性决策</a:t>
              </a:r>
              <a:r>
                <a:rPr lang="en-US" altLang="zh-CN" sz="1600" spc="300" dirty="0">
                  <a:cs typeface="+mn-ea"/>
                  <a:sym typeface="+mn-lt"/>
                </a:rPr>
                <a:t>;</a:t>
              </a:r>
              <a:r>
                <a:rPr lang="zh-CN" altLang="en-US" sz="1600" spc="300" dirty="0">
                  <a:cs typeface="+mn-ea"/>
                  <a:sym typeface="+mn-lt"/>
                </a:rPr>
                <a:t>有限理性决策模型 （也叫满意模型） </a:t>
              </a:r>
              <a:endParaRPr lang="zh-CN" altLang="en-US" sz="1600" spc="300" dirty="0">
                <a:cs typeface="+mn-ea"/>
                <a:sym typeface="+mn-lt"/>
              </a:endParaRPr>
            </a:p>
          </p:txBody>
        </p:sp>
        <p:sp>
          <p:nvSpPr>
            <p:cNvPr id="25" name="六边形 24"/>
            <p:cNvSpPr/>
            <p:nvPr/>
          </p:nvSpPr>
          <p:spPr>
            <a:xfrm>
              <a:off x="1907056" y="1728512"/>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6" name="矩形 25"/>
            <p:cNvSpPr/>
            <p:nvPr/>
          </p:nvSpPr>
          <p:spPr>
            <a:xfrm>
              <a:off x="2299676" y="1679526"/>
              <a:ext cx="1646605" cy="420115"/>
            </a:xfrm>
            <a:prstGeom prst="rect">
              <a:avLst/>
            </a:prstGeom>
          </p:spPr>
          <p:txBody>
            <a:bodyPr wrap="none">
              <a:spAutoFit/>
            </a:bodyPr>
            <a:lstStyle/>
            <a:p>
              <a:pPr algn="just">
                <a:lnSpc>
                  <a:spcPts val="2900"/>
                </a:lnSpc>
                <a:buClr>
                  <a:srgbClr val="000066"/>
                </a:buClr>
              </a:pPr>
              <a:r>
                <a:rPr lang="zh-CN" altLang="en-US" sz="1600" spc="300" dirty="0">
                  <a:solidFill>
                    <a:schemeClr val="bg1"/>
                  </a:solidFill>
                  <a:cs typeface="+mn-ea"/>
                  <a:sym typeface="+mn-lt"/>
                </a:rPr>
                <a:t>决策理论学派</a:t>
              </a:r>
              <a:endParaRPr lang="zh-CN" altLang="en-US" sz="1600" spc="300" dirty="0">
                <a:solidFill>
                  <a:schemeClr val="bg1"/>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5097422" y="1875655"/>
            <a:ext cx="6010291" cy="1231115"/>
            <a:chOff x="5491020" y="2952177"/>
            <a:chExt cx="6010291" cy="1231115"/>
          </a:xfrm>
        </p:grpSpPr>
        <p:sp>
          <p:nvSpPr>
            <p:cNvPr id="20" name="六边形 19"/>
            <p:cNvSpPr/>
            <p:nvPr/>
          </p:nvSpPr>
          <p:spPr>
            <a:xfrm>
              <a:off x="5491020" y="2987153"/>
              <a:ext cx="192808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grpSp>
          <p:nvGrpSpPr>
            <p:cNvPr id="2" name="组合 1"/>
            <p:cNvGrpSpPr/>
            <p:nvPr/>
          </p:nvGrpSpPr>
          <p:grpSpPr>
            <a:xfrm>
              <a:off x="5603951" y="2952177"/>
              <a:ext cx="5897360" cy="1231115"/>
              <a:chOff x="4108354" y="2080597"/>
              <a:chExt cx="5897360" cy="1231115"/>
            </a:xfrm>
          </p:grpSpPr>
          <p:sp>
            <p:nvSpPr>
              <p:cNvPr id="4" name="Rectangle 2"/>
              <p:cNvSpPr txBox="1">
                <a:spLocks noChangeArrowheads="1"/>
              </p:cNvSpPr>
              <p:nvPr/>
            </p:nvSpPr>
            <p:spPr>
              <a:xfrm>
                <a:off x="4108354" y="2520662"/>
                <a:ext cx="5897360" cy="791050"/>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stStyle>
              <a:p>
                <a:r>
                  <a:rPr lang="zh-CN" altLang="en-US" dirty="0">
                    <a:solidFill>
                      <a:schemeClr val="tx1">
                        <a:lumMod val="95000"/>
                        <a:lumOff val="5000"/>
                      </a:schemeClr>
                    </a:solidFill>
                    <a:latin typeface="+mn-lt"/>
                    <a:ea typeface="+mn-ea"/>
                    <a:cs typeface="+mn-ea"/>
                    <a:sym typeface="+mn-lt"/>
                  </a:rPr>
                  <a:t>企业是一个人造的开放系统，由多个职能子系统组成，并与环境保持协调；企业组织是一个完整的系统；</a:t>
                </a:r>
                <a:endParaRPr lang="zh-CN" altLang="en-US" dirty="0">
                  <a:solidFill>
                    <a:schemeClr val="tx1">
                      <a:lumMod val="95000"/>
                      <a:lumOff val="5000"/>
                    </a:schemeClr>
                  </a:solidFill>
                  <a:latin typeface="+mn-lt"/>
                  <a:ea typeface="+mn-ea"/>
                  <a:cs typeface="+mn-ea"/>
                  <a:sym typeface="+mn-lt"/>
                </a:endParaRPr>
              </a:p>
            </p:txBody>
          </p:sp>
          <p:sp>
            <p:nvSpPr>
              <p:cNvPr id="5" name="矩形 4"/>
              <p:cNvSpPr/>
              <p:nvPr/>
            </p:nvSpPr>
            <p:spPr>
              <a:xfrm>
                <a:off x="4154648" y="2080597"/>
                <a:ext cx="1646605"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系统管理学派</a:t>
                </a:r>
                <a:endParaRPr lang="zh-CN" altLang="en-US" sz="1600" spc="300" dirty="0">
                  <a:solidFill>
                    <a:schemeClr val="bg1"/>
                  </a:solidFill>
                  <a:cs typeface="+mn-ea"/>
                  <a:sym typeface="+mn-lt"/>
                </a:endParaRPr>
              </a:p>
            </p:txBody>
          </p:sp>
        </p:grpSp>
      </p:grpSp>
      <p:grpSp>
        <p:nvGrpSpPr>
          <p:cNvPr id="22" name="组合 21"/>
          <p:cNvGrpSpPr/>
          <p:nvPr/>
        </p:nvGrpSpPr>
        <p:grpSpPr>
          <a:xfrm>
            <a:off x="5595915" y="3561342"/>
            <a:ext cx="5511798" cy="1269055"/>
            <a:chOff x="6313057" y="4644141"/>
            <a:chExt cx="5511798" cy="1269055"/>
          </a:xfrm>
        </p:grpSpPr>
        <p:sp>
          <p:nvSpPr>
            <p:cNvPr id="21" name="六边形 20"/>
            <p:cNvSpPr/>
            <p:nvPr/>
          </p:nvSpPr>
          <p:spPr>
            <a:xfrm>
              <a:off x="6338798" y="4682409"/>
              <a:ext cx="192808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grpSp>
          <p:nvGrpSpPr>
            <p:cNvPr id="6" name="组合 5"/>
            <p:cNvGrpSpPr/>
            <p:nvPr/>
          </p:nvGrpSpPr>
          <p:grpSpPr>
            <a:xfrm>
              <a:off x="6313057" y="4644141"/>
              <a:ext cx="5511798" cy="1269055"/>
              <a:chOff x="5098550" y="4074013"/>
              <a:chExt cx="5511798" cy="1269055"/>
            </a:xfrm>
          </p:grpSpPr>
          <p:sp>
            <p:nvSpPr>
              <p:cNvPr id="8" name="Rectangle 3"/>
              <p:cNvSpPr>
                <a:spLocks noChangeArrowheads="1"/>
              </p:cNvSpPr>
              <p:nvPr/>
            </p:nvSpPr>
            <p:spPr bwMode="auto">
              <a:xfrm>
                <a:off x="5098550" y="4551056"/>
                <a:ext cx="5511798" cy="792012"/>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组织成员的行为是复杂的、变化的，一种通用程序，管理的规律性与方法应建立在调查、分类的基础上。</a:t>
                </a:r>
                <a:endParaRPr lang="zh-CN" altLang="en-US" sz="1600" spc="300" dirty="0">
                  <a:solidFill>
                    <a:schemeClr val="tx1">
                      <a:lumMod val="95000"/>
                      <a:lumOff val="5000"/>
                    </a:schemeClr>
                  </a:solidFill>
                  <a:cs typeface="+mn-ea"/>
                  <a:sym typeface="+mn-lt"/>
                </a:endParaRPr>
              </a:p>
            </p:txBody>
          </p:sp>
          <p:sp>
            <p:nvSpPr>
              <p:cNvPr id="9" name="矩形 8"/>
              <p:cNvSpPr/>
              <p:nvPr/>
            </p:nvSpPr>
            <p:spPr>
              <a:xfrm>
                <a:off x="5334195" y="4074013"/>
                <a:ext cx="1646605" cy="420115"/>
              </a:xfrm>
              <a:prstGeom prst="rect">
                <a:avLst/>
              </a:prstGeom>
            </p:spPr>
            <p:txBody>
              <a:bodyPr wrap="none">
                <a:spAutoFit/>
              </a:bodyPr>
              <a:lstStyle/>
              <a:p>
                <a:pPr algn="just">
                  <a:lnSpc>
                    <a:spcPts val="2900"/>
                  </a:lnSpc>
                  <a:buClr>
                    <a:srgbClr val="000066"/>
                  </a:buClr>
                </a:pPr>
                <a:r>
                  <a:rPr lang="zh-CN" altLang="en-US" sz="1600" spc="300" dirty="0">
                    <a:solidFill>
                      <a:schemeClr val="bg1"/>
                    </a:solidFill>
                    <a:cs typeface="+mn-ea"/>
                    <a:sym typeface="+mn-lt"/>
                  </a:rPr>
                  <a:t>权变理论学派</a:t>
                </a:r>
                <a:endParaRPr lang="zh-CN" altLang="en-US" sz="1600" spc="300" dirty="0">
                  <a:solidFill>
                    <a:schemeClr val="bg1"/>
                  </a:solidFill>
                  <a:cs typeface="+mn-ea"/>
                  <a:sym typeface="+mn-lt"/>
                </a:endParaRPr>
              </a:p>
            </p:txBody>
          </p:sp>
        </p:grpSp>
      </p:grpSp>
      <p:grpSp>
        <p:nvGrpSpPr>
          <p:cNvPr id="19" name="组合 18"/>
          <p:cNvGrpSpPr/>
          <p:nvPr/>
        </p:nvGrpSpPr>
        <p:grpSpPr>
          <a:xfrm>
            <a:off x="915474" y="1590171"/>
            <a:ext cx="4119225" cy="5267829"/>
            <a:chOff x="749219" y="1821202"/>
            <a:chExt cx="4119225" cy="5267829"/>
          </a:xfrm>
        </p:grpSpPr>
        <p:sp>
          <p:nvSpPr>
            <p:cNvPr id="18" name="椭圆 17"/>
            <p:cNvSpPr/>
            <p:nvPr/>
          </p:nvSpPr>
          <p:spPr>
            <a:xfrm>
              <a:off x="749219" y="1821202"/>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0" name="图片 9"/>
            <p:cNvPicPr>
              <a:picLocks noChangeAspect="1"/>
            </p:cNvPicPr>
            <p:nvPr/>
          </p:nvPicPr>
          <p:blipFill rotWithShape="1">
            <a:blip r:embed="rId1" cstate="screen">
              <a:extLst>
                <a:ext uri="{BEBA8EAE-BF5A-486C-A8C5-ECC9F3942E4B}">
                  <a14:imgProps xmlns:a14="http://schemas.microsoft.com/office/drawing/2010/main">
                    <a14:imgLayer r:embed="rId2">
                      <a14:imgEffect>
                        <a14:colorTemperature colorTemp="7200"/>
                      </a14:imgEffect>
                      <a14:imgEffect>
                        <a14:saturation sat="66000"/>
                      </a14:imgEffect>
                    </a14:imgLayer>
                  </a14:imgProps>
                </a:ext>
              </a:extLst>
            </a:blip>
            <a:srcRect/>
            <a:stretch>
              <a:fillRect/>
            </a:stretch>
          </p:blipFill>
          <p:spPr>
            <a:xfrm>
              <a:off x="1013921" y="2106686"/>
              <a:ext cx="3368251" cy="3368251"/>
            </a:xfrm>
            <a:prstGeom prst="ellipse">
              <a:avLst/>
            </a:prstGeom>
          </p:spPr>
        </p:pic>
        <p:grpSp>
          <p:nvGrpSpPr>
            <p:cNvPr id="11" name="组合 10"/>
            <p:cNvGrpSpPr/>
            <p:nvPr/>
          </p:nvGrpSpPr>
          <p:grpSpPr>
            <a:xfrm>
              <a:off x="1014154" y="3049741"/>
              <a:ext cx="3854290" cy="4039290"/>
              <a:chOff x="6691608" y="4395407"/>
              <a:chExt cx="3247106" cy="3402961"/>
            </a:xfrm>
          </p:grpSpPr>
          <p:pic>
            <p:nvPicPr>
              <p:cNvPr id="12" name="图片 11"/>
              <p:cNvPicPr>
                <a:picLocks noChangeAspect="1"/>
              </p:cNvPicPr>
              <p:nvPr/>
            </p:nvPicPr>
            <p:blipFill>
              <a:blip r:embed="rId3" cstate="screen"/>
              <a:stretch>
                <a:fillRect/>
              </a:stretch>
            </p:blipFill>
            <p:spPr>
              <a:xfrm>
                <a:off x="8443949" y="4395407"/>
                <a:ext cx="687984" cy="2449223"/>
              </a:xfrm>
              <a:prstGeom prst="rect">
                <a:avLst/>
              </a:prstGeom>
            </p:spPr>
          </p:pic>
          <p:pic>
            <p:nvPicPr>
              <p:cNvPr id="13" name="图片 12"/>
              <p:cNvPicPr>
                <a:picLocks noChangeAspect="1"/>
              </p:cNvPicPr>
              <p:nvPr/>
            </p:nvPicPr>
            <p:blipFill>
              <a:blip r:embed="rId4" cstate="screen"/>
              <a:stretch>
                <a:fillRect/>
              </a:stretch>
            </p:blipFill>
            <p:spPr>
              <a:xfrm>
                <a:off x="6691608" y="5799601"/>
                <a:ext cx="235236" cy="1045029"/>
              </a:xfrm>
              <a:prstGeom prst="rect">
                <a:avLst/>
              </a:prstGeom>
            </p:spPr>
          </p:pic>
          <p:pic>
            <p:nvPicPr>
              <p:cNvPr id="14" name="图片 13"/>
              <p:cNvPicPr>
                <a:picLocks noChangeAspect="1"/>
              </p:cNvPicPr>
              <p:nvPr/>
            </p:nvPicPr>
            <p:blipFill>
              <a:blip r:embed="rId5" cstate="screen"/>
              <a:stretch>
                <a:fillRect/>
              </a:stretch>
            </p:blipFill>
            <p:spPr>
              <a:xfrm>
                <a:off x="7061171" y="4537314"/>
                <a:ext cx="523155" cy="2324101"/>
              </a:xfrm>
              <a:prstGeom prst="rect">
                <a:avLst/>
              </a:prstGeom>
            </p:spPr>
          </p:pic>
          <p:pic>
            <p:nvPicPr>
              <p:cNvPr id="15" name="图片 14"/>
              <p:cNvPicPr>
                <a:picLocks noChangeAspect="1"/>
              </p:cNvPicPr>
              <p:nvPr/>
            </p:nvPicPr>
            <p:blipFill>
              <a:blip r:embed="rId6" cstate="screen"/>
              <a:stretch>
                <a:fillRect/>
              </a:stretch>
            </p:blipFill>
            <p:spPr>
              <a:xfrm>
                <a:off x="8255222" y="5326143"/>
                <a:ext cx="349913" cy="1554480"/>
              </a:xfrm>
              <a:prstGeom prst="rect">
                <a:avLst/>
              </a:prstGeom>
            </p:spPr>
          </p:pic>
          <p:pic>
            <p:nvPicPr>
              <p:cNvPr id="16" name="图片 15"/>
              <p:cNvPicPr>
                <a:picLocks noChangeAspect="1"/>
              </p:cNvPicPr>
              <p:nvPr/>
            </p:nvPicPr>
            <p:blipFill>
              <a:blip r:embed="rId7" cstate="screen"/>
              <a:stretch>
                <a:fillRect/>
              </a:stretch>
            </p:blipFill>
            <p:spPr>
              <a:xfrm>
                <a:off x="9415558" y="4820194"/>
                <a:ext cx="523156" cy="2060429"/>
              </a:xfrm>
              <a:prstGeom prst="rect">
                <a:avLst/>
              </a:prstGeom>
            </p:spPr>
          </p:pic>
          <p:pic>
            <p:nvPicPr>
              <p:cNvPr id="17" name="图片 16"/>
              <p:cNvPicPr>
                <a:picLocks noChangeAspect="1"/>
              </p:cNvPicPr>
              <p:nvPr/>
            </p:nvPicPr>
            <p:blipFill>
              <a:blip r:embed="rId7" cstate="screen"/>
              <a:stretch>
                <a:fillRect/>
              </a:stretch>
            </p:blipFill>
            <p:spPr>
              <a:xfrm>
                <a:off x="7824652" y="5737939"/>
                <a:ext cx="523156" cy="2060429"/>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ppt_x"/>
                                          </p:val>
                                        </p:tav>
                                        <p:tav tm="100000">
                                          <p:val>
                                            <p:strVal val="#ppt_x"/>
                                          </p:val>
                                        </p:tav>
                                      </p:tavLst>
                                    </p:anim>
                                    <p:anim calcmode="lin" valueType="num">
                                      <p:cBhvr additive="base">
                                        <p:cTn id="1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rotWithShape="1">
          <a:blip r:embed="rId1" cstate="screen">
            <a:extLst>
              <a:ext uri="{BEBA8EAE-BF5A-486C-A8C5-ECC9F3942E4B}">
                <a14:imgProps xmlns:a14="http://schemas.microsoft.com/office/drawing/2010/main">
                  <a14:imgLayer r:embed="rId2">
                    <a14:imgEffect>
                      <a14:colorTemperature colorTemp="7200"/>
                    </a14:imgEffect>
                    <a14:imgEffect>
                      <a14:saturation sat="66000"/>
                    </a14:imgEffect>
                  </a14:imgLayer>
                </a14:imgProps>
              </a:ext>
            </a:extLst>
          </a:blip>
          <a:srcRect/>
          <a:stretch>
            <a:fillRect/>
          </a:stretch>
        </p:blipFill>
        <p:spPr>
          <a:xfrm>
            <a:off x="8919765" y="1896627"/>
            <a:ext cx="2129755" cy="3629257"/>
          </a:xfrm>
          <a:prstGeom prst="roundRect">
            <a:avLst>
              <a:gd name="adj" fmla="val 38353"/>
            </a:avLst>
          </a:prstGeom>
        </p:spPr>
      </p:pic>
      <p:pic>
        <p:nvPicPr>
          <p:cNvPr id="22" name="图片 21"/>
          <p:cNvPicPr>
            <a:picLocks noChangeAspect="1"/>
          </p:cNvPicPr>
          <p:nvPr/>
        </p:nvPicPr>
        <p:blipFill rotWithShape="1">
          <a:blip r:embed="rId3" cstate="screen">
            <a:extLst>
              <a:ext uri="{BEBA8EAE-BF5A-486C-A8C5-ECC9F3942E4B}">
                <a14:imgProps xmlns:a14="http://schemas.microsoft.com/office/drawing/2010/main">
                  <a14:imgLayer r:embed="rId4">
                    <a14:imgEffect>
                      <a14:colorTemperature colorTemp="7200"/>
                    </a14:imgEffect>
                    <a14:imgEffect>
                      <a14:saturation sat="66000"/>
                    </a14:imgEffect>
                  </a14:imgLayer>
                </a14:imgProps>
              </a:ext>
            </a:extLst>
          </a:blip>
          <a:srcRect/>
          <a:stretch>
            <a:fillRect/>
          </a:stretch>
        </p:blipFill>
        <p:spPr>
          <a:xfrm>
            <a:off x="3960294" y="1896627"/>
            <a:ext cx="2129755" cy="3629257"/>
          </a:xfrm>
          <a:prstGeom prst="roundRect">
            <a:avLst>
              <a:gd name="adj" fmla="val 38353"/>
            </a:avLst>
          </a:prstGeom>
        </p:spPr>
      </p:pic>
      <p:grpSp>
        <p:nvGrpSpPr>
          <p:cNvPr id="21" name="组合 20"/>
          <p:cNvGrpSpPr/>
          <p:nvPr/>
        </p:nvGrpSpPr>
        <p:grpSpPr>
          <a:xfrm>
            <a:off x="1173746" y="1529729"/>
            <a:ext cx="2743380" cy="4325340"/>
            <a:chOff x="1425117" y="1566305"/>
            <a:chExt cx="2743380" cy="4325340"/>
          </a:xfrm>
        </p:grpSpPr>
        <p:sp>
          <p:nvSpPr>
            <p:cNvPr id="18" name="矩形: 圆角 17"/>
            <p:cNvSpPr/>
            <p:nvPr/>
          </p:nvSpPr>
          <p:spPr>
            <a:xfrm>
              <a:off x="1425117" y="1566305"/>
              <a:ext cx="2743380" cy="4325340"/>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Rectangle 2"/>
            <p:cNvSpPr txBox="1">
              <a:spLocks noChangeArrowheads="1"/>
            </p:cNvSpPr>
            <p:nvPr/>
          </p:nvSpPr>
          <p:spPr>
            <a:xfrm>
              <a:off x="1681585" y="2788971"/>
              <a:ext cx="2230443" cy="2695610"/>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stStyle>
            <a:p>
              <a:r>
                <a:rPr lang="zh-CN" altLang="en-US" dirty="0">
                  <a:latin typeface="+mn-lt"/>
                  <a:ea typeface="+mn-ea"/>
                  <a:cs typeface="+mn-ea"/>
                  <a:sym typeface="+mn-lt"/>
                </a:rPr>
                <a:t>尽量减少决策中的个人艺术成分，尽量以数量方法客观描述；决策依据尽量以经济效果为准；尽量使用数理方法与计算机</a:t>
              </a:r>
              <a:endParaRPr lang="zh-CN" altLang="en-US" dirty="0">
                <a:latin typeface="+mn-lt"/>
                <a:ea typeface="+mn-ea"/>
                <a:cs typeface="+mn-ea"/>
                <a:sym typeface="+mn-lt"/>
              </a:endParaRPr>
            </a:p>
          </p:txBody>
        </p:sp>
        <p:grpSp>
          <p:nvGrpSpPr>
            <p:cNvPr id="17" name="组合 16"/>
            <p:cNvGrpSpPr/>
            <p:nvPr/>
          </p:nvGrpSpPr>
          <p:grpSpPr>
            <a:xfrm>
              <a:off x="1832763" y="2327600"/>
              <a:ext cx="1928089" cy="461371"/>
              <a:chOff x="1246243" y="2450748"/>
              <a:chExt cx="1928089" cy="461371"/>
            </a:xfrm>
          </p:grpSpPr>
          <p:sp>
            <p:nvSpPr>
              <p:cNvPr id="14" name="六边形 13"/>
              <p:cNvSpPr/>
              <p:nvPr/>
            </p:nvSpPr>
            <p:spPr>
              <a:xfrm>
                <a:off x="1246243" y="2473344"/>
                <a:ext cx="192808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7" name="矩形 6"/>
              <p:cNvSpPr/>
              <p:nvPr/>
            </p:nvSpPr>
            <p:spPr>
              <a:xfrm>
                <a:off x="1386986" y="2450748"/>
                <a:ext cx="1646605"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管理科学学派</a:t>
                </a:r>
                <a:endParaRPr lang="zh-CN" altLang="en-US" sz="1600" spc="300" dirty="0">
                  <a:solidFill>
                    <a:schemeClr val="bg1"/>
                  </a:solidFill>
                  <a:cs typeface="+mn-ea"/>
                  <a:sym typeface="+mn-lt"/>
                </a:endParaRPr>
              </a:p>
            </p:txBody>
          </p:sp>
        </p:grpSp>
      </p:grpSp>
      <p:grpSp>
        <p:nvGrpSpPr>
          <p:cNvPr id="20" name="组合 19"/>
          <p:cNvGrpSpPr/>
          <p:nvPr/>
        </p:nvGrpSpPr>
        <p:grpSpPr>
          <a:xfrm>
            <a:off x="6133217" y="1529729"/>
            <a:ext cx="2743380" cy="4325340"/>
            <a:chOff x="4060097" y="1566305"/>
            <a:chExt cx="2743380" cy="4325340"/>
          </a:xfrm>
        </p:grpSpPr>
        <p:sp>
          <p:nvSpPr>
            <p:cNvPr id="19" name="矩形: 圆角 18"/>
            <p:cNvSpPr/>
            <p:nvPr/>
          </p:nvSpPr>
          <p:spPr>
            <a:xfrm>
              <a:off x="4060097" y="1566305"/>
              <a:ext cx="2743380" cy="4325340"/>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Rectangle 3"/>
            <p:cNvSpPr>
              <a:spLocks noChangeArrowheads="1"/>
            </p:cNvSpPr>
            <p:nvPr/>
          </p:nvSpPr>
          <p:spPr bwMode="auto">
            <a:xfrm>
              <a:off x="4352014" y="2777174"/>
              <a:ext cx="2230442" cy="232371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让别人同自己去实现既定的目标；管理的职能具有普遍性；管理应具有灵活性，要因地制宜，灵活应用。</a:t>
              </a:r>
              <a:endParaRPr lang="zh-CN" altLang="en-US" sz="1600" spc="300" dirty="0">
                <a:cs typeface="+mn-ea"/>
                <a:sym typeface="+mn-lt"/>
              </a:endParaRPr>
            </a:p>
          </p:txBody>
        </p:sp>
        <p:grpSp>
          <p:nvGrpSpPr>
            <p:cNvPr id="16" name="组合 15"/>
            <p:cNvGrpSpPr/>
            <p:nvPr/>
          </p:nvGrpSpPr>
          <p:grpSpPr>
            <a:xfrm>
              <a:off x="4467743" y="2327600"/>
              <a:ext cx="1928089" cy="469286"/>
              <a:chOff x="5234687" y="1750598"/>
              <a:chExt cx="1928089" cy="469286"/>
            </a:xfrm>
          </p:grpSpPr>
          <p:sp>
            <p:nvSpPr>
              <p:cNvPr id="15" name="六边形 14"/>
              <p:cNvSpPr/>
              <p:nvPr/>
            </p:nvSpPr>
            <p:spPr>
              <a:xfrm>
                <a:off x="5234687" y="1781109"/>
                <a:ext cx="1928089"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3" name="矩形 12"/>
              <p:cNvSpPr/>
              <p:nvPr/>
            </p:nvSpPr>
            <p:spPr>
              <a:xfrm>
                <a:off x="5375430" y="1750598"/>
                <a:ext cx="1646605" cy="420115"/>
              </a:xfrm>
              <a:prstGeom prst="rect">
                <a:avLst/>
              </a:prstGeom>
            </p:spPr>
            <p:txBody>
              <a:bodyPr wrap="none">
                <a:spAutoFit/>
              </a:bodyPr>
              <a:lstStyle/>
              <a:p>
                <a:pPr algn="just">
                  <a:lnSpc>
                    <a:spcPts val="2900"/>
                  </a:lnSpc>
                  <a:buClr>
                    <a:srgbClr val="000066"/>
                  </a:buClr>
                </a:pPr>
                <a:r>
                  <a:rPr lang="zh-CN" altLang="en-US" sz="1600" spc="300" dirty="0">
                    <a:solidFill>
                      <a:schemeClr val="bg1"/>
                    </a:solidFill>
                    <a:cs typeface="+mn-ea"/>
                    <a:sym typeface="+mn-lt"/>
                  </a:rPr>
                  <a:t>管理过程学派</a:t>
                </a:r>
                <a:endParaRPr lang="zh-CN" altLang="en-US" sz="1600" spc="300" dirty="0">
                  <a:solidFill>
                    <a:schemeClr val="bg1"/>
                  </a:solidFill>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randombar(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03</a:t>
            </a:r>
            <a:endParaRPr lang="zh-CN" altLang="en-US" sz="6600" dirty="0">
              <a:solidFill>
                <a:srgbClr val="536482"/>
              </a:solidFill>
              <a:cs typeface="+mn-ea"/>
              <a:sym typeface="+mn-lt"/>
            </a:endParaRPr>
          </a:p>
        </p:txBody>
      </p:sp>
      <p:grpSp>
        <p:nvGrpSpPr>
          <p:cNvPr id="8" name="组合 7"/>
          <p:cNvGrpSpPr/>
          <p:nvPr/>
        </p:nvGrpSpPr>
        <p:grpSpPr>
          <a:xfrm>
            <a:off x="3793246" y="2780683"/>
            <a:ext cx="4665165" cy="1292081"/>
            <a:chOff x="903350" y="2642647"/>
            <a:chExt cx="4665165" cy="1292081"/>
          </a:xfrm>
        </p:grpSpPr>
        <p:sp>
          <p:nvSpPr>
            <p:cNvPr id="9" name="文本框 8"/>
            <p:cNvSpPr txBox="1"/>
            <p:nvPr/>
          </p:nvSpPr>
          <p:spPr>
            <a:xfrm>
              <a:off x="903350" y="2642647"/>
              <a:ext cx="4665165" cy="830997"/>
            </a:xfrm>
            <a:prstGeom prst="rect">
              <a:avLst/>
            </a:prstGeom>
            <a:noFill/>
          </p:spPr>
          <p:txBody>
            <a:bodyPr wrap="square" rtlCol="0">
              <a:spAutoFit/>
            </a:bodyPr>
            <a:lstStyle/>
            <a:p>
              <a:pPr algn="ctr"/>
              <a:r>
                <a:rPr lang="zh-CN" altLang="en-US" sz="4800" spc="300" dirty="0">
                  <a:solidFill>
                    <a:srgbClr val="536482"/>
                  </a:solidFill>
                  <a:cs typeface="+mn-ea"/>
                  <a:sym typeface="+mn-lt"/>
                </a:rPr>
                <a:t>管理基本职能</a:t>
              </a:r>
              <a:endParaRPr lang="zh-CN" altLang="en-US" sz="4800" spc="300" dirty="0">
                <a:solidFill>
                  <a:srgbClr val="536482"/>
                </a:solidFill>
                <a:cs typeface="+mn-ea"/>
                <a:sym typeface="+mn-lt"/>
              </a:endParaRPr>
            </a:p>
          </p:txBody>
        </p:sp>
        <p:sp>
          <p:nvSpPr>
            <p:cNvPr id="10" name="矩形 9"/>
            <p:cNvSpPr/>
            <p:nvPr/>
          </p:nvSpPr>
          <p:spPr>
            <a:xfrm>
              <a:off x="1733683" y="3557317"/>
              <a:ext cx="3004497" cy="377411"/>
            </a:xfrm>
            <a:prstGeom prst="rect">
              <a:avLst/>
            </a:prstGeom>
            <a:noFill/>
          </p:spPr>
          <p:txBody>
            <a:bodyPr vert="horz" wrap="square" rtlCol="0">
              <a:spAutoFit/>
            </a:bodyPr>
            <a:lstStyle/>
            <a:p>
              <a:pPr>
                <a:lnSpc>
                  <a:spcPct val="150000"/>
                </a:lnSpc>
              </a:pPr>
              <a:r>
                <a:rPr lang="zh-CN" altLang="en-US" sz="1400" spc="300" dirty="0">
                  <a:cs typeface="+mn-ea"/>
                  <a:sym typeface="+mn-lt"/>
                </a:rPr>
                <a:t>在此处写下您的工作计划总结</a:t>
              </a:r>
              <a:endParaRPr lang="zh-CN" altLang="en-US" sz="1400" spc="3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8839114" y="3668115"/>
            <a:ext cx="1979635" cy="157861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决策的主体既可以是组织，也可以是组织中的个人。</a:t>
            </a:r>
            <a:endParaRPr lang="zh-CN" altLang="en-US" sz="1600" spc="300" dirty="0">
              <a:solidFill>
                <a:schemeClr val="tx1">
                  <a:lumMod val="95000"/>
                  <a:lumOff val="5000"/>
                </a:schemeClr>
              </a:solidFill>
              <a:cs typeface="+mn-ea"/>
              <a:sym typeface="+mn-lt"/>
            </a:endParaRPr>
          </a:p>
        </p:txBody>
      </p:sp>
      <p:sp>
        <p:nvSpPr>
          <p:cNvPr id="3" name="矩形 2"/>
          <p:cNvSpPr/>
          <p:nvPr>
            <p:custDataLst>
              <p:tags r:id="rId2"/>
            </p:custDataLst>
          </p:nvPr>
        </p:nvSpPr>
        <p:spPr>
          <a:xfrm>
            <a:off x="1533328" y="3668115"/>
            <a:ext cx="1931593" cy="157861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可以是组织或个人活动的选择，也可以是对这种活动的调整。</a:t>
            </a:r>
            <a:endParaRPr lang="zh-CN" altLang="en-US" sz="1600" spc="300" dirty="0">
              <a:solidFill>
                <a:schemeClr val="tx1">
                  <a:lumMod val="95000"/>
                  <a:lumOff val="5000"/>
                </a:schemeClr>
              </a:solidFill>
              <a:cs typeface="+mn-ea"/>
              <a:sym typeface="+mn-lt"/>
            </a:endParaRPr>
          </a:p>
        </p:txBody>
      </p:sp>
      <p:sp>
        <p:nvSpPr>
          <p:cNvPr id="4" name="矩形 3"/>
          <p:cNvSpPr/>
          <p:nvPr>
            <p:custDataLst>
              <p:tags r:id="rId3"/>
            </p:custDataLst>
          </p:nvPr>
        </p:nvSpPr>
        <p:spPr>
          <a:xfrm>
            <a:off x="6317579" y="3668115"/>
            <a:ext cx="2017718" cy="195072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决策选择或调整的对象，可以是在特定方向下从事某种活动的方式。</a:t>
            </a:r>
            <a:endParaRPr lang="zh-CN" altLang="en-US" sz="1600" spc="300" dirty="0">
              <a:solidFill>
                <a:schemeClr val="tx1">
                  <a:lumMod val="95000"/>
                  <a:lumOff val="5000"/>
                </a:schemeClr>
              </a:solidFill>
              <a:cs typeface="+mn-ea"/>
              <a:sym typeface="+mn-lt"/>
            </a:endParaRPr>
          </a:p>
        </p:txBody>
      </p:sp>
      <p:sp>
        <p:nvSpPr>
          <p:cNvPr id="5" name="矩形 4"/>
          <p:cNvSpPr/>
          <p:nvPr>
            <p:custDataLst>
              <p:tags r:id="rId4"/>
            </p:custDataLst>
          </p:nvPr>
        </p:nvSpPr>
        <p:spPr>
          <a:xfrm>
            <a:off x="3968737" y="3668115"/>
            <a:ext cx="1845026" cy="157861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可以是未来较长的时期，也可仅仅是某个较短的时段。</a:t>
            </a:r>
            <a:endParaRPr lang="zh-CN" altLang="en-US" sz="1600" spc="300" dirty="0">
              <a:solidFill>
                <a:schemeClr val="tx1">
                  <a:lumMod val="95000"/>
                  <a:lumOff val="5000"/>
                </a:schemeClr>
              </a:solidFill>
              <a:cs typeface="+mn-ea"/>
              <a:sym typeface="+mn-lt"/>
            </a:endParaRPr>
          </a:p>
        </p:txBody>
      </p:sp>
      <p:grpSp>
        <p:nvGrpSpPr>
          <p:cNvPr id="7" name="组合 6"/>
          <p:cNvGrpSpPr/>
          <p:nvPr/>
        </p:nvGrpSpPr>
        <p:grpSpPr>
          <a:xfrm>
            <a:off x="5186176" y="1648950"/>
            <a:ext cx="1774153" cy="627757"/>
            <a:chOff x="4922456" y="3565290"/>
            <a:chExt cx="2191088" cy="627757"/>
          </a:xfrm>
        </p:grpSpPr>
        <p:sp>
          <p:nvSpPr>
            <p:cNvPr id="8" name="矩形: 圆角 7"/>
            <p:cNvSpPr/>
            <p:nvPr/>
          </p:nvSpPr>
          <p:spPr>
            <a:xfrm>
              <a:off x="4922456" y="3565290"/>
              <a:ext cx="2191088" cy="627757"/>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Rectangle 3"/>
            <p:cNvSpPr txBox="1">
              <a:spLocks noChangeArrowheads="1"/>
            </p:cNvSpPr>
            <p:nvPr/>
          </p:nvSpPr>
          <p:spPr>
            <a:xfrm>
              <a:off x="5002352" y="3679114"/>
              <a:ext cx="2063112"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36482"/>
                  </a:solidFill>
                  <a:latin typeface="+mn-lt"/>
                  <a:ea typeface="+mn-ea"/>
                  <a:cs typeface="+mn-ea"/>
                  <a:sym typeface="+mn-lt"/>
                </a:rPr>
                <a:t>决策的概念</a:t>
              </a:r>
              <a:endParaRPr lang="en-US" altLang="zh-CN" dirty="0">
                <a:solidFill>
                  <a:srgbClr val="536482"/>
                </a:solidFill>
                <a:latin typeface="+mn-lt"/>
                <a:ea typeface="+mn-ea"/>
                <a:cs typeface="+mn-ea"/>
                <a:sym typeface="+mn-lt"/>
              </a:endParaRPr>
            </a:p>
          </p:txBody>
        </p:sp>
      </p:grpSp>
      <p:grpSp>
        <p:nvGrpSpPr>
          <p:cNvPr id="22" name="组合 21"/>
          <p:cNvGrpSpPr/>
          <p:nvPr>
            <p:custDataLst>
              <p:tags r:id="rId5"/>
            </p:custDataLst>
          </p:nvPr>
        </p:nvGrpSpPr>
        <p:grpSpPr>
          <a:xfrm>
            <a:off x="1233338" y="2558261"/>
            <a:ext cx="9990742" cy="876429"/>
            <a:chOff x="1280632" y="2564369"/>
            <a:chExt cx="8451065" cy="1514496"/>
          </a:xfrm>
          <a:solidFill>
            <a:srgbClr val="536482"/>
          </a:solidFill>
        </p:grpSpPr>
        <p:sp>
          <p:nvSpPr>
            <p:cNvPr id="11" name="Shape 333"/>
            <p:cNvSpPr/>
            <p:nvPr>
              <p:custDataLst>
                <p:tags r:id="rId6"/>
              </p:custDataLst>
            </p:nvPr>
          </p:nvSpPr>
          <p:spPr>
            <a:xfrm>
              <a:off x="1280632"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grp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14" name="Shape 338"/>
            <p:cNvSpPr/>
            <p:nvPr>
              <p:custDataLst>
                <p:tags r:id="rId7"/>
              </p:custDataLst>
            </p:nvPr>
          </p:nvSpPr>
          <p:spPr>
            <a:xfrm>
              <a:off x="3298006"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ADB9CA"/>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17" name="Shape 343"/>
            <p:cNvSpPr/>
            <p:nvPr>
              <p:custDataLst>
                <p:tags r:id="rId8"/>
              </p:custDataLst>
            </p:nvPr>
          </p:nvSpPr>
          <p:spPr>
            <a:xfrm>
              <a:off x="5365220" y="2564369"/>
              <a:ext cx="2316294"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grp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20" name="Shape 348"/>
            <p:cNvSpPr/>
            <p:nvPr>
              <p:custDataLst>
                <p:tags r:id="rId9"/>
              </p:custDataLst>
            </p:nvPr>
          </p:nvSpPr>
          <p:spPr>
            <a:xfrm>
              <a:off x="7415406" y="2564369"/>
              <a:ext cx="2316291" cy="15144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ADB9CA"/>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grpSp>
      <p:grpSp>
        <p:nvGrpSpPr>
          <p:cNvPr id="23" name="组合 22"/>
          <p:cNvGrpSpPr/>
          <p:nvPr>
            <p:custDataLst>
              <p:tags r:id="rId10"/>
            </p:custDataLst>
          </p:nvPr>
        </p:nvGrpSpPr>
        <p:grpSpPr>
          <a:xfrm>
            <a:off x="4674427" y="2709986"/>
            <a:ext cx="724494" cy="724494"/>
            <a:chOff x="6283390" y="3838992"/>
            <a:chExt cx="724494" cy="724494"/>
          </a:xfrm>
          <a:solidFill>
            <a:schemeClr val="bg1"/>
          </a:solidFill>
        </p:grpSpPr>
        <p:sp>
          <p:nvSpPr>
            <p:cNvPr id="24" name="Donut 65"/>
            <p:cNvSpPr/>
            <p:nvPr>
              <p:custDataLst>
                <p:tags r:id="rId11"/>
              </p:custDataLst>
            </p:nvPr>
          </p:nvSpPr>
          <p:spPr>
            <a:xfrm>
              <a:off x="6283390" y="383899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sp>
          <p:nvSpPr>
            <p:cNvPr id="25" name="Freeform 66"/>
            <p:cNvSpPr>
              <a:spLocks noEditPoints="1"/>
            </p:cNvSpPr>
            <p:nvPr>
              <p:custDataLst>
                <p:tags r:id="rId12"/>
              </p:custDataLst>
            </p:nvPr>
          </p:nvSpPr>
          <p:spPr bwMode="auto">
            <a:xfrm>
              <a:off x="6489146" y="4036433"/>
              <a:ext cx="312978" cy="329611"/>
            </a:xfrm>
            <a:custGeom>
              <a:avLst/>
              <a:gdLst>
                <a:gd name="T0" fmla="*/ 20 w 96"/>
                <a:gd name="T1" fmla="*/ 86 h 101"/>
                <a:gd name="T2" fmla="*/ 7 w 96"/>
                <a:gd name="T3" fmla="*/ 58 h 101"/>
                <a:gd name="T4" fmla="*/ 18 w 96"/>
                <a:gd name="T5" fmla="*/ 29 h 101"/>
                <a:gd name="T6" fmla="*/ 42 w 96"/>
                <a:gd name="T7" fmla="*/ 17 h 101"/>
                <a:gd name="T8" fmla="*/ 41 w 96"/>
                <a:gd name="T9" fmla="*/ 9 h 101"/>
                <a:gd name="T10" fmla="*/ 36 w 96"/>
                <a:gd name="T11" fmla="*/ 10 h 101"/>
                <a:gd name="T12" fmla="*/ 35 w 96"/>
                <a:gd name="T13" fmla="*/ 5 h 101"/>
                <a:gd name="T14" fmla="*/ 48 w 96"/>
                <a:gd name="T15" fmla="*/ 3 h 101"/>
                <a:gd name="T16" fmla="*/ 49 w 96"/>
                <a:gd name="T17" fmla="*/ 8 h 101"/>
                <a:gd name="T18" fmla="*/ 44 w 96"/>
                <a:gd name="T19" fmla="*/ 9 h 101"/>
                <a:gd name="T20" fmla="*/ 46 w 96"/>
                <a:gd name="T21" fmla="*/ 16 h 101"/>
                <a:gd name="T22" fmla="*/ 74 w 96"/>
                <a:gd name="T23" fmla="*/ 27 h 101"/>
                <a:gd name="T24" fmla="*/ 87 w 96"/>
                <a:gd name="T25" fmla="*/ 54 h 101"/>
                <a:gd name="T26" fmla="*/ 77 w 96"/>
                <a:gd name="T27" fmla="*/ 83 h 101"/>
                <a:gd name="T28" fmla="*/ 75 w 96"/>
                <a:gd name="T29" fmla="*/ 85 h 101"/>
                <a:gd name="T30" fmla="*/ 79 w 96"/>
                <a:gd name="T31" fmla="*/ 101 h 101"/>
                <a:gd name="T32" fmla="*/ 74 w 96"/>
                <a:gd name="T33" fmla="*/ 101 h 101"/>
                <a:gd name="T34" fmla="*/ 63 w 96"/>
                <a:gd name="T35" fmla="*/ 93 h 101"/>
                <a:gd name="T36" fmla="*/ 49 w 96"/>
                <a:gd name="T37" fmla="*/ 96 h 101"/>
                <a:gd name="T38" fmla="*/ 32 w 96"/>
                <a:gd name="T39" fmla="*/ 93 h 101"/>
                <a:gd name="T40" fmla="*/ 22 w 96"/>
                <a:gd name="T41" fmla="*/ 101 h 101"/>
                <a:gd name="T42" fmla="*/ 17 w 96"/>
                <a:gd name="T43" fmla="*/ 101 h 101"/>
                <a:gd name="T44" fmla="*/ 21 w 96"/>
                <a:gd name="T45" fmla="*/ 86 h 101"/>
                <a:gd name="T46" fmla="*/ 20 w 96"/>
                <a:gd name="T47" fmla="*/ 86 h 101"/>
                <a:gd name="T48" fmla="*/ 82 w 96"/>
                <a:gd name="T49" fmla="*/ 6 h 101"/>
                <a:gd name="T50" fmla="*/ 60 w 96"/>
                <a:gd name="T51" fmla="*/ 11 h 101"/>
                <a:gd name="T52" fmla="*/ 92 w 96"/>
                <a:gd name="T53" fmla="*/ 31 h 101"/>
                <a:gd name="T54" fmla="*/ 88 w 96"/>
                <a:gd name="T55" fmla="*/ 9 h 101"/>
                <a:gd name="T56" fmla="*/ 92 w 96"/>
                <a:gd name="T57" fmla="*/ 3 h 101"/>
                <a:gd name="T58" fmla="*/ 86 w 96"/>
                <a:gd name="T59" fmla="*/ 0 h 101"/>
                <a:gd name="T60" fmla="*/ 82 w 96"/>
                <a:gd name="T61" fmla="*/ 6 h 101"/>
                <a:gd name="T62" fmla="*/ 14 w 96"/>
                <a:gd name="T63" fmla="*/ 6 h 101"/>
                <a:gd name="T64" fmla="*/ 10 w 96"/>
                <a:gd name="T65" fmla="*/ 0 h 101"/>
                <a:gd name="T66" fmla="*/ 4 w 96"/>
                <a:gd name="T67" fmla="*/ 3 h 101"/>
                <a:gd name="T68" fmla="*/ 8 w 96"/>
                <a:gd name="T69" fmla="*/ 9 h 101"/>
                <a:gd name="T70" fmla="*/ 4 w 96"/>
                <a:gd name="T71" fmla="*/ 31 h 101"/>
                <a:gd name="T72" fmla="*/ 36 w 96"/>
                <a:gd name="T73" fmla="*/ 11 h 101"/>
                <a:gd name="T74" fmla="*/ 14 w 96"/>
                <a:gd name="T75" fmla="*/ 6 h 101"/>
                <a:gd name="T76" fmla="*/ 43 w 96"/>
                <a:gd name="T77" fmla="*/ 54 h 101"/>
                <a:gd name="T78" fmla="*/ 42 w 96"/>
                <a:gd name="T79" fmla="*/ 56 h 101"/>
                <a:gd name="T80" fmla="*/ 22 w 96"/>
                <a:gd name="T81" fmla="*/ 61 h 101"/>
                <a:gd name="T82" fmla="*/ 22 w 96"/>
                <a:gd name="T83" fmla="*/ 64 h 101"/>
                <a:gd name="T84" fmla="*/ 43 w 96"/>
                <a:gd name="T85" fmla="*/ 59 h 101"/>
                <a:gd name="T86" fmla="*/ 46 w 96"/>
                <a:gd name="T87" fmla="*/ 61 h 101"/>
                <a:gd name="T88" fmla="*/ 54 w 96"/>
                <a:gd name="T89" fmla="*/ 58 h 101"/>
                <a:gd name="T90" fmla="*/ 50 w 96"/>
                <a:gd name="T91" fmla="*/ 50 h 101"/>
                <a:gd name="T92" fmla="*/ 49 w 96"/>
                <a:gd name="T93" fmla="*/ 50 h 101"/>
                <a:gd name="T94" fmla="*/ 41 w 96"/>
                <a:gd name="T95" fmla="*/ 37 h 101"/>
                <a:gd name="T96" fmla="*/ 38 w 96"/>
                <a:gd name="T97" fmla="*/ 39 h 101"/>
                <a:gd name="T98" fmla="*/ 44 w 96"/>
                <a:gd name="T99" fmla="*/ 52 h 101"/>
                <a:gd name="T100" fmla="*/ 43 w 96"/>
                <a:gd name="T101" fmla="*/ 54 h 101"/>
                <a:gd name="T102" fmla="*/ 18 w 96"/>
                <a:gd name="T103" fmla="*/ 58 h 101"/>
                <a:gd name="T104" fmla="*/ 28 w 96"/>
                <a:gd name="T105" fmla="*/ 78 h 101"/>
                <a:gd name="T106" fmla="*/ 49 w 96"/>
                <a:gd name="T107" fmla="*/ 85 h 101"/>
                <a:gd name="T108" fmla="*/ 69 w 96"/>
                <a:gd name="T109" fmla="*/ 76 h 101"/>
                <a:gd name="T110" fmla="*/ 76 w 96"/>
                <a:gd name="T111" fmla="*/ 55 h 101"/>
                <a:gd name="T112" fmla="*/ 67 w 96"/>
                <a:gd name="T113" fmla="*/ 35 h 101"/>
                <a:gd name="T114" fmla="*/ 46 w 96"/>
                <a:gd name="T115" fmla="*/ 27 h 101"/>
                <a:gd name="T116" fmla="*/ 26 w 96"/>
                <a:gd name="T117" fmla="*/ 37 h 101"/>
                <a:gd name="T118" fmla="*/ 18 w 96"/>
                <a:gd name="T119" fmla="*/ 5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grpSp>
      <p:grpSp>
        <p:nvGrpSpPr>
          <p:cNvPr id="26" name="组合 25"/>
          <p:cNvGrpSpPr/>
          <p:nvPr>
            <p:custDataLst>
              <p:tags r:id="rId13"/>
            </p:custDataLst>
          </p:nvPr>
        </p:nvGrpSpPr>
        <p:grpSpPr>
          <a:xfrm>
            <a:off x="9465336" y="2709986"/>
            <a:ext cx="724494" cy="724494"/>
            <a:chOff x="8956794" y="5356031"/>
            <a:chExt cx="724494" cy="724494"/>
          </a:xfrm>
          <a:solidFill>
            <a:schemeClr val="bg1"/>
          </a:solidFill>
        </p:grpSpPr>
        <p:sp>
          <p:nvSpPr>
            <p:cNvPr id="27" name="Freeform 68"/>
            <p:cNvSpPr>
              <a:spLocks noEditPoints="1"/>
            </p:cNvSpPr>
            <p:nvPr>
              <p:custDataLst>
                <p:tags r:id="rId14"/>
              </p:custDataLst>
            </p:nvPr>
          </p:nvSpPr>
          <p:spPr bwMode="auto">
            <a:xfrm>
              <a:off x="9200349" y="5559055"/>
              <a:ext cx="237380" cy="347754"/>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4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5 h 107"/>
                <a:gd name="T86" fmla="*/ 2 w 73"/>
                <a:gd name="T87" fmla="*/ 27 h 107"/>
                <a:gd name="T88" fmla="*/ 8 w 73"/>
                <a:gd name="T89" fmla="*/ 53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28" name="Donut 70"/>
            <p:cNvSpPr/>
            <p:nvPr>
              <p:custDataLst>
                <p:tags r:id="rId15"/>
              </p:custDataLst>
            </p:nvPr>
          </p:nvSpPr>
          <p:spPr>
            <a:xfrm>
              <a:off x="8956794" y="5356031"/>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grpSp>
        <p:nvGrpSpPr>
          <p:cNvPr id="29" name="组合 28"/>
          <p:cNvGrpSpPr/>
          <p:nvPr>
            <p:custDataLst>
              <p:tags r:id="rId16"/>
            </p:custDataLst>
          </p:nvPr>
        </p:nvGrpSpPr>
        <p:grpSpPr>
          <a:xfrm>
            <a:off x="2278972" y="2709986"/>
            <a:ext cx="724494" cy="724494"/>
            <a:chOff x="6277970" y="5356182"/>
            <a:chExt cx="724494" cy="724494"/>
          </a:xfrm>
          <a:solidFill>
            <a:schemeClr val="bg1"/>
          </a:solidFill>
        </p:grpSpPr>
        <p:sp>
          <p:nvSpPr>
            <p:cNvPr id="30" name="Freeform 67"/>
            <p:cNvSpPr>
              <a:spLocks noEditPoints="1"/>
            </p:cNvSpPr>
            <p:nvPr>
              <p:custDataLst>
                <p:tags r:id="rId17"/>
              </p:custDataLst>
            </p:nvPr>
          </p:nvSpPr>
          <p:spPr bwMode="auto">
            <a:xfrm>
              <a:off x="6460795" y="5561576"/>
              <a:ext cx="355312" cy="287275"/>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31" name="Donut 71"/>
            <p:cNvSpPr/>
            <p:nvPr>
              <p:custDataLst>
                <p:tags r:id="rId18"/>
              </p:custDataLst>
            </p:nvPr>
          </p:nvSpPr>
          <p:spPr>
            <a:xfrm>
              <a:off x="6277970" y="535618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grpSp>
        <p:nvGrpSpPr>
          <p:cNvPr id="32" name="组合 31"/>
          <p:cNvGrpSpPr/>
          <p:nvPr>
            <p:custDataLst>
              <p:tags r:id="rId19"/>
            </p:custDataLst>
          </p:nvPr>
        </p:nvGrpSpPr>
        <p:grpSpPr>
          <a:xfrm>
            <a:off x="7069882" y="2709986"/>
            <a:ext cx="724494" cy="724494"/>
            <a:chOff x="8951088" y="3838992"/>
            <a:chExt cx="724494" cy="724494"/>
          </a:xfrm>
          <a:solidFill>
            <a:schemeClr val="bg1"/>
          </a:solidFill>
        </p:grpSpPr>
        <p:sp>
          <p:nvSpPr>
            <p:cNvPr id="33" name="Freeform 69"/>
            <p:cNvSpPr>
              <a:spLocks noEditPoints="1"/>
            </p:cNvSpPr>
            <p:nvPr>
              <p:custDataLst>
                <p:tags r:id="rId20"/>
              </p:custDataLst>
            </p:nvPr>
          </p:nvSpPr>
          <p:spPr bwMode="auto">
            <a:xfrm>
              <a:off x="9190217" y="4049286"/>
              <a:ext cx="250987" cy="30390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grpFill/>
            <a:ln>
              <a:noFill/>
            </a:ln>
          </p:spPr>
          <p:txBody>
            <a:bodyPr vert="horz" wrap="square" lIns="96430" tIns="48216" rIns="96430" bIns="482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50">
                <a:solidFill>
                  <a:schemeClr val="bg1">
                    <a:lumMod val="65000"/>
                  </a:schemeClr>
                </a:solidFill>
                <a:cs typeface="+mn-ea"/>
                <a:sym typeface="+mn-lt"/>
              </a:endParaRPr>
            </a:p>
          </p:txBody>
        </p:sp>
        <p:sp>
          <p:nvSpPr>
            <p:cNvPr id="34" name="Donut 72"/>
            <p:cNvSpPr/>
            <p:nvPr>
              <p:custDataLst>
                <p:tags r:id="rId21"/>
              </p:custDataLst>
            </p:nvPr>
          </p:nvSpPr>
          <p:spPr>
            <a:xfrm>
              <a:off x="8951088" y="3838992"/>
              <a:ext cx="724494" cy="724494"/>
            </a:xfrm>
            <a:prstGeom prst="donut">
              <a:avLst>
                <a:gd name="adj" fmla="val 68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50">
                <a:solidFill>
                  <a:schemeClr val="bg1">
                    <a:lumMod val="65000"/>
                  </a:schemeClr>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850160" y="3866721"/>
            <a:ext cx="10647489" cy="3986045"/>
            <a:chOff x="145701" y="4173883"/>
            <a:chExt cx="9793013" cy="3666159"/>
          </a:xfrm>
        </p:grpSpPr>
        <p:pic>
          <p:nvPicPr>
            <p:cNvPr id="22" name="图片 21"/>
            <p:cNvPicPr>
              <a:picLocks noChangeAspect="1"/>
            </p:cNvPicPr>
            <p:nvPr/>
          </p:nvPicPr>
          <p:blipFill>
            <a:blip r:embed="rId1" cstate="screen"/>
            <a:stretch>
              <a:fillRect/>
            </a:stretch>
          </p:blipFill>
          <p:spPr>
            <a:xfrm>
              <a:off x="329613" y="4454433"/>
              <a:ext cx="681514" cy="2426189"/>
            </a:xfrm>
            <a:prstGeom prst="rect">
              <a:avLst/>
            </a:prstGeom>
          </p:spPr>
        </p:pic>
        <p:pic>
          <p:nvPicPr>
            <p:cNvPr id="23" name="图片 22"/>
            <p:cNvPicPr>
              <a:picLocks noChangeAspect="1"/>
            </p:cNvPicPr>
            <p:nvPr/>
          </p:nvPicPr>
          <p:blipFill>
            <a:blip r:embed="rId2" cstate="screen"/>
            <a:stretch>
              <a:fillRect/>
            </a:stretch>
          </p:blipFill>
          <p:spPr>
            <a:xfrm>
              <a:off x="145701" y="5303520"/>
              <a:ext cx="349913" cy="1554480"/>
            </a:xfrm>
            <a:prstGeom prst="rect">
              <a:avLst/>
            </a:prstGeom>
          </p:spPr>
        </p:pic>
        <p:pic>
          <p:nvPicPr>
            <p:cNvPr id="24" name="图片 23"/>
            <p:cNvPicPr>
              <a:picLocks noChangeAspect="1"/>
            </p:cNvPicPr>
            <p:nvPr/>
          </p:nvPicPr>
          <p:blipFill>
            <a:blip r:embed="rId3" cstate="screen"/>
            <a:stretch>
              <a:fillRect/>
            </a:stretch>
          </p:blipFill>
          <p:spPr>
            <a:xfrm>
              <a:off x="1306037" y="4797571"/>
              <a:ext cx="523156" cy="2060429"/>
            </a:xfrm>
            <a:prstGeom prst="rect">
              <a:avLst/>
            </a:prstGeom>
          </p:spPr>
        </p:pic>
        <p:pic>
          <p:nvPicPr>
            <p:cNvPr id="25" name="图片 24"/>
            <p:cNvPicPr>
              <a:picLocks noChangeAspect="1"/>
            </p:cNvPicPr>
            <p:nvPr/>
          </p:nvPicPr>
          <p:blipFill>
            <a:blip r:embed="rId4" cstate="screen"/>
            <a:stretch>
              <a:fillRect/>
            </a:stretch>
          </p:blipFill>
          <p:spPr>
            <a:xfrm>
              <a:off x="2124104" y="5812970"/>
              <a:ext cx="235236" cy="1045029"/>
            </a:xfrm>
            <a:prstGeom prst="rect">
              <a:avLst/>
            </a:prstGeom>
          </p:spPr>
        </p:pic>
        <p:pic>
          <p:nvPicPr>
            <p:cNvPr id="26" name="图片 25"/>
            <p:cNvPicPr>
              <a:picLocks noChangeAspect="1"/>
            </p:cNvPicPr>
            <p:nvPr/>
          </p:nvPicPr>
          <p:blipFill>
            <a:blip r:embed="rId5" cstate="screen"/>
            <a:stretch>
              <a:fillRect/>
            </a:stretch>
          </p:blipFill>
          <p:spPr>
            <a:xfrm>
              <a:off x="2465023" y="4557474"/>
              <a:ext cx="523155" cy="2324101"/>
            </a:xfrm>
            <a:prstGeom prst="rect">
              <a:avLst/>
            </a:prstGeom>
          </p:spPr>
        </p:pic>
        <p:pic>
          <p:nvPicPr>
            <p:cNvPr id="27" name="图片 26"/>
            <p:cNvPicPr>
              <a:picLocks noChangeAspect="1"/>
            </p:cNvPicPr>
            <p:nvPr/>
          </p:nvPicPr>
          <p:blipFill>
            <a:blip r:embed="rId3" cstate="screen"/>
            <a:stretch>
              <a:fillRect/>
            </a:stretch>
          </p:blipFill>
          <p:spPr>
            <a:xfrm>
              <a:off x="3255264" y="4173883"/>
              <a:ext cx="681514" cy="2684116"/>
            </a:xfrm>
            <a:prstGeom prst="rect">
              <a:avLst/>
            </a:prstGeom>
          </p:spPr>
        </p:pic>
        <p:pic>
          <p:nvPicPr>
            <p:cNvPr id="28" name="图片 27"/>
            <p:cNvPicPr>
              <a:picLocks noChangeAspect="1"/>
            </p:cNvPicPr>
            <p:nvPr/>
          </p:nvPicPr>
          <p:blipFill>
            <a:blip r:embed="rId5" cstate="screen"/>
            <a:stretch>
              <a:fillRect/>
            </a:stretch>
          </p:blipFill>
          <p:spPr>
            <a:xfrm>
              <a:off x="4080322" y="5515941"/>
              <a:ext cx="523155" cy="2324101"/>
            </a:xfrm>
            <a:prstGeom prst="rect">
              <a:avLst/>
            </a:prstGeom>
          </p:spPr>
        </p:pic>
        <p:pic>
          <p:nvPicPr>
            <p:cNvPr id="29" name="图片 28"/>
            <p:cNvPicPr>
              <a:picLocks noChangeAspect="1"/>
            </p:cNvPicPr>
            <p:nvPr/>
          </p:nvPicPr>
          <p:blipFill>
            <a:blip r:embed="rId3"/>
            <a:stretch>
              <a:fillRect/>
            </a:stretch>
          </p:blipFill>
          <p:spPr>
            <a:xfrm>
              <a:off x="4603477" y="4425404"/>
              <a:ext cx="816077" cy="3214087"/>
            </a:xfrm>
            <a:prstGeom prst="rect">
              <a:avLst/>
            </a:prstGeom>
          </p:spPr>
        </p:pic>
        <p:pic>
          <p:nvPicPr>
            <p:cNvPr id="30" name="图片 29"/>
            <p:cNvPicPr>
              <a:picLocks noChangeAspect="1"/>
            </p:cNvPicPr>
            <p:nvPr/>
          </p:nvPicPr>
          <p:blipFill>
            <a:blip r:embed="rId6" cstate="screen"/>
            <a:stretch>
              <a:fillRect/>
            </a:stretch>
          </p:blipFill>
          <p:spPr>
            <a:xfrm>
              <a:off x="5252314" y="5303520"/>
              <a:ext cx="443307" cy="1578173"/>
            </a:xfrm>
            <a:prstGeom prst="rect">
              <a:avLst/>
            </a:prstGeom>
          </p:spPr>
        </p:pic>
        <p:pic>
          <p:nvPicPr>
            <p:cNvPr id="31" name="图片 30"/>
            <p:cNvPicPr>
              <a:picLocks noChangeAspect="1"/>
            </p:cNvPicPr>
            <p:nvPr/>
          </p:nvPicPr>
          <p:blipFill>
            <a:blip r:embed="rId1" cstate="screen"/>
            <a:stretch>
              <a:fillRect/>
            </a:stretch>
          </p:blipFill>
          <p:spPr>
            <a:xfrm>
              <a:off x="8443949" y="4395407"/>
              <a:ext cx="687984" cy="2449223"/>
            </a:xfrm>
            <a:prstGeom prst="rect">
              <a:avLst/>
            </a:prstGeom>
          </p:spPr>
        </p:pic>
        <p:pic>
          <p:nvPicPr>
            <p:cNvPr id="32" name="图片 31"/>
            <p:cNvPicPr>
              <a:picLocks noChangeAspect="1"/>
            </p:cNvPicPr>
            <p:nvPr/>
          </p:nvPicPr>
          <p:blipFill>
            <a:blip r:embed="rId3" cstate="screen"/>
            <a:stretch>
              <a:fillRect/>
            </a:stretch>
          </p:blipFill>
          <p:spPr>
            <a:xfrm>
              <a:off x="5873541" y="4784202"/>
              <a:ext cx="523156" cy="2060429"/>
            </a:xfrm>
            <a:prstGeom prst="rect">
              <a:avLst/>
            </a:prstGeom>
          </p:spPr>
        </p:pic>
        <p:pic>
          <p:nvPicPr>
            <p:cNvPr id="33" name="图片 32"/>
            <p:cNvPicPr>
              <a:picLocks noChangeAspect="1"/>
            </p:cNvPicPr>
            <p:nvPr/>
          </p:nvPicPr>
          <p:blipFill>
            <a:blip r:embed="rId4" cstate="screen"/>
            <a:stretch>
              <a:fillRect/>
            </a:stretch>
          </p:blipFill>
          <p:spPr>
            <a:xfrm>
              <a:off x="6691608" y="5799601"/>
              <a:ext cx="235236" cy="1045029"/>
            </a:xfrm>
            <a:prstGeom prst="rect">
              <a:avLst/>
            </a:prstGeom>
          </p:spPr>
        </p:pic>
        <p:pic>
          <p:nvPicPr>
            <p:cNvPr id="34" name="图片 33"/>
            <p:cNvPicPr>
              <a:picLocks noChangeAspect="1"/>
            </p:cNvPicPr>
            <p:nvPr/>
          </p:nvPicPr>
          <p:blipFill>
            <a:blip r:embed="rId5" cstate="screen"/>
            <a:stretch>
              <a:fillRect/>
            </a:stretch>
          </p:blipFill>
          <p:spPr>
            <a:xfrm>
              <a:off x="7061171" y="4537314"/>
              <a:ext cx="523155" cy="2324101"/>
            </a:xfrm>
            <a:prstGeom prst="rect">
              <a:avLst/>
            </a:prstGeom>
          </p:spPr>
        </p:pic>
        <p:pic>
          <p:nvPicPr>
            <p:cNvPr id="35" name="图片 34"/>
            <p:cNvPicPr>
              <a:picLocks noChangeAspect="1"/>
            </p:cNvPicPr>
            <p:nvPr/>
          </p:nvPicPr>
          <p:blipFill>
            <a:blip r:embed="rId2" cstate="screen"/>
            <a:stretch>
              <a:fillRect/>
            </a:stretch>
          </p:blipFill>
          <p:spPr>
            <a:xfrm>
              <a:off x="8255222" y="5326143"/>
              <a:ext cx="349913" cy="1554480"/>
            </a:xfrm>
            <a:prstGeom prst="rect">
              <a:avLst/>
            </a:prstGeom>
          </p:spPr>
        </p:pic>
        <p:pic>
          <p:nvPicPr>
            <p:cNvPr id="36" name="图片 35"/>
            <p:cNvPicPr>
              <a:picLocks noChangeAspect="1"/>
            </p:cNvPicPr>
            <p:nvPr/>
          </p:nvPicPr>
          <p:blipFill>
            <a:blip r:embed="rId3" cstate="screen"/>
            <a:stretch>
              <a:fillRect/>
            </a:stretch>
          </p:blipFill>
          <p:spPr>
            <a:xfrm>
              <a:off x="9415558" y="4820194"/>
              <a:ext cx="523156" cy="2060429"/>
            </a:xfrm>
            <a:prstGeom prst="rect">
              <a:avLst/>
            </a:prstGeom>
          </p:spPr>
        </p:pic>
        <p:pic>
          <p:nvPicPr>
            <p:cNvPr id="37" name="图片 36"/>
            <p:cNvPicPr>
              <a:picLocks noChangeAspect="1"/>
            </p:cNvPicPr>
            <p:nvPr/>
          </p:nvPicPr>
          <p:blipFill>
            <a:blip r:embed="rId3" cstate="screen"/>
            <a:stretch>
              <a:fillRect/>
            </a:stretch>
          </p:blipFill>
          <p:spPr>
            <a:xfrm>
              <a:off x="7824652" y="5737939"/>
              <a:ext cx="523156" cy="2060429"/>
            </a:xfrm>
            <a:prstGeom prst="rect">
              <a:avLst/>
            </a:prstGeom>
          </p:spPr>
        </p:pic>
      </p:grpSp>
      <p:pic>
        <p:nvPicPr>
          <p:cNvPr id="8" name="图片 7"/>
          <p:cNvPicPr>
            <a:picLocks noChangeAspect="1"/>
          </p:cNvPicPr>
          <p:nvPr/>
        </p:nvPicPr>
        <p:blipFill rotWithShape="1">
          <a:blip r:embed="rId7" cstate="screen">
            <a:extLst>
              <a:ext uri="{BEBA8EAE-BF5A-486C-A8C5-ECC9F3942E4B}">
                <a14:imgProps xmlns:a14="http://schemas.microsoft.com/office/drawing/2010/main">
                  <a14:imgLayer r:embed="rId8">
                    <a14:imgEffect>
                      <a14:colorTemperature colorTemp="7200"/>
                    </a14:imgEffect>
                    <a14:imgEffect>
                      <a14:saturation sat="66000"/>
                    </a14:imgEffect>
                  </a14:imgLayer>
                </a14:imgProps>
              </a:ext>
            </a:extLst>
          </a:blip>
          <a:srcRect/>
          <a:stretch>
            <a:fillRect/>
          </a:stretch>
        </p:blipFill>
        <p:spPr>
          <a:xfrm>
            <a:off x="0" y="2181951"/>
            <a:ext cx="12192000" cy="2225173"/>
          </a:xfrm>
          <a:prstGeom prst="rect">
            <a:avLst/>
          </a:prstGeom>
        </p:spPr>
      </p:pic>
      <p:grpSp>
        <p:nvGrpSpPr>
          <p:cNvPr id="7" name="组合 6"/>
          <p:cNvGrpSpPr/>
          <p:nvPr/>
        </p:nvGrpSpPr>
        <p:grpSpPr>
          <a:xfrm>
            <a:off x="6597916" y="1485626"/>
            <a:ext cx="4157169" cy="4066088"/>
            <a:chOff x="1296573" y="2225855"/>
            <a:chExt cx="4157169" cy="4066088"/>
          </a:xfrm>
        </p:grpSpPr>
        <p:grpSp>
          <p:nvGrpSpPr>
            <p:cNvPr id="5" name="组合 4"/>
            <p:cNvGrpSpPr/>
            <p:nvPr/>
          </p:nvGrpSpPr>
          <p:grpSpPr>
            <a:xfrm>
              <a:off x="1296573" y="2225855"/>
              <a:ext cx="4157169" cy="4066088"/>
              <a:chOff x="1296573" y="2225855"/>
              <a:chExt cx="4157169" cy="4066088"/>
            </a:xfrm>
          </p:grpSpPr>
          <p:sp>
            <p:nvSpPr>
              <p:cNvPr id="3" name="矩形: 圆角 2"/>
              <p:cNvSpPr/>
              <p:nvPr/>
            </p:nvSpPr>
            <p:spPr>
              <a:xfrm>
                <a:off x="1578433" y="2225855"/>
                <a:ext cx="3875309" cy="4066088"/>
              </a:xfrm>
              <a:prstGeom prst="roundRect">
                <a:avLst>
                  <a:gd name="adj" fmla="val 15382"/>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六边形 3"/>
              <p:cNvSpPr/>
              <p:nvPr/>
            </p:nvSpPr>
            <p:spPr>
              <a:xfrm>
                <a:off x="1296573" y="2536890"/>
                <a:ext cx="2203247"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grpSp>
        <p:sp>
          <p:nvSpPr>
            <p:cNvPr id="2" name="Text Box 5"/>
            <p:cNvSpPr txBox="1">
              <a:spLocks noChangeArrowheads="1"/>
            </p:cNvSpPr>
            <p:nvPr/>
          </p:nvSpPr>
          <p:spPr bwMode="auto">
            <a:xfrm>
              <a:off x="1968270" y="3098663"/>
              <a:ext cx="3063100" cy="2695610"/>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stStyle>
            <a:p>
              <a:r>
                <a:rPr lang="zh-CN" altLang="en-US" dirty="0">
                  <a:latin typeface="+mn-lt"/>
                  <a:ea typeface="+mn-ea"/>
                  <a:cs typeface="+mn-ea"/>
                  <a:sym typeface="+mn-lt"/>
                </a:rPr>
                <a:t>计划</a:t>
              </a:r>
              <a:r>
                <a:rPr lang="en-US" altLang="zh-CN" dirty="0">
                  <a:latin typeface="+mn-lt"/>
                  <a:ea typeface="+mn-ea"/>
                  <a:cs typeface="+mn-ea"/>
                  <a:sym typeface="+mn-lt"/>
                </a:rPr>
                <a:t>(Plan)</a:t>
              </a:r>
              <a:r>
                <a:rPr lang="zh-CN" altLang="en-US" dirty="0">
                  <a:latin typeface="+mn-lt"/>
                  <a:ea typeface="+mn-ea"/>
                  <a:cs typeface="+mn-ea"/>
                  <a:sym typeface="+mn-lt"/>
                </a:rPr>
                <a:t>包括定义组织的目标；制定全局战略以实现这些目标；开发一个全面的分层计划体系以综合和协调各种活动。计划既涉及目标</a:t>
              </a:r>
              <a:r>
                <a:rPr lang="en-US" altLang="zh-CN" dirty="0">
                  <a:latin typeface="+mn-lt"/>
                  <a:ea typeface="+mn-ea"/>
                  <a:cs typeface="+mn-ea"/>
                  <a:sym typeface="+mn-lt"/>
                </a:rPr>
                <a:t>(</a:t>
              </a:r>
              <a:r>
                <a:rPr lang="zh-CN" altLang="en-US" dirty="0">
                  <a:latin typeface="+mn-lt"/>
                  <a:ea typeface="+mn-ea"/>
                  <a:cs typeface="+mn-ea"/>
                  <a:sym typeface="+mn-lt"/>
                </a:rPr>
                <a:t>做什么</a:t>
              </a:r>
              <a:r>
                <a:rPr lang="en-US" altLang="zh-CN" dirty="0">
                  <a:latin typeface="+mn-lt"/>
                  <a:ea typeface="+mn-ea"/>
                  <a:cs typeface="+mn-ea"/>
                  <a:sym typeface="+mn-lt"/>
                </a:rPr>
                <a:t>)</a:t>
              </a:r>
              <a:r>
                <a:rPr lang="zh-CN" altLang="en-US" dirty="0">
                  <a:latin typeface="+mn-lt"/>
                  <a:ea typeface="+mn-ea"/>
                  <a:cs typeface="+mn-ea"/>
                  <a:sym typeface="+mn-lt"/>
                </a:rPr>
                <a:t>，也涉及达到目标的方法</a:t>
              </a:r>
              <a:r>
                <a:rPr lang="en-US" altLang="zh-CN" dirty="0">
                  <a:latin typeface="+mn-lt"/>
                  <a:ea typeface="+mn-ea"/>
                  <a:cs typeface="+mn-ea"/>
                  <a:sym typeface="+mn-lt"/>
                </a:rPr>
                <a:t>(</a:t>
              </a:r>
              <a:r>
                <a:rPr lang="zh-CN" altLang="en-US" dirty="0">
                  <a:latin typeface="+mn-lt"/>
                  <a:ea typeface="+mn-ea"/>
                  <a:cs typeface="+mn-ea"/>
                  <a:sym typeface="+mn-lt"/>
                </a:rPr>
                <a:t>怎么做</a:t>
              </a:r>
              <a:r>
                <a:rPr lang="en-US" altLang="zh-CN" dirty="0">
                  <a:latin typeface="+mn-lt"/>
                  <a:ea typeface="+mn-ea"/>
                  <a:cs typeface="+mn-ea"/>
                  <a:sym typeface="+mn-lt"/>
                </a:rPr>
                <a:t>)</a:t>
              </a:r>
              <a:r>
                <a:rPr lang="zh-CN" altLang="en-US" dirty="0">
                  <a:latin typeface="+mn-lt"/>
                  <a:ea typeface="+mn-ea"/>
                  <a:cs typeface="+mn-ea"/>
                  <a:sym typeface="+mn-lt"/>
                </a:rPr>
                <a:t>。</a:t>
              </a:r>
              <a:endParaRPr lang="zh-CN" altLang="en-US" dirty="0">
                <a:latin typeface="+mn-lt"/>
                <a:ea typeface="+mn-ea"/>
                <a:cs typeface="+mn-ea"/>
                <a:sym typeface="+mn-lt"/>
              </a:endParaRPr>
            </a:p>
          </p:txBody>
        </p:sp>
        <p:sp>
          <p:nvSpPr>
            <p:cNvPr id="6" name="Rectangle 3"/>
            <p:cNvSpPr txBox="1">
              <a:spLocks noChangeArrowheads="1"/>
            </p:cNvSpPr>
            <p:nvPr/>
          </p:nvSpPr>
          <p:spPr>
            <a:xfrm>
              <a:off x="1669469" y="2536890"/>
              <a:ext cx="1670529"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计划的定义</a:t>
              </a:r>
              <a:endParaRPr lang="en-US" altLang="zh-CN" dirty="0">
                <a:solidFill>
                  <a:schemeClr val="bg1"/>
                </a:solidFill>
                <a:latin typeface="+mn-lt"/>
                <a:ea typeface="+mn-ea"/>
                <a:cs typeface="+mn-ea"/>
                <a:sym typeface="+mn-lt"/>
              </a:endParaRPr>
            </a:p>
          </p:txBody>
        </p:sp>
      </p:grpSp>
      <p:sp>
        <p:nvSpPr>
          <p:cNvPr id="18" name="矩形: 圆角 17"/>
          <p:cNvSpPr/>
          <p:nvPr/>
        </p:nvSpPr>
        <p:spPr>
          <a:xfrm>
            <a:off x="850160" y="3202282"/>
            <a:ext cx="1896400" cy="1690616"/>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矩形: 圆角 18"/>
          <p:cNvSpPr/>
          <p:nvPr/>
        </p:nvSpPr>
        <p:spPr>
          <a:xfrm>
            <a:off x="2775838" y="3202282"/>
            <a:ext cx="1896400" cy="1690616"/>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矩形: 圆角 19"/>
          <p:cNvSpPr/>
          <p:nvPr/>
        </p:nvSpPr>
        <p:spPr>
          <a:xfrm>
            <a:off x="4701516" y="3202282"/>
            <a:ext cx="1896400" cy="1690616"/>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矩形 10"/>
          <p:cNvSpPr/>
          <p:nvPr/>
        </p:nvSpPr>
        <p:spPr>
          <a:xfrm>
            <a:off x="998832" y="3480973"/>
            <a:ext cx="1720910"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给管理者和非管理者指明方向。 </a:t>
            </a:r>
            <a:endParaRPr lang="zh-CN" altLang="en-US" sz="1600" spc="300" dirty="0">
              <a:cs typeface="+mn-ea"/>
              <a:sym typeface="+mn-lt"/>
            </a:endParaRPr>
          </a:p>
        </p:txBody>
      </p:sp>
      <p:sp>
        <p:nvSpPr>
          <p:cNvPr id="14" name="矩形 13"/>
          <p:cNvSpPr/>
          <p:nvPr/>
        </p:nvSpPr>
        <p:spPr>
          <a:xfrm>
            <a:off x="2866659" y="3450771"/>
            <a:ext cx="1805579"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展望未来，预见变化，减小不确定性。</a:t>
            </a:r>
            <a:endParaRPr lang="zh-CN" altLang="en-US" sz="1600" spc="300" dirty="0">
              <a:cs typeface="+mn-ea"/>
              <a:sym typeface="+mn-lt"/>
            </a:endParaRPr>
          </a:p>
        </p:txBody>
      </p:sp>
      <p:sp>
        <p:nvSpPr>
          <p:cNvPr id="17" name="矩形 16"/>
          <p:cNvSpPr/>
          <p:nvPr/>
        </p:nvSpPr>
        <p:spPr>
          <a:xfrm>
            <a:off x="4837738" y="3614948"/>
            <a:ext cx="1668794" cy="792012"/>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减少重叠性和浪费性的活动。</a:t>
            </a:r>
            <a:endParaRPr lang="zh-CN" altLang="en-US" sz="1600" spc="300"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randombar(horizontal)">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500" fill="hold"/>
                                        <p:tgtEl>
                                          <p:spTgt spid="19"/>
                                        </p:tgtEl>
                                        <p:attrNameLst>
                                          <p:attrName>ppt_x</p:attrName>
                                        </p:attrNameLst>
                                      </p:cBhvr>
                                      <p:tavLst>
                                        <p:tav tm="0">
                                          <p:val>
                                            <p:strVal val="#ppt_x"/>
                                          </p:val>
                                        </p:tav>
                                        <p:tav tm="100000">
                                          <p:val>
                                            <p:strVal val="#ppt_x"/>
                                          </p:val>
                                        </p:tav>
                                      </p:tavLst>
                                    </p:anim>
                                    <p:anim calcmode="lin" valueType="num">
                                      <p:cBhvr additive="base">
                                        <p:cTn id="29" dur="5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11" grpId="0"/>
      <p:bldP spid="14"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886204" y="1890013"/>
            <a:ext cx="10647489" cy="3986045"/>
            <a:chOff x="145701" y="4173883"/>
            <a:chExt cx="9793013" cy="3666159"/>
          </a:xfrm>
        </p:grpSpPr>
        <p:pic>
          <p:nvPicPr>
            <p:cNvPr id="21" name="图片 20"/>
            <p:cNvPicPr>
              <a:picLocks noChangeAspect="1"/>
            </p:cNvPicPr>
            <p:nvPr/>
          </p:nvPicPr>
          <p:blipFill>
            <a:blip r:embed="rId1" cstate="screen"/>
            <a:stretch>
              <a:fillRect/>
            </a:stretch>
          </p:blipFill>
          <p:spPr>
            <a:xfrm>
              <a:off x="329613" y="4454433"/>
              <a:ext cx="681514" cy="2426189"/>
            </a:xfrm>
            <a:prstGeom prst="rect">
              <a:avLst/>
            </a:prstGeom>
          </p:spPr>
        </p:pic>
        <p:pic>
          <p:nvPicPr>
            <p:cNvPr id="22" name="图片 21"/>
            <p:cNvPicPr>
              <a:picLocks noChangeAspect="1"/>
            </p:cNvPicPr>
            <p:nvPr/>
          </p:nvPicPr>
          <p:blipFill>
            <a:blip r:embed="rId2" cstate="screen"/>
            <a:stretch>
              <a:fillRect/>
            </a:stretch>
          </p:blipFill>
          <p:spPr>
            <a:xfrm>
              <a:off x="145701" y="5303520"/>
              <a:ext cx="349913" cy="1554480"/>
            </a:xfrm>
            <a:prstGeom prst="rect">
              <a:avLst/>
            </a:prstGeom>
          </p:spPr>
        </p:pic>
        <p:pic>
          <p:nvPicPr>
            <p:cNvPr id="23" name="图片 22"/>
            <p:cNvPicPr>
              <a:picLocks noChangeAspect="1"/>
            </p:cNvPicPr>
            <p:nvPr/>
          </p:nvPicPr>
          <p:blipFill>
            <a:blip r:embed="rId3" cstate="screen"/>
            <a:stretch>
              <a:fillRect/>
            </a:stretch>
          </p:blipFill>
          <p:spPr>
            <a:xfrm>
              <a:off x="1306037" y="4797571"/>
              <a:ext cx="523156" cy="2060429"/>
            </a:xfrm>
            <a:prstGeom prst="rect">
              <a:avLst/>
            </a:prstGeom>
          </p:spPr>
        </p:pic>
        <p:pic>
          <p:nvPicPr>
            <p:cNvPr id="24" name="图片 23"/>
            <p:cNvPicPr>
              <a:picLocks noChangeAspect="1"/>
            </p:cNvPicPr>
            <p:nvPr/>
          </p:nvPicPr>
          <p:blipFill>
            <a:blip r:embed="rId4" cstate="screen"/>
            <a:stretch>
              <a:fillRect/>
            </a:stretch>
          </p:blipFill>
          <p:spPr>
            <a:xfrm>
              <a:off x="2124104" y="5812970"/>
              <a:ext cx="235236" cy="1045029"/>
            </a:xfrm>
            <a:prstGeom prst="rect">
              <a:avLst/>
            </a:prstGeom>
          </p:spPr>
        </p:pic>
        <p:pic>
          <p:nvPicPr>
            <p:cNvPr id="25" name="图片 24"/>
            <p:cNvPicPr>
              <a:picLocks noChangeAspect="1"/>
            </p:cNvPicPr>
            <p:nvPr/>
          </p:nvPicPr>
          <p:blipFill>
            <a:blip r:embed="rId5" cstate="screen"/>
            <a:stretch>
              <a:fillRect/>
            </a:stretch>
          </p:blipFill>
          <p:spPr>
            <a:xfrm>
              <a:off x="2465023" y="4557474"/>
              <a:ext cx="523155" cy="2324101"/>
            </a:xfrm>
            <a:prstGeom prst="rect">
              <a:avLst/>
            </a:prstGeom>
          </p:spPr>
        </p:pic>
        <p:pic>
          <p:nvPicPr>
            <p:cNvPr id="26" name="图片 25"/>
            <p:cNvPicPr>
              <a:picLocks noChangeAspect="1"/>
            </p:cNvPicPr>
            <p:nvPr/>
          </p:nvPicPr>
          <p:blipFill>
            <a:blip r:embed="rId3" cstate="screen"/>
            <a:stretch>
              <a:fillRect/>
            </a:stretch>
          </p:blipFill>
          <p:spPr>
            <a:xfrm>
              <a:off x="3255264" y="4173883"/>
              <a:ext cx="681514" cy="2684116"/>
            </a:xfrm>
            <a:prstGeom prst="rect">
              <a:avLst/>
            </a:prstGeom>
          </p:spPr>
        </p:pic>
        <p:pic>
          <p:nvPicPr>
            <p:cNvPr id="27" name="图片 26"/>
            <p:cNvPicPr>
              <a:picLocks noChangeAspect="1"/>
            </p:cNvPicPr>
            <p:nvPr/>
          </p:nvPicPr>
          <p:blipFill>
            <a:blip r:embed="rId5" cstate="screen"/>
            <a:stretch>
              <a:fillRect/>
            </a:stretch>
          </p:blipFill>
          <p:spPr>
            <a:xfrm>
              <a:off x="4080322" y="5515941"/>
              <a:ext cx="523155" cy="2324101"/>
            </a:xfrm>
            <a:prstGeom prst="rect">
              <a:avLst/>
            </a:prstGeom>
          </p:spPr>
        </p:pic>
        <p:pic>
          <p:nvPicPr>
            <p:cNvPr id="28" name="图片 27"/>
            <p:cNvPicPr>
              <a:picLocks noChangeAspect="1"/>
            </p:cNvPicPr>
            <p:nvPr/>
          </p:nvPicPr>
          <p:blipFill>
            <a:blip r:embed="rId3"/>
            <a:stretch>
              <a:fillRect/>
            </a:stretch>
          </p:blipFill>
          <p:spPr>
            <a:xfrm>
              <a:off x="4603477" y="4425404"/>
              <a:ext cx="816077" cy="3214087"/>
            </a:xfrm>
            <a:prstGeom prst="rect">
              <a:avLst/>
            </a:prstGeom>
          </p:spPr>
        </p:pic>
        <p:pic>
          <p:nvPicPr>
            <p:cNvPr id="29" name="图片 28"/>
            <p:cNvPicPr>
              <a:picLocks noChangeAspect="1"/>
            </p:cNvPicPr>
            <p:nvPr/>
          </p:nvPicPr>
          <p:blipFill>
            <a:blip r:embed="rId6" cstate="screen"/>
            <a:stretch>
              <a:fillRect/>
            </a:stretch>
          </p:blipFill>
          <p:spPr>
            <a:xfrm>
              <a:off x="5252314" y="5303520"/>
              <a:ext cx="443307" cy="1578173"/>
            </a:xfrm>
            <a:prstGeom prst="rect">
              <a:avLst/>
            </a:prstGeom>
          </p:spPr>
        </p:pic>
        <p:pic>
          <p:nvPicPr>
            <p:cNvPr id="30" name="图片 29"/>
            <p:cNvPicPr>
              <a:picLocks noChangeAspect="1"/>
            </p:cNvPicPr>
            <p:nvPr/>
          </p:nvPicPr>
          <p:blipFill>
            <a:blip r:embed="rId1" cstate="screen"/>
            <a:stretch>
              <a:fillRect/>
            </a:stretch>
          </p:blipFill>
          <p:spPr>
            <a:xfrm>
              <a:off x="8443949" y="4395407"/>
              <a:ext cx="687984" cy="2449223"/>
            </a:xfrm>
            <a:prstGeom prst="rect">
              <a:avLst/>
            </a:prstGeom>
          </p:spPr>
        </p:pic>
        <p:pic>
          <p:nvPicPr>
            <p:cNvPr id="31" name="图片 30"/>
            <p:cNvPicPr>
              <a:picLocks noChangeAspect="1"/>
            </p:cNvPicPr>
            <p:nvPr/>
          </p:nvPicPr>
          <p:blipFill>
            <a:blip r:embed="rId3" cstate="screen"/>
            <a:stretch>
              <a:fillRect/>
            </a:stretch>
          </p:blipFill>
          <p:spPr>
            <a:xfrm>
              <a:off x="5873541" y="4784202"/>
              <a:ext cx="523156" cy="2060429"/>
            </a:xfrm>
            <a:prstGeom prst="rect">
              <a:avLst/>
            </a:prstGeom>
          </p:spPr>
        </p:pic>
        <p:pic>
          <p:nvPicPr>
            <p:cNvPr id="32" name="图片 31"/>
            <p:cNvPicPr>
              <a:picLocks noChangeAspect="1"/>
            </p:cNvPicPr>
            <p:nvPr/>
          </p:nvPicPr>
          <p:blipFill>
            <a:blip r:embed="rId4" cstate="screen"/>
            <a:stretch>
              <a:fillRect/>
            </a:stretch>
          </p:blipFill>
          <p:spPr>
            <a:xfrm>
              <a:off x="6691608" y="5799601"/>
              <a:ext cx="235236" cy="1045029"/>
            </a:xfrm>
            <a:prstGeom prst="rect">
              <a:avLst/>
            </a:prstGeom>
          </p:spPr>
        </p:pic>
        <p:pic>
          <p:nvPicPr>
            <p:cNvPr id="33" name="图片 32"/>
            <p:cNvPicPr>
              <a:picLocks noChangeAspect="1"/>
            </p:cNvPicPr>
            <p:nvPr/>
          </p:nvPicPr>
          <p:blipFill>
            <a:blip r:embed="rId5" cstate="screen"/>
            <a:stretch>
              <a:fillRect/>
            </a:stretch>
          </p:blipFill>
          <p:spPr>
            <a:xfrm>
              <a:off x="7061171" y="4537314"/>
              <a:ext cx="523155" cy="2324101"/>
            </a:xfrm>
            <a:prstGeom prst="rect">
              <a:avLst/>
            </a:prstGeom>
          </p:spPr>
        </p:pic>
        <p:pic>
          <p:nvPicPr>
            <p:cNvPr id="34" name="图片 33"/>
            <p:cNvPicPr>
              <a:picLocks noChangeAspect="1"/>
            </p:cNvPicPr>
            <p:nvPr/>
          </p:nvPicPr>
          <p:blipFill>
            <a:blip r:embed="rId2" cstate="screen"/>
            <a:stretch>
              <a:fillRect/>
            </a:stretch>
          </p:blipFill>
          <p:spPr>
            <a:xfrm>
              <a:off x="8255222" y="5326143"/>
              <a:ext cx="349913" cy="1554480"/>
            </a:xfrm>
            <a:prstGeom prst="rect">
              <a:avLst/>
            </a:prstGeom>
          </p:spPr>
        </p:pic>
        <p:pic>
          <p:nvPicPr>
            <p:cNvPr id="35" name="图片 34"/>
            <p:cNvPicPr>
              <a:picLocks noChangeAspect="1"/>
            </p:cNvPicPr>
            <p:nvPr/>
          </p:nvPicPr>
          <p:blipFill>
            <a:blip r:embed="rId3" cstate="screen"/>
            <a:stretch>
              <a:fillRect/>
            </a:stretch>
          </p:blipFill>
          <p:spPr>
            <a:xfrm>
              <a:off x="9415558" y="4820194"/>
              <a:ext cx="523156" cy="2060429"/>
            </a:xfrm>
            <a:prstGeom prst="rect">
              <a:avLst/>
            </a:prstGeom>
          </p:spPr>
        </p:pic>
        <p:pic>
          <p:nvPicPr>
            <p:cNvPr id="36" name="图片 35"/>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14" name="矩形: 圆角 13"/>
          <p:cNvSpPr/>
          <p:nvPr/>
        </p:nvSpPr>
        <p:spPr>
          <a:xfrm>
            <a:off x="1843804" y="1806373"/>
            <a:ext cx="4922254" cy="2850202"/>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矩形: 圆角 14"/>
          <p:cNvSpPr/>
          <p:nvPr/>
        </p:nvSpPr>
        <p:spPr>
          <a:xfrm>
            <a:off x="6420199" y="2673433"/>
            <a:ext cx="4073630" cy="2850202"/>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 name="组合 3"/>
          <p:cNvGrpSpPr/>
          <p:nvPr/>
        </p:nvGrpSpPr>
        <p:grpSpPr>
          <a:xfrm>
            <a:off x="6007171" y="2870714"/>
            <a:ext cx="2600513" cy="438775"/>
            <a:chOff x="6597916" y="1796661"/>
            <a:chExt cx="2600513" cy="438775"/>
          </a:xfrm>
        </p:grpSpPr>
        <p:sp>
          <p:nvSpPr>
            <p:cNvPr id="2" name="六边形 1"/>
            <p:cNvSpPr/>
            <p:nvPr/>
          </p:nvSpPr>
          <p:spPr>
            <a:xfrm>
              <a:off x="6597916" y="1796661"/>
              <a:ext cx="2600513"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 name="Rectangle 3"/>
            <p:cNvSpPr txBox="1">
              <a:spLocks noChangeArrowheads="1"/>
            </p:cNvSpPr>
            <p:nvPr/>
          </p:nvSpPr>
          <p:spPr>
            <a:xfrm>
              <a:off x="6800694" y="1818951"/>
              <a:ext cx="2325588"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计划的编制程序</a:t>
              </a:r>
              <a:endParaRPr lang="en-US" altLang="zh-CN" dirty="0">
                <a:solidFill>
                  <a:schemeClr val="bg1"/>
                </a:solidFill>
                <a:latin typeface="+mn-lt"/>
                <a:ea typeface="+mn-ea"/>
                <a:cs typeface="+mn-ea"/>
                <a:sym typeface="+mn-lt"/>
              </a:endParaRPr>
            </a:p>
          </p:txBody>
        </p:sp>
      </p:grpSp>
      <p:sp>
        <p:nvSpPr>
          <p:cNvPr id="7" name="矩形 6"/>
          <p:cNvSpPr/>
          <p:nvPr/>
        </p:nvSpPr>
        <p:spPr>
          <a:xfrm>
            <a:off x="2265489" y="2237846"/>
            <a:ext cx="3839513"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收集资料，为计划的编制提供依据</a:t>
            </a:r>
            <a:endParaRPr lang="zh-CN" altLang="en-US" sz="1600" spc="300" dirty="0">
              <a:solidFill>
                <a:schemeClr val="tx1">
                  <a:lumMod val="95000"/>
                  <a:lumOff val="5000"/>
                </a:schemeClr>
              </a:solidFill>
              <a:cs typeface="+mn-ea"/>
              <a:sym typeface="+mn-lt"/>
            </a:endParaRPr>
          </a:p>
        </p:txBody>
      </p:sp>
      <p:sp>
        <p:nvSpPr>
          <p:cNvPr id="11" name="矩形 10"/>
          <p:cNvSpPr/>
          <p:nvPr/>
        </p:nvSpPr>
        <p:spPr>
          <a:xfrm>
            <a:off x="2385174" y="2751057"/>
            <a:ext cx="3600144" cy="1579920"/>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职位权力是与领导人职位相关联的正式职权以及领导者从上级和整个组织各个方面取得的支持的程度。</a:t>
            </a:r>
            <a:endParaRPr lang="zh-CN" altLang="en-US" sz="1600" spc="300" dirty="0">
              <a:solidFill>
                <a:schemeClr val="tx1">
                  <a:lumMod val="95000"/>
                  <a:lumOff val="5000"/>
                </a:schemeClr>
              </a:solidFill>
              <a:cs typeface="+mn-ea"/>
              <a:sym typeface="+mn-lt"/>
            </a:endParaRPr>
          </a:p>
        </p:txBody>
      </p:sp>
      <p:sp>
        <p:nvSpPr>
          <p:cNvPr id="12" name="矩形 11"/>
          <p:cNvSpPr/>
          <p:nvPr/>
        </p:nvSpPr>
        <p:spPr>
          <a:xfrm>
            <a:off x="7042645" y="3961786"/>
            <a:ext cx="3015278" cy="1208023"/>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任务结构是指任务的明确程度和部下对这些任务的负责程度。</a:t>
            </a:r>
            <a:endParaRPr lang="zh-CN" altLang="en-US" sz="1600" spc="300" dirty="0">
              <a:solidFill>
                <a:schemeClr val="tx1">
                  <a:lumMod val="95000"/>
                  <a:lumOff val="5000"/>
                </a:schemeClr>
              </a:solidFill>
              <a:cs typeface="+mn-ea"/>
              <a:sym typeface="+mn-lt"/>
            </a:endParaRPr>
          </a:p>
        </p:txBody>
      </p:sp>
      <p:sp>
        <p:nvSpPr>
          <p:cNvPr id="16" name="矩形 15"/>
          <p:cNvSpPr/>
          <p:nvPr/>
        </p:nvSpPr>
        <p:spPr>
          <a:xfrm>
            <a:off x="2258662" y="2200398"/>
            <a:ext cx="3839513" cy="500140"/>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7575658" y="3443039"/>
            <a:ext cx="1919757" cy="500140"/>
            <a:chOff x="7415600" y="3584553"/>
            <a:chExt cx="1919757" cy="500140"/>
          </a:xfrm>
        </p:grpSpPr>
        <p:sp>
          <p:nvSpPr>
            <p:cNvPr id="10" name="矩形 9"/>
            <p:cNvSpPr/>
            <p:nvPr/>
          </p:nvSpPr>
          <p:spPr>
            <a:xfrm>
              <a:off x="7445096" y="3599305"/>
              <a:ext cx="1890261" cy="420115"/>
            </a:xfrm>
            <a:prstGeom prst="rect">
              <a:avLst/>
            </a:prstGeom>
          </p:spPr>
          <p:txBody>
            <a:bodyPr wrap="square">
              <a:spAutoFit/>
            </a:bodyPr>
            <a:lstStyle/>
            <a:p>
              <a:pPr algn="just">
                <a:lnSpc>
                  <a:spcPts val="2900"/>
                </a:lnSpc>
                <a:buClr>
                  <a:srgbClr val="000066"/>
                </a:buClr>
              </a:pPr>
              <a:r>
                <a:rPr lang="zh-CN" altLang="en-US" sz="1600" spc="300" dirty="0">
                  <a:solidFill>
                    <a:schemeClr val="tx1">
                      <a:lumMod val="95000"/>
                      <a:lumOff val="5000"/>
                    </a:schemeClr>
                  </a:solidFill>
                  <a:cs typeface="+mn-ea"/>
                  <a:sym typeface="+mn-lt"/>
                </a:rPr>
                <a:t>目标或任务分解</a:t>
              </a:r>
              <a:endParaRPr lang="zh-CN" altLang="en-US" sz="1600" spc="300" dirty="0">
                <a:solidFill>
                  <a:schemeClr val="tx1">
                    <a:lumMod val="95000"/>
                    <a:lumOff val="5000"/>
                  </a:schemeClr>
                </a:solidFill>
                <a:cs typeface="+mn-ea"/>
                <a:sym typeface="+mn-lt"/>
              </a:endParaRPr>
            </a:p>
          </p:txBody>
        </p:sp>
        <p:sp>
          <p:nvSpPr>
            <p:cNvPr id="17" name="矩形 16"/>
            <p:cNvSpPr/>
            <p:nvPr/>
          </p:nvSpPr>
          <p:spPr>
            <a:xfrm>
              <a:off x="7415600" y="3584553"/>
              <a:ext cx="1919757" cy="500140"/>
            </a:xfrm>
            <a:prstGeom prst="rect">
              <a:avLst/>
            </a:prstGeom>
            <a:noFill/>
            <a:ln>
              <a:solidFill>
                <a:srgbClr val="5364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ppt_x"/>
                                          </p:val>
                                        </p:tav>
                                        <p:tav tm="100000">
                                          <p:val>
                                            <p:strVal val="#ppt_x"/>
                                          </p:val>
                                        </p:tav>
                                      </p:tavLst>
                                    </p:anim>
                                    <p:anim calcmode="lin" valueType="num">
                                      <p:cBhvr additive="base">
                                        <p:cTn id="35" dur="500" fill="hold"/>
                                        <p:tgtEl>
                                          <p:spTgt spid="1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7" grpId="0"/>
      <p:bldP spid="11" grpId="0"/>
      <p:bldP spid="12" grpId="0"/>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423449" y="3805893"/>
            <a:ext cx="4419875" cy="3699882"/>
            <a:chOff x="5873541" y="4395407"/>
            <a:chExt cx="4065173" cy="3402961"/>
          </a:xfrm>
        </p:grpSpPr>
        <p:pic>
          <p:nvPicPr>
            <p:cNvPr id="46" name="图片 45"/>
            <p:cNvPicPr>
              <a:picLocks noChangeAspect="1"/>
            </p:cNvPicPr>
            <p:nvPr/>
          </p:nvPicPr>
          <p:blipFill>
            <a:blip r:embed="rId1" cstate="screen"/>
            <a:stretch>
              <a:fillRect/>
            </a:stretch>
          </p:blipFill>
          <p:spPr>
            <a:xfrm>
              <a:off x="8443949" y="4395407"/>
              <a:ext cx="687984" cy="2449223"/>
            </a:xfrm>
            <a:prstGeom prst="rect">
              <a:avLst/>
            </a:prstGeom>
          </p:spPr>
        </p:pic>
        <p:pic>
          <p:nvPicPr>
            <p:cNvPr id="47" name="图片 46"/>
            <p:cNvPicPr>
              <a:picLocks noChangeAspect="1"/>
            </p:cNvPicPr>
            <p:nvPr/>
          </p:nvPicPr>
          <p:blipFill>
            <a:blip r:embed="rId2" cstate="screen"/>
            <a:stretch>
              <a:fillRect/>
            </a:stretch>
          </p:blipFill>
          <p:spPr>
            <a:xfrm>
              <a:off x="5873541" y="4784202"/>
              <a:ext cx="523156" cy="2060429"/>
            </a:xfrm>
            <a:prstGeom prst="rect">
              <a:avLst/>
            </a:prstGeom>
          </p:spPr>
        </p:pic>
        <p:pic>
          <p:nvPicPr>
            <p:cNvPr id="48" name="图片 47"/>
            <p:cNvPicPr>
              <a:picLocks noChangeAspect="1"/>
            </p:cNvPicPr>
            <p:nvPr/>
          </p:nvPicPr>
          <p:blipFill>
            <a:blip r:embed="rId3" cstate="screen"/>
            <a:stretch>
              <a:fillRect/>
            </a:stretch>
          </p:blipFill>
          <p:spPr>
            <a:xfrm>
              <a:off x="6691608" y="5799601"/>
              <a:ext cx="235236" cy="1045029"/>
            </a:xfrm>
            <a:prstGeom prst="rect">
              <a:avLst/>
            </a:prstGeom>
          </p:spPr>
        </p:pic>
        <p:pic>
          <p:nvPicPr>
            <p:cNvPr id="49" name="图片 48"/>
            <p:cNvPicPr>
              <a:picLocks noChangeAspect="1"/>
            </p:cNvPicPr>
            <p:nvPr/>
          </p:nvPicPr>
          <p:blipFill>
            <a:blip r:embed="rId4" cstate="screen"/>
            <a:stretch>
              <a:fillRect/>
            </a:stretch>
          </p:blipFill>
          <p:spPr>
            <a:xfrm>
              <a:off x="7061171" y="4537314"/>
              <a:ext cx="523155" cy="2324101"/>
            </a:xfrm>
            <a:prstGeom prst="rect">
              <a:avLst/>
            </a:prstGeom>
          </p:spPr>
        </p:pic>
        <p:pic>
          <p:nvPicPr>
            <p:cNvPr id="50" name="图片 49"/>
            <p:cNvPicPr>
              <a:picLocks noChangeAspect="1"/>
            </p:cNvPicPr>
            <p:nvPr/>
          </p:nvPicPr>
          <p:blipFill>
            <a:blip r:embed="rId5" cstate="screen"/>
            <a:stretch>
              <a:fillRect/>
            </a:stretch>
          </p:blipFill>
          <p:spPr>
            <a:xfrm>
              <a:off x="8255222" y="5326143"/>
              <a:ext cx="349913" cy="1554480"/>
            </a:xfrm>
            <a:prstGeom prst="rect">
              <a:avLst/>
            </a:prstGeom>
          </p:spPr>
        </p:pic>
        <p:pic>
          <p:nvPicPr>
            <p:cNvPr id="51" name="图片 50"/>
            <p:cNvPicPr>
              <a:picLocks noChangeAspect="1"/>
            </p:cNvPicPr>
            <p:nvPr/>
          </p:nvPicPr>
          <p:blipFill>
            <a:blip r:embed="rId2" cstate="screen"/>
            <a:stretch>
              <a:fillRect/>
            </a:stretch>
          </p:blipFill>
          <p:spPr>
            <a:xfrm>
              <a:off x="9415558" y="4820194"/>
              <a:ext cx="523156" cy="2060429"/>
            </a:xfrm>
            <a:prstGeom prst="rect">
              <a:avLst/>
            </a:prstGeom>
          </p:spPr>
        </p:pic>
        <p:pic>
          <p:nvPicPr>
            <p:cNvPr id="52" name="图片 51"/>
            <p:cNvPicPr>
              <a:picLocks noChangeAspect="1"/>
            </p:cNvPicPr>
            <p:nvPr/>
          </p:nvPicPr>
          <p:blipFill>
            <a:blip r:embed="rId2" cstate="screen"/>
            <a:stretch>
              <a:fillRect/>
            </a:stretch>
          </p:blipFill>
          <p:spPr>
            <a:xfrm>
              <a:off x="7824652" y="5737939"/>
              <a:ext cx="523156" cy="2060429"/>
            </a:xfrm>
            <a:prstGeom prst="rect">
              <a:avLst/>
            </a:prstGeom>
          </p:spPr>
        </p:pic>
      </p:grpSp>
      <p:pic>
        <p:nvPicPr>
          <p:cNvPr id="55" name="图片 54"/>
          <p:cNvPicPr>
            <a:picLocks noChangeAspect="1"/>
          </p:cNvPicPr>
          <p:nvPr/>
        </p:nvPicPr>
        <p:blipFill rotWithShape="1">
          <a:blip r:embed="rId6" cstate="screen">
            <a:extLst>
              <a:ext uri="{BEBA8EAE-BF5A-486C-A8C5-ECC9F3942E4B}">
                <a14:imgProps xmlns:a14="http://schemas.microsoft.com/office/drawing/2010/main">
                  <a14:imgLayer r:embed="rId7">
                    <a14:imgEffect>
                      <a14:colorTemperature colorTemp="7200"/>
                    </a14:imgEffect>
                    <a14:imgEffect>
                      <a14:saturation sat="66000"/>
                    </a14:imgEffect>
                  </a14:imgLayer>
                </a14:imgProps>
              </a:ext>
            </a:extLst>
          </a:blip>
          <a:srcRect/>
          <a:stretch>
            <a:fillRect/>
          </a:stretch>
        </p:blipFill>
        <p:spPr>
          <a:xfrm>
            <a:off x="0" y="2380589"/>
            <a:ext cx="6001008" cy="2225173"/>
          </a:xfrm>
          <a:prstGeom prst="rect">
            <a:avLst/>
          </a:prstGeom>
        </p:spPr>
      </p:pic>
      <p:grpSp>
        <p:nvGrpSpPr>
          <p:cNvPr id="35" name="组合 34"/>
          <p:cNvGrpSpPr/>
          <p:nvPr/>
        </p:nvGrpSpPr>
        <p:grpSpPr>
          <a:xfrm>
            <a:off x="5266773" y="1440863"/>
            <a:ext cx="2743380" cy="4325340"/>
            <a:chOff x="1173746" y="1529729"/>
            <a:chExt cx="2743380" cy="4325340"/>
          </a:xfrm>
        </p:grpSpPr>
        <p:sp>
          <p:nvSpPr>
            <p:cNvPr id="24" name="矩形: 圆角 23"/>
            <p:cNvSpPr/>
            <p:nvPr/>
          </p:nvSpPr>
          <p:spPr>
            <a:xfrm>
              <a:off x="1173746" y="1529729"/>
              <a:ext cx="2743380" cy="4325340"/>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Rectangle 2"/>
            <p:cNvSpPr txBox="1">
              <a:spLocks noChangeArrowheads="1"/>
            </p:cNvSpPr>
            <p:nvPr/>
          </p:nvSpPr>
          <p:spPr>
            <a:xfrm>
              <a:off x="1430214" y="2752395"/>
              <a:ext cx="2230443" cy="2323713"/>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stStyle>
            <a:p>
              <a:r>
                <a:rPr lang="zh-CN" altLang="en-US" dirty="0">
                  <a:solidFill>
                    <a:schemeClr val="tx1">
                      <a:lumMod val="95000"/>
                      <a:lumOff val="5000"/>
                    </a:schemeClr>
                  </a:solidFill>
                  <a:latin typeface="+mn-lt"/>
                  <a:ea typeface="+mn-ea"/>
                  <a:cs typeface="+mn-ea"/>
                  <a:sym typeface="+mn-lt"/>
                </a:rPr>
                <a:t>保证计划在执行过程中能够根据情况变化适时修正和调整的一种现代计划方法。分段编制，近细远粗。</a:t>
              </a:r>
              <a:endParaRPr lang="zh-CN" altLang="en-US" dirty="0">
                <a:solidFill>
                  <a:schemeClr val="tx1">
                    <a:lumMod val="95000"/>
                    <a:lumOff val="5000"/>
                  </a:schemeClr>
                </a:solidFill>
                <a:latin typeface="+mn-lt"/>
                <a:ea typeface="+mn-ea"/>
                <a:cs typeface="+mn-ea"/>
                <a:sym typeface="+mn-lt"/>
              </a:endParaRPr>
            </a:p>
          </p:txBody>
        </p:sp>
        <p:grpSp>
          <p:nvGrpSpPr>
            <p:cNvPr id="26" name="组合 25"/>
            <p:cNvGrpSpPr/>
            <p:nvPr/>
          </p:nvGrpSpPr>
          <p:grpSpPr>
            <a:xfrm>
              <a:off x="1767239" y="2206630"/>
              <a:ext cx="1787347" cy="461371"/>
              <a:chOff x="1246244" y="2450748"/>
              <a:chExt cx="1787347" cy="461371"/>
            </a:xfrm>
          </p:grpSpPr>
          <p:sp>
            <p:nvSpPr>
              <p:cNvPr id="27" name="六边形 26"/>
              <p:cNvSpPr/>
              <p:nvPr/>
            </p:nvSpPr>
            <p:spPr>
              <a:xfrm>
                <a:off x="1246244" y="2473344"/>
                <a:ext cx="1646605"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8" name="矩形 27"/>
              <p:cNvSpPr/>
              <p:nvPr/>
            </p:nvSpPr>
            <p:spPr>
              <a:xfrm>
                <a:off x="1386986" y="2450748"/>
                <a:ext cx="1646605"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滚动计划法</a:t>
                </a:r>
                <a:endParaRPr lang="zh-CN" altLang="en-US" sz="1600" spc="300" dirty="0">
                  <a:solidFill>
                    <a:schemeClr val="bg1"/>
                  </a:solidFill>
                  <a:cs typeface="+mn-ea"/>
                  <a:sym typeface="+mn-lt"/>
                </a:endParaRPr>
              </a:p>
            </p:txBody>
          </p:sp>
        </p:grpSp>
      </p:grpSp>
      <p:grpSp>
        <p:nvGrpSpPr>
          <p:cNvPr id="29" name="组合 28"/>
          <p:cNvGrpSpPr/>
          <p:nvPr/>
        </p:nvGrpSpPr>
        <p:grpSpPr>
          <a:xfrm>
            <a:off x="8418155" y="1792157"/>
            <a:ext cx="2743380" cy="3637286"/>
            <a:chOff x="1425117" y="1566305"/>
            <a:chExt cx="2743380" cy="3637286"/>
          </a:xfrm>
        </p:grpSpPr>
        <p:sp>
          <p:nvSpPr>
            <p:cNvPr id="30" name="矩形: 圆角 29"/>
            <p:cNvSpPr/>
            <p:nvPr/>
          </p:nvSpPr>
          <p:spPr>
            <a:xfrm>
              <a:off x="1425117" y="1566305"/>
              <a:ext cx="2743380" cy="3637286"/>
            </a:xfrm>
            <a:prstGeom prst="roundRect">
              <a:avLst>
                <a:gd name="adj" fmla="val 35946"/>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1" name="Rectangle 2"/>
            <p:cNvSpPr txBox="1">
              <a:spLocks noChangeArrowheads="1"/>
            </p:cNvSpPr>
            <p:nvPr/>
          </p:nvSpPr>
          <p:spPr>
            <a:xfrm>
              <a:off x="1681585" y="2788971"/>
              <a:ext cx="2230443" cy="1951816"/>
            </a:xfrm>
            <a:prstGeom prst="rect">
              <a:avLst/>
            </a:prstGeom>
          </p:spPr>
          <p:txBody>
            <a:bodyPr wrap="square">
              <a:spAutoFit/>
            </a:bodyPr>
            <a:lstStyle>
              <a:defPPr>
                <a:defRPr lang="en-US"/>
              </a:defPPr>
              <a:lvl1pPr algn="just">
                <a:lnSpc>
                  <a:spcPts val="2900"/>
                </a:lnSpc>
                <a:buClr>
                  <a:srgbClr val="000066"/>
                </a:buClr>
                <a:defRPr sz="1600" spc="300">
                  <a:latin typeface="思源黑体 CN Regular" panose="020B0500000000000000" pitchFamily="34" charset="-122"/>
                  <a:ea typeface="思源黑体 CN Regular" panose="020B0500000000000000" pitchFamily="34" charset="-122"/>
                </a:defRPr>
              </a:lvl1pPr>
            </a:lstStyle>
            <a:p>
              <a:r>
                <a:rPr lang="zh-CN" altLang="en-US" dirty="0">
                  <a:solidFill>
                    <a:schemeClr val="tx1">
                      <a:lumMod val="95000"/>
                      <a:lumOff val="5000"/>
                    </a:schemeClr>
                  </a:solidFill>
                  <a:latin typeface="+mn-lt"/>
                  <a:ea typeface="+mn-ea"/>
                  <a:cs typeface="+mn-ea"/>
                  <a:sym typeface="+mn-lt"/>
                </a:rPr>
                <a:t>目标管理</a:t>
              </a:r>
              <a:r>
                <a:rPr lang="en-US" altLang="zh-CN" dirty="0">
                  <a:solidFill>
                    <a:schemeClr val="tx1">
                      <a:lumMod val="95000"/>
                      <a:lumOff val="5000"/>
                    </a:schemeClr>
                  </a:solidFill>
                  <a:latin typeface="+mn-lt"/>
                  <a:ea typeface="+mn-ea"/>
                  <a:cs typeface="+mn-ea"/>
                  <a:sym typeface="+mn-lt"/>
                </a:rPr>
                <a:t>(</a:t>
              </a:r>
              <a:r>
                <a:rPr lang="zh-CN" altLang="en-US" dirty="0">
                  <a:solidFill>
                    <a:schemeClr val="tx1">
                      <a:lumMod val="95000"/>
                      <a:lumOff val="5000"/>
                    </a:schemeClr>
                  </a:solidFill>
                  <a:latin typeface="+mn-lt"/>
                  <a:ea typeface="+mn-ea"/>
                  <a:cs typeface="+mn-ea"/>
                  <a:sym typeface="+mn-lt"/>
                </a:rPr>
                <a:t>缩写为</a:t>
              </a:r>
              <a:r>
                <a:rPr lang="en-US" altLang="zh-CN" dirty="0">
                  <a:solidFill>
                    <a:schemeClr val="tx1">
                      <a:lumMod val="95000"/>
                      <a:lumOff val="5000"/>
                    </a:schemeClr>
                  </a:solidFill>
                  <a:latin typeface="+mn-lt"/>
                  <a:ea typeface="+mn-ea"/>
                  <a:cs typeface="+mn-ea"/>
                  <a:sym typeface="+mn-lt"/>
                </a:rPr>
                <a:t>MBO)</a:t>
              </a:r>
              <a:r>
                <a:rPr lang="zh-CN" altLang="en-US" dirty="0">
                  <a:solidFill>
                    <a:schemeClr val="tx1">
                      <a:lumMod val="95000"/>
                      <a:lumOff val="5000"/>
                    </a:schemeClr>
                  </a:solidFill>
                  <a:latin typeface="+mn-lt"/>
                  <a:ea typeface="+mn-ea"/>
                  <a:cs typeface="+mn-ea"/>
                  <a:sym typeface="+mn-lt"/>
                </a:rPr>
                <a:t>是经常用到的一种重要的、有效的执行计划的管理技法。</a:t>
              </a:r>
              <a:endParaRPr lang="zh-CN" altLang="en-US" dirty="0">
                <a:solidFill>
                  <a:schemeClr val="tx1">
                    <a:lumMod val="95000"/>
                    <a:lumOff val="5000"/>
                  </a:schemeClr>
                </a:solidFill>
                <a:latin typeface="+mn-lt"/>
                <a:ea typeface="+mn-ea"/>
                <a:cs typeface="+mn-ea"/>
                <a:sym typeface="+mn-lt"/>
              </a:endParaRPr>
            </a:p>
          </p:txBody>
        </p:sp>
        <p:grpSp>
          <p:nvGrpSpPr>
            <p:cNvPr id="32" name="组合 31"/>
            <p:cNvGrpSpPr/>
            <p:nvPr/>
          </p:nvGrpSpPr>
          <p:grpSpPr>
            <a:xfrm>
              <a:off x="2104297" y="2205059"/>
              <a:ext cx="1787348" cy="461371"/>
              <a:chOff x="1517777" y="2328207"/>
              <a:chExt cx="1787348" cy="461371"/>
            </a:xfrm>
          </p:grpSpPr>
          <p:sp>
            <p:nvSpPr>
              <p:cNvPr id="33" name="六边形 32"/>
              <p:cNvSpPr/>
              <p:nvPr/>
            </p:nvSpPr>
            <p:spPr>
              <a:xfrm>
                <a:off x="1517777" y="2350803"/>
                <a:ext cx="1421983"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34" name="矩形 33"/>
              <p:cNvSpPr/>
              <p:nvPr/>
            </p:nvSpPr>
            <p:spPr>
              <a:xfrm>
                <a:off x="1658520" y="2328207"/>
                <a:ext cx="1646605" cy="420115"/>
              </a:xfrm>
              <a:prstGeom prst="rect">
                <a:avLst/>
              </a:prstGeom>
            </p:spPr>
            <p:txBody>
              <a:bodyPr wrap="square">
                <a:spAutoFit/>
              </a:bodyPr>
              <a:lstStyle/>
              <a:p>
                <a:pPr algn="just">
                  <a:lnSpc>
                    <a:spcPts val="2900"/>
                  </a:lnSpc>
                  <a:buClr>
                    <a:srgbClr val="000066"/>
                  </a:buClr>
                </a:pPr>
                <a:r>
                  <a:rPr lang="zh-CN" altLang="en-US" sz="1600" spc="300" dirty="0">
                    <a:solidFill>
                      <a:schemeClr val="bg1"/>
                    </a:solidFill>
                    <a:cs typeface="+mn-ea"/>
                    <a:sym typeface="+mn-lt"/>
                  </a:rPr>
                  <a:t>目标管理</a:t>
                </a:r>
                <a:endParaRPr lang="zh-CN" altLang="en-US" sz="1600" spc="300" dirty="0">
                  <a:solidFill>
                    <a:schemeClr val="bg1"/>
                  </a:solidFill>
                  <a:cs typeface="+mn-ea"/>
                  <a:sym typeface="+mn-lt"/>
                </a:endParaRPr>
              </a:p>
            </p:txBody>
          </p:sp>
        </p:grpSp>
      </p:grpSp>
      <p:sp>
        <p:nvSpPr>
          <p:cNvPr id="2" name="矩形 1"/>
          <p:cNvSpPr/>
          <p:nvPr/>
        </p:nvSpPr>
        <p:spPr>
          <a:xfrm>
            <a:off x="1491766" y="3060392"/>
            <a:ext cx="2778313" cy="687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Rectangle 3"/>
          <p:cNvSpPr txBox="1">
            <a:spLocks noChangeArrowheads="1"/>
          </p:cNvSpPr>
          <p:nvPr/>
        </p:nvSpPr>
        <p:spPr>
          <a:xfrm>
            <a:off x="1786270" y="3228945"/>
            <a:ext cx="2325588"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36482"/>
                </a:solidFill>
                <a:latin typeface="+mn-lt"/>
                <a:ea typeface="+mn-ea"/>
                <a:cs typeface="+mn-ea"/>
                <a:sym typeface="+mn-lt"/>
              </a:rPr>
              <a:t>计划的编制程序</a:t>
            </a:r>
            <a:endParaRPr lang="en-US" altLang="zh-CN" dirty="0">
              <a:solidFill>
                <a:srgbClr val="536482"/>
              </a:solidFill>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randombar(horizontal)">
                                      <p:cBhvr>
                                        <p:cTn id="7" dur="500"/>
                                        <p:tgtEl>
                                          <p:spTgt spid="5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randombar(horizontal)">
                                      <p:cBhvr>
                                        <p:cTn id="10" dur="500"/>
                                        <p:tgtEl>
                                          <p:spTgt spid="3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par>
                                <p:cTn id="14" presetID="14" presetClass="entr" presetSubtype="1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randombar(horizontal)">
                                      <p:cBhvr>
                                        <p:cTn id="16" dur="500"/>
                                        <p:tgtEl>
                                          <p:spTgt spid="3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additive="base">
                                        <p:cTn id="21" dur="500" fill="hold"/>
                                        <p:tgtEl>
                                          <p:spTgt spid="35"/>
                                        </p:tgtEl>
                                        <p:attrNameLst>
                                          <p:attrName>ppt_x</p:attrName>
                                        </p:attrNameLst>
                                      </p:cBhvr>
                                      <p:tavLst>
                                        <p:tav tm="0">
                                          <p:val>
                                            <p:strVal val="#ppt_x"/>
                                          </p:val>
                                        </p:tav>
                                        <p:tav tm="100000">
                                          <p:val>
                                            <p:strVal val="#ppt_x"/>
                                          </p:val>
                                        </p:tav>
                                      </p:tavLst>
                                    </p:anim>
                                    <p:anim calcmode="lin" valueType="num">
                                      <p:cBhvr additive="base">
                                        <p:cTn id="2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7625023" y="1008883"/>
            <a:ext cx="3753573" cy="3142120"/>
            <a:chOff x="5873541" y="4395407"/>
            <a:chExt cx="4065173" cy="3402961"/>
          </a:xfrm>
        </p:grpSpPr>
        <p:pic>
          <p:nvPicPr>
            <p:cNvPr id="28" name="图片 27"/>
            <p:cNvPicPr>
              <a:picLocks noChangeAspect="1"/>
            </p:cNvPicPr>
            <p:nvPr/>
          </p:nvPicPr>
          <p:blipFill>
            <a:blip r:embed="rId1" cstate="screen"/>
            <a:stretch>
              <a:fillRect/>
            </a:stretch>
          </p:blipFill>
          <p:spPr>
            <a:xfrm>
              <a:off x="8443949" y="4395407"/>
              <a:ext cx="687984" cy="2449223"/>
            </a:xfrm>
            <a:prstGeom prst="rect">
              <a:avLst/>
            </a:prstGeom>
          </p:spPr>
        </p:pic>
        <p:pic>
          <p:nvPicPr>
            <p:cNvPr id="29" name="图片 28"/>
            <p:cNvPicPr>
              <a:picLocks noChangeAspect="1"/>
            </p:cNvPicPr>
            <p:nvPr/>
          </p:nvPicPr>
          <p:blipFill>
            <a:blip r:embed="rId2" cstate="screen"/>
            <a:stretch>
              <a:fillRect/>
            </a:stretch>
          </p:blipFill>
          <p:spPr>
            <a:xfrm>
              <a:off x="5873541" y="4784202"/>
              <a:ext cx="523156" cy="2060429"/>
            </a:xfrm>
            <a:prstGeom prst="rect">
              <a:avLst/>
            </a:prstGeom>
          </p:spPr>
        </p:pic>
        <p:pic>
          <p:nvPicPr>
            <p:cNvPr id="30" name="图片 29"/>
            <p:cNvPicPr>
              <a:picLocks noChangeAspect="1"/>
            </p:cNvPicPr>
            <p:nvPr/>
          </p:nvPicPr>
          <p:blipFill>
            <a:blip r:embed="rId3" cstate="screen"/>
            <a:stretch>
              <a:fillRect/>
            </a:stretch>
          </p:blipFill>
          <p:spPr>
            <a:xfrm>
              <a:off x="6691608" y="5799601"/>
              <a:ext cx="235236" cy="1045029"/>
            </a:xfrm>
            <a:prstGeom prst="rect">
              <a:avLst/>
            </a:prstGeom>
          </p:spPr>
        </p:pic>
        <p:pic>
          <p:nvPicPr>
            <p:cNvPr id="31" name="图片 30"/>
            <p:cNvPicPr>
              <a:picLocks noChangeAspect="1"/>
            </p:cNvPicPr>
            <p:nvPr/>
          </p:nvPicPr>
          <p:blipFill>
            <a:blip r:embed="rId4" cstate="screen"/>
            <a:stretch>
              <a:fillRect/>
            </a:stretch>
          </p:blipFill>
          <p:spPr>
            <a:xfrm>
              <a:off x="7061171" y="4537314"/>
              <a:ext cx="523155" cy="2324101"/>
            </a:xfrm>
            <a:prstGeom prst="rect">
              <a:avLst/>
            </a:prstGeom>
          </p:spPr>
        </p:pic>
        <p:pic>
          <p:nvPicPr>
            <p:cNvPr id="32" name="图片 31"/>
            <p:cNvPicPr>
              <a:picLocks noChangeAspect="1"/>
            </p:cNvPicPr>
            <p:nvPr/>
          </p:nvPicPr>
          <p:blipFill>
            <a:blip r:embed="rId5" cstate="screen"/>
            <a:stretch>
              <a:fillRect/>
            </a:stretch>
          </p:blipFill>
          <p:spPr>
            <a:xfrm>
              <a:off x="8255222" y="5326143"/>
              <a:ext cx="349913" cy="1554480"/>
            </a:xfrm>
            <a:prstGeom prst="rect">
              <a:avLst/>
            </a:prstGeom>
          </p:spPr>
        </p:pic>
        <p:pic>
          <p:nvPicPr>
            <p:cNvPr id="33" name="图片 32"/>
            <p:cNvPicPr>
              <a:picLocks noChangeAspect="1"/>
            </p:cNvPicPr>
            <p:nvPr/>
          </p:nvPicPr>
          <p:blipFill>
            <a:blip r:embed="rId2" cstate="screen"/>
            <a:stretch>
              <a:fillRect/>
            </a:stretch>
          </p:blipFill>
          <p:spPr>
            <a:xfrm>
              <a:off x="9415558" y="4820194"/>
              <a:ext cx="523156" cy="2060429"/>
            </a:xfrm>
            <a:prstGeom prst="rect">
              <a:avLst/>
            </a:prstGeom>
          </p:spPr>
        </p:pic>
        <p:pic>
          <p:nvPicPr>
            <p:cNvPr id="34" name="图片 33"/>
            <p:cNvPicPr>
              <a:picLocks noChangeAspect="1"/>
            </p:cNvPicPr>
            <p:nvPr/>
          </p:nvPicPr>
          <p:blipFill>
            <a:blip r:embed="rId2" cstate="screen"/>
            <a:stretch>
              <a:fillRect/>
            </a:stretch>
          </p:blipFill>
          <p:spPr>
            <a:xfrm>
              <a:off x="7824652" y="5737939"/>
              <a:ext cx="523156" cy="2060429"/>
            </a:xfrm>
            <a:prstGeom prst="rect">
              <a:avLst/>
            </a:prstGeom>
          </p:spPr>
        </p:pic>
      </p:grpSp>
      <p:grpSp>
        <p:nvGrpSpPr>
          <p:cNvPr id="14" name="组合 13"/>
          <p:cNvGrpSpPr/>
          <p:nvPr/>
        </p:nvGrpSpPr>
        <p:grpSpPr>
          <a:xfrm>
            <a:off x="1555367" y="1611818"/>
            <a:ext cx="3011612" cy="4414910"/>
            <a:chOff x="4591231" y="1381975"/>
            <a:chExt cx="3545408" cy="5197436"/>
          </a:xfrm>
        </p:grpSpPr>
        <p:grpSp>
          <p:nvGrpSpPr>
            <p:cNvPr id="15" name="组合 14"/>
            <p:cNvGrpSpPr/>
            <p:nvPr/>
          </p:nvGrpSpPr>
          <p:grpSpPr>
            <a:xfrm>
              <a:off x="4591231" y="1381975"/>
              <a:ext cx="3545408" cy="5197436"/>
              <a:chOff x="4670243" y="1706757"/>
              <a:chExt cx="3189743" cy="4676045"/>
            </a:xfrm>
          </p:grpSpPr>
          <p:pic>
            <p:nvPicPr>
              <p:cNvPr id="17" name="Picture 2"/>
              <p:cNvPicPr>
                <a:picLocks noChangeAspect="1" noChangeArrowheads="1"/>
              </p:cNvPicPr>
              <p:nvPr/>
            </p:nvPicPr>
            <p:blipFill>
              <a:blip r:embed="rId6" cstate="email"/>
              <a:srcRect/>
              <a:stretch>
                <a:fillRect/>
              </a:stretch>
            </p:blipFill>
            <p:spPr bwMode="auto">
              <a:xfrm>
                <a:off x="4670243" y="1706757"/>
                <a:ext cx="3189743" cy="467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7"/>
              <p:cNvSpPr/>
              <p:nvPr/>
            </p:nvSpPr>
            <p:spPr>
              <a:xfrm>
                <a:off x="4843683" y="2080748"/>
                <a:ext cx="2854157" cy="3806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6" name="Text Box 6"/>
            <p:cNvSpPr txBox="1">
              <a:spLocks noChangeArrowheads="1"/>
            </p:cNvSpPr>
            <p:nvPr/>
          </p:nvSpPr>
          <p:spPr bwMode="auto">
            <a:xfrm>
              <a:off x="5089025" y="2711567"/>
              <a:ext cx="2716490" cy="3173397"/>
            </a:xfrm>
            <a:prstGeom prst="rect">
              <a:avLst/>
            </a:prstGeom>
          </p:spPr>
          <p:txBody>
            <a:bodyPr wrap="square">
              <a:spAutoFit/>
            </a:bodyPr>
            <a:lstStyle>
              <a:defPPr>
                <a:defRPr lang="en-US"/>
              </a:defPPr>
              <a:lvl1pPr algn="just">
                <a:lnSpc>
                  <a:spcPts val="2900"/>
                </a:lnSpc>
                <a:buClr>
                  <a:srgbClr val="000066"/>
                </a:buClr>
                <a:defRPr sz="1600" spc="300">
                  <a:solidFill>
                    <a:schemeClr val="tx1">
                      <a:lumMod val="95000"/>
                      <a:lumOff val="5000"/>
                    </a:schemeClr>
                  </a:solidFill>
                  <a:latin typeface="思源黑体 CN Regular" panose="020B0500000000000000" pitchFamily="34" charset="-122"/>
                  <a:ea typeface="思源黑体 CN Regular" panose="020B0500000000000000"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latin typeface="+mn-lt"/>
                  <a:ea typeface="+mn-ea"/>
                  <a:cs typeface="+mn-ea"/>
                  <a:sym typeface="+mn-lt"/>
                </a:rPr>
                <a:t>组织作为</a:t>
              </a:r>
              <a:r>
                <a:rPr lang="en-US" altLang="zh-CN" dirty="0">
                  <a:latin typeface="+mn-lt"/>
                  <a:ea typeface="+mn-ea"/>
                  <a:cs typeface="+mn-ea"/>
                  <a:sym typeface="+mn-lt"/>
                </a:rPr>
                <a:t>—</a:t>
              </a:r>
              <a:r>
                <a:rPr lang="zh-CN" altLang="en-US" dirty="0">
                  <a:latin typeface="+mn-lt"/>
                  <a:ea typeface="+mn-ea"/>
                  <a:cs typeface="+mn-ea"/>
                  <a:sym typeface="+mn-lt"/>
                </a:rPr>
                <a:t>个整体，具有共同的目标。因此，在管理活动中一个组织机构的建立、撤销、合并等，都必须服从于组织的目标。</a:t>
              </a:r>
              <a:endParaRPr lang="zh-CN" altLang="en-US" dirty="0">
                <a:latin typeface="+mn-lt"/>
                <a:ea typeface="+mn-ea"/>
                <a:cs typeface="+mn-ea"/>
                <a:sym typeface="+mn-lt"/>
              </a:endParaRPr>
            </a:p>
          </p:txBody>
        </p:sp>
      </p:grpSp>
      <p:grpSp>
        <p:nvGrpSpPr>
          <p:cNvPr id="11" name="组合 10"/>
          <p:cNvGrpSpPr/>
          <p:nvPr/>
        </p:nvGrpSpPr>
        <p:grpSpPr>
          <a:xfrm>
            <a:off x="2412149" y="2141168"/>
            <a:ext cx="2600513" cy="438775"/>
            <a:chOff x="6597916" y="1796661"/>
            <a:chExt cx="2600513" cy="438775"/>
          </a:xfrm>
        </p:grpSpPr>
        <p:sp>
          <p:nvSpPr>
            <p:cNvPr id="12" name="六边形 11"/>
            <p:cNvSpPr/>
            <p:nvPr/>
          </p:nvSpPr>
          <p:spPr>
            <a:xfrm>
              <a:off x="6597916" y="1796661"/>
              <a:ext cx="2600513"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13" name="Rectangle 3"/>
            <p:cNvSpPr txBox="1">
              <a:spLocks noChangeArrowheads="1"/>
            </p:cNvSpPr>
            <p:nvPr/>
          </p:nvSpPr>
          <p:spPr>
            <a:xfrm>
              <a:off x="6800694" y="1818951"/>
              <a:ext cx="2325588"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计划的编制程序</a:t>
              </a:r>
              <a:endParaRPr lang="en-US" altLang="zh-CN" dirty="0">
                <a:solidFill>
                  <a:schemeClr val="bg1"/>
                </a:solidFill>
                <a:latin typeface="+mn-lt"/>
                <a:ea typeface="+mn-ea"/>
                <a:cs typeface="+mn-ea"/>
                <a:sym typeface="+mn-lt"/>
              </a:endParaRPr>
            </a:p>
          </p:txBody>
        </p:sp>
      </p:grpSp>
      <p:grpSp>
        <p:nvGrpSpPr>
          <p:cNvPr id="26" name="组合 25"/>
          <p:cNvGrpSpPr/>
          <p:nvPr/>
        </p:nvGrpSpPr>
        <p:grpSpPr>
          <a:xfrm>
            <a:off x="5027186" y="2475110"/>
            <a:ext cx="5786664" cy="1286920"/>
            <a:chOff x="5005089" y="2360555"/>
            <a:chExt cx="5786664" cy="1286920"/>
          </a:xfrm>
        </p:grpSpPr>
        <p:grpSp>
          <p:nvGrpSpPr>
            <p:cNvPr id="20" name="组合 19"/>
            <p:cNvGrpSpPr/>
            <p:nvPr/>
          </p:nvGrpSpPr>
          <p:grpSpPr>
            <a:xfrm>
              <a:off x="5005089" y="2360555"/>
              <a:ext cx="5609447" cy="1094400"/>
              <a:chOff x="5005089" y="2604765"/>
              <a:chExt cx="5609447" cy="1094400"/>
            </a:xfrm>
          </p:grpSpPr>
          <p:sp>
            <p:nvSpPr>
              <p:cNvPr id="19" name="矩形: 圆角 18"/>
              <p:cNvSpPr/>
              <p:nvPr/>
            </p:nvSpPr>
            <p:spPr>
              <a:xfrm>
                <a:off x="5005089" y="2604765"/>
                <a:ext cx="5609447" cy="1094400"/>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Rectangle 6"/>
              <p:cNvSpPr>
                <a:spLocks noChangeArrowheads="1"/>
              </p:cNvSpPr>
              <p:nvPr/>
            </p:nvSpPr>
            <p:spPr bwMode="auto">
              <a:xfrm>
                <a:off x="5280514" y="2753394"/>
                <a:ext cx="5118063" cy="792012"/>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决定组织效率的两个主要因素是组织内的信息交流和协调配合。</a:t>
                </a:r>
                <a:endParaRPr lang="zh-CN" altLang="en-US" sz="1600" spc="300" dirty="0">
                  <a:cs typeface="+mn-ea"/>
                  <a:sym typeface="+mn-lt"/>
                </a:endParaRPr>
              </a:p>
            </p:txBody>
          </p:sp>
        </p:grpSp>
        <p:sp>
          <p:nvSpPr>
            <p:cNvPr id="23" name="椭圆 22"/>
            <p:cNvSpPr/>
            <p:nvPr/>
          </p:nvSpPr>
          <p:spPr>
            <a:xfrm>
              <a:off x="10109452" y="2965174"/>
              <a:ext cx="682301" cy="682301"/>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01</a:t>
              </a:r>
              <a:endParaRPr lang="zh-CN" altLang="en-US" b="1" dirty="0">
                <a:solidFill>
                  <a:srgbClr val="536482"/>
                </a:solidFill>
                <a:cs typeface="+mn-ea"/>
                <a:sym typeface="+mn-lt"/>
              </a:endParaRPr>
            </a:p>
          </p:txBody>
        </p:sp>
      </p:grpSp>
      <p:grpSp>
        <p:nvGrpSpPr>
          <p:cNvPr id="25" name="组合 24"/>
          <p:cNvGrpSpPr/>
          <p:nvPr/>
        </p:nvGrpSpPr>
        <p:grpSpPr>
          <a:xfrm>
            <a:off x="5027186" y="3955506"/>
            <a:ext cx="5786663" cy="1359477"/>
            <a:chOff x="5005089" y="3997758"/>
            <a:chExt cx="5786663" cy="1359477"/>
          </a:xfrm>
        </p:grpSpPr>
        <p:grpSp>
          <p:nvGrpSpPr>
            <p:cNvPr id="22" name="组合 21"/>
            <p:cNvGrpSpPr/>
            <p:nvPr/>
          </p:nvGrpSpPr>
          <p:grpSpPr>
            <a:xfrm>
              <a:off x="5005089" y="3997758"/>
              <a:ext cx="5609447" cy="1094400"/>
              <a:chOff x="5005089" y="3997758"/>
              <a:chExt cx="5609447" cy="1094400"/>
            </a:xfrm>
          </p:grpSpPr>
          <p:sp>
            <p:nvSpPr>
              <p:cNvPr id="21" name="矩形: 圆角 20"/>
              <p:cNvSpPr/>
              <p:nvPr/>
            </p:nvSpPr>
            <p:spPr>
              <a:xfrm>
                <a:off x="5005089" y="3997758"/>
                <a:ext cx="5609447" cy="1094400"/>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矩形 8"/>
              <p:cNvSpPr/>
              <p:nvPr/>
            </p:nvSpPr>
            <p:spPr>
              <a:xfrm>
                <a:off x="5280514" y="4142870"/>
                <a:ext cx="5118063" cy="792012"/>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完成组织目标的业务活动和主要责任是决定各级组织权责范围的基础。</a:t>
                </a:r>
                <a:endParaRPr lang="zh-CN" altLang="en-US" sz="1600" spc="300" dirty="0">
                  <a:cs typeface="+mn-ea"/>
                  <a:sym typeface="+mn-lt"/>
                </a:endParaRPr>
              </a:p>
            </p:txBody>
          </p:sp>
        </p:grpSp>
        <p:sp>
          <p:nvSpPr>
            <p:cNvPr id="24" name="椭圆 23"/>
            <p:cNvSpPr/>
            <p:nvPr/>
          </p:nvSpPr>
          <p:spPr>
            <a:xfrm>
              <a:off x="10109451" y="4674934"/>
              <a:ext cx="682301" cy="682301"/>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02</a:t>
              </a:r>
              <a:endParaRPr lang="zh-CN" altLang="en-US" b="1" dirty="0">
                <a:solidFill>
                  <a:srgbClr val="536482"/>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par>
                                <p:cTn id="13" presetID="14" presetClass="entr" presetSubtype="1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additive="base">
                                        <p:cTn id="20" dur="500" fill="hold"/>
                                        <p:tgtEl>
                                          <p:spTgt spid="26"/>
                                        </p:tgtEl>
                                        <p:attrNameLst>
                                          <p:attrName>ppt_x</p:attrName>
                                        </p:attrNameLst>
                                      </p:cBhvr>
                                      <p:tavLst>
                                        <p:tav tm="0">
                                          <p:val>
                                            <p:strVal val="#ppt_x"/>
                                          </p:val>
                                        </p:tav>
                                        <p:tav tm="100000">
                                          <p:val>
                                            <p:strVal val="#ppt_x"/>
                                          </p:val>
                                        </p:tav>
                                      </p:tavLst>
                                    </p:anim>
                                    <p:anim calcmode="lin" valueType="num">
                                      <p:cBhvr additive="base">
                                        <p:cTn id="2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fill="hold"/>
                                        <p:tgtEl>
                                          <p:spTgt spid="25"/>
                                        </p:tgtEl>
                                        <p:attrNameLst>
                                          <p:attrName>ppt_x</p:attrName>
                                        </p:attrNameLst>
                                      </p:cBhvr>
                                      <p:tavLst>
                                        <p:tav tm="0">
                                          <p:val>
                                            <p:strVal val="#ppt_x"/>
                                          </p:val>
                                        </p:tav>
                                        <p:tav tm="100000">
                                          <p:val>
                                            <p:strVal val="#ppt_x"/>
                                          </p:val>
                                        </p:tav>
                                      </p:tavLst>
                                    </p:anim>
                                    <p:anim calcmode="lin" valueType="num">
                                      <p:cBhvr additive="base">
                                        <p:cTn id="2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04</a:t>
            </a:r>
            <a:endParaRPr lang="zh-CN" altLang="en-US" sz="6600" dirty="0">
              <a:solidFill>
                <a:srgbClr val="536482"/>
              </a:solidFill>
              <a:cs typeface="+mn-ea"/>
              <a:sym typeface="+mn-lt"/>
            </a:endParaRPr>
          </a:p>
        </p:txBody>
      </p:sp>
      <p:grpSp>
        <p:nvGrpSpPr>
          <p:cNvPr id="8" name="组合 7"/>
          <p:cNvGrpSpPr/>
          <p:nvPr/>
        </p:nvGrpSpPr>
        <p:grpSpPr>
          <a:xfrm>
            <a:off x="3793246" y="2780683"/>
            <a:ext cx="4665165" cy="1292081"/>
            <a:chOff x="903350" y="2642647"/>
            <a:chExt cx="4665165" cy="1292081"/>
          </a:xfrm>
        </p:grpSpPr>
        <p:sp>
          <p:nvSpPr>
            <p:cNvPr id="9" name="文本框 8"/>
            <p:cNvSpPr txBox="1"/>
            <p:nvPr/>
          </p:nvSpPr>
          <p:spPr>
            <a:xfrm>
              <a:off x="903350" y="2642647"/>
              <a:ext cx="4665165" cy="830997"/>
            </a:xfrm>
            <a:prstGeom prst="rect">
              <a:avLst/>
            </a:prstGeom>
            <a:noFill/>
          </p:spPr>
          <p:txBody>
            <a:bodyPr wrap="square" rtlCol="0">
              <a:spAutoFit/>
            </a:bodyPr>
            <a:lstStyle/>
            <a:p>
              <a:pPr algn="ctr"/>
              <a:r>
                <a:rPr lang="zh-CN" altLang="en-US" sz="4800" spc="300" dirty="0">
                  <a:solidFill>
                    <a:srgbClr val="536482"/>
                  </a:solidFill>
                  <a:cs typeface="+mn-ea"/>
                  <a:sym typeface="+mn-lt"/>
                </a:rPr>
                <a:t>现代企业制度</a:t>
              </a:r>
              <a:endParaRPr lang="zh-CN" altLang="en-US" sz="4800" spc="300" dirty="0">
                <a:solidFill>
                  <a:srgbClr val="536482"/>
                </a:solidFill>
                <a:cs typeface="+mn-ea"/>
                <a:sym typeface="+mn-lt"/>
              </a:endParaRPr>
            </a:p>
          </p:txBody>
        </p:sp>
        <p:sp>
          <p:nvSpPr>
            <p:cNvPr id="10" name="矩形 9"/>
            <p:cNvSpPr/>
            <p:nvPr/>
          </p:nvSpPr>
          <p:spPr>
            <a:xfrm>
              <a:off x="1733683" y="3557317"/>
              <a:ext cx="3004497" cy="377411"/>
            </a:xfrm>
            <a:prstGeom prst="rect">
              <a:avLst/>
            </a:prstGeom>
            <a:noFill/>
          </p:spPr>
          <p:txBody>
            <a:bodyPr vert="horz" wrap="square" rtlCol="0">
              <a:spAutoFit/>
            </a:bodyPr>
            <a:lstStyle/>
            <a:p>
              <a:pPr>
                <a:lnSpc>
                  <a:spcPct val="150000"/>
                </a:lnSpc>
              </a:pPr>
              <a:r>
                <a:rPr lang="zh-CN" altLang="en-US" sz="1400" spc="300" dirty="0">
                  <a:cs typeface="+mn-ea"/>
                  <a:sym typeface="+mn-lt"/>
                </a:rPr>
                <a:t>在此处写下您的工作计划总结</a:t>
              </a:r>
              <a:endParaRPr lang="zh-CN" altLang="en-US" sz="1400" spc="3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607752" y="5462370"/>
            <a:ext cx="10647489" cy="3986045"/>
            <a:chOff x="145701" y="4173883"/>
            <a:chExt cx="9793013" cy="3666159"/>
          </a:xfrm>
        </p:grpSpPr>
        <p:pic>
          <p:nvPicPr>
            <p:cNvPr id="47" name="图片 46"/>
            <p:cNvPicPr>
              <a:picLocks noChangeAspect="1"/>
            </p:cNvPicPr>
            <p:nvPr/>
          </p:nvPicPr>
          <p:blipFill>
            <a:blip r:embed="rId1" cstate="screen"/>
            <a:stretch>
              <a:fillRect/>
            </a:stretch>
          </p:blipFill>
          <p:spPr>
            <a:xfrm>
              <a:off x="329613" y="4454433"/>
              <a:ext cx="681514" cy="2426189"/>
            </a:xfrm>
            <a:prstGeom prst="rect">
              <a:avLst/>
            </a:prstGeom>
          </p:spPr>
        </p:pic>
        <p:pic>
          <p:nvPicPr>
            <p:cNvPr id="48" name="图片 47"/>
            <p:cNvPicPr>
              <a:picLocks noChangeAspect="1"/>
            </p:cNvPicPr>
            <p:nvPr/>
          </p:nvPicPr>
          <p:blipFill>
            <a:blip r:embed="rId2" cstate="screen"/>
            <a:stretch>
              <a:fillRect/>
            </a:stretch>
          </p:blipFill>
          <p:spPr>
            <a:xfrm>
              <a:off x="145701" y="5303520"/>
              <a:ext cx="349913" cy="1554480"/>
            </a:xfrm>
            <a:prstGeom prst="rect">
              <a:avLst/>
            </a:prstGeom>
          </p:spPr>
        </p:pic>
        <p:pic>
          <p:nvPicPr>
            <p:cNvPr id="49" name="图片 48"/>
            <p:cNvPicPr>
              <a:picLocks noChangeAspect="1"/>
            </p:cNvPicPr>
            <p:nvPr/>
          </p:nvPicPr>
          <p:blipFill>
            <a:blip r:embed="rId3" cstate="screen"/>
            <a:stretch>
              <a:fillRect/>
            </a:stretch>
          </p:blipFill>
          <p:spPr>
            <a:xfrm>
              <a:off x="1306037" y="4797571"/>
              <a:ext cx="523156" cy="2060429"/>
            </a:xfrm>
            <a:prstGeom prst="rect">
              <a:avLst/>
            </a:prstGeom>
          </p:spPr>
        </p:pic>
        <p:pic>
          <p:nvPicPr>
            <p:cNvPr id="50" name="图片 49"/>
            <p:cNvPicPr>
              <a:picLocks noChangeAspect="1"/>
            </p:cNvPicPr>
            <p:nvPr/>
          </p:nvPicPr>
          <p:blipFill>
            <a:blip r:embed="rId4" cstate="screen"/>
            <a:stretch>
              <a:fillRect/>
            </a:stretch>
          </p:blipFill>
          <p:spPr>
            <a:xfrm>
              <a:off x="2124104" y="5812970"/>
              <a:ext cx="235236" cy="1045029"/>
            </a:xfrm>
            <a:prstGeom prst="rect">
              <a:avLst/>
            </a:prstGeom>
          </p:spPr>
        </p:pic>
        <p:pic>
          <p:nvPicPr>
            <p:cNvPr id="51" name="图片 50"/>
            <p:cNvPicPr>
              <a:picLocks noChangeAspect="1"/>
            </p:cNvPicPr>
            <p:nvPr/>
          </p:nvPicPr>
          <p:blipFill>
            <a:blip r:embed="rId5" cstate="screen"/>
            <a:stretch>
              <a:fillRect/>
            </a:stretch>
          </p:blipFill>
          <p:spPr>
            <a:xfrm>
              <a:off x="2465023" y="4557474"/>
              <a:ext cx="523155" cy="2324101"/>
            </a:xfrm>
            <a:prstGeom prst="rect">
              <a:avLst/>
            </a:prstGeom>
          </p:spPr>
        </p:pic>
        <p:pic>
          <p:nvPicPr>
            <p:cNvPr id="52" name="图片 51"/>
            <p:cNvPicPr>
              <a:picLocks noChangeAspect="1"/>
            </p:cNvPicPr>
            <p:nvPr/>
          </p:nvPicPr>
          <p:blipFill>
            <a:blip r:embed="rId3" cstate="screen"/>
            <a:stretch>
              <a:fillRect/>
            </a:stretch>
          </p:blipFill>
          <p:spPr>
            <a:xfrm>
              <a:off x="3255264" y="4173883"/>
              <a:ext cx="681514" cy="2684116"/>
            </a:xfrm>
            <a:prstGeom prst="rect">
              <a:avLst/>
            </a:prstGeom>
          </p:spPr>
        </p:pic>
        <p:pic>
          <p:nvPicPr>
            <p:cNvPr id="53" name="图片 52"/>
            <p:cNvPicPr>
              <a:picLocks noChangeAspect="1"/>
            </p:cNvPicPr>
            <p:nvPr/>
          </p:nvPicPr>
          <p:blipFill>
            <a:blip r:embed="rId5" cstate="screen"/>
            <a:stretch>
              <a:fillRect/>
            </a:stretch>
          </p:blipFill>
          <p:spPr>
            <a:xfrm>
              <a:off x="4080322" y="5515941"/>
              <a:ext cx="523155" cy="2324101"/>
            </a:xfrm>
            <a:prstGeom prst="rect">
              <a:avLst/>
            </a:prstGeom>
          </p:spPr>
        </p:pic>
        <p:pic>
          <p:nvPicPr>
            <p:cNvPr id="54" name="图片 53"/>
            <p:cNvPicPr>
              <a:picLocks noChangeAspect="1"/>
            </p:cNvPicPr>
            <p:nvPr/>
          </p:nvPicPr>
          <p:blipFill>
            <a:blip r:embed="rId3"/>
            <a:stretch>
              <a:fillRect/>
            </a:stretch>
          </p:blipFill>
          <p:spPr>
            <a:xfrm>
              <a:off x="4603477" y="4425404"/>
              <a:ext cx="816077" cy="3214087"/>
            </a:xfrm>
            <a:prstGeom prst="rect">
              <a:avLst/>
            </a:prstGeom>
          </p:spPr>
        </p:pic>
        <p:pic>
          <p:nvPicPr>
            <p:cNvPr id="55" name="图片 54"/>
            <p:cNvPicPr>
              <a:picLocks noChangeAspect="1"/>
            </p:cNvPicPr>
            <p:nvPr/>
          </p:nvPicPr>
          <p:blipFill>
            <a:blip r:embed="rId6" cstate="screen"/>
            <a:stretch>
              <a:fillRect/>
            </a:stretch>
          </p:blipFill>
          <p:spPr>
            <a:xfrm>
              <a:off x="5252314" y="5303520"/>
              <a:ext cx="443307" cy="1578173"/>
            </a:xfrm>
            <a:prstGeom prst="rect">
              <a:avLst/>
            </a:prstGeom>
          </p:spPr>
        </p:pic>
        <p:pic>
          <p:nvPicPr>
            <p:cNvPr id="56" name="图片 55"/>
            <p:cNvPicPr>
              <a:picLocks noChangeAspect="1"/>
            </p:cNvPicPr>
            <p:nvPr/>
          </p:nvPicPr>
          <p:blipFill>
            <a:blip r:embed="rId1" cstate="screen"/>
            <a:stretch>
              <a:fillRect/>
            </a:stretch>
          </p:blipFill>
          <p:spPr>
            <a:xfrm>
              <a:off x="8443949" y="4395407"/>
              <a:ext cx="687984" cy="2449223"/>
            </a:xfrm>
            <a:prstGeom prst="rect">
              <a:avLst/>
            </a:prstGeom>
          </p:spPr>
        </p:pic>
        <p:pic>
          <p:nvPicPr>
            <p:cNvPr id="57" name="图片 56"/>
            <p:cNvPicPr>
              <a:picLocks noChangeAspect="1"/>
            </p:cNvPicPr>
            <p:nvPr/>
          </p:nvPicPr>
          <p:blipFill>
            <a:blip r:embed="rId3" cstate="screen"/>
            <a:stretch>
              <a:fillRect/>
            </a:stretch>
          </p:blipFill>
          <p:spPr>
            <a:xfrm>
              <a:off x="5873541" y="4784202"/>
              <a:ext cx="523156" cy="2060429"/>
            </a:xfrm>
            <a:prstGeom prst="rect">
              <a:avLst/>
            </a:prstGeom>
          </p:spPr>
        </p:pic>
        <p:pic>
          <p:nvPicPr>
            <p:cNvPr id="58" name="图片 57"/>
            <p:cNvPicPr>
              <a:picLocks noChangeAspect="1"/>
            </p:cNvPicPr>
            <p:nvPr/>
          </p:nvPicPr>
          <p:blipFill>
            <a:blip r:embed="rId4" cstate="screen"/>
            <a:stretch>
              <a:fillRect/>
            </a:stretch>
          </p:blipFill>
          <p:spPr>
            <a:xfrm>
              <a:off x="6691608" y="5799601"/>
              <a:ext cx="235236" cy="1045029"/>
            </a:xfrm>
            <a:prstGeom prst="rect">
              <a:avLst/>
            </a:prstGeom>
          </p:spPr>
        </p:pic>
        <p:pic>
          <p:nvPicPr>
            <p:cNvPr id="59" name="图片 58"/>
            <p:cNvPicPr>
              <a:picLocks noChangeAspect="1"/>
            </p:cNvPicPr>
            <p:nvPr/>
          </p:nvPicPr>
          <p:blipFill>
            <a:blip r:embed="rId5" cstate="screen"/>
            <a:stretch>
              <a:fillRect/>
            </a:stretch>
          </p:blipFill>
          <p:spPr>
            <a:xfrm>
              <a:off x="7061171" y="4537314"/>
              <a:ext cx="523155" cy="2324101"/>
            </a:xfrm>
            <a:prstGeom prst="rect">
              <a:avLst/>
            </a:prstGeom>
          </p:spPr>
        </p:pic>
        <p:pic>
          <p:nvPicPr>
            <p:cNvPr id="60" name="图片 59"/>
            <p:cNvPicPr>
              <a:picLocks noChangeAspect="1"/>
            </p:cNvPicPr>
            <p:nvPr/>
          </p:nvPicPr>
          <p:blipFill>
            <a:blip r:embed="rId2" cstate="screen"/>
            <a:stretch>
              <a:fillRect/>
            </a:stretch>
          </p:blipFill>
          <p:spPr>
            <a:xfrm>
              <a:off x="8255222" y="5326143"/>
              <a:ext cx="349913" cy="1554480"/>
            </a:xfrm>
            <a:prstGeom prst="rect">
              <a:avLst/>
            </a:prstGeom>
          </p:spPr>
        </p:pic>
        <p:pic>
          <p:nvPicPr>
            <p:cNvPr id="61" name="图片 60"/>
            <p:cNvPicPr>
              <a:picLocks noChangeAspect="1"/>
            </p:cNvPicPr>
            <p:nvPr/>
          </p:nvPicPr>
          <p:blipFill>
            <a:blip r:embed="rId3" cstate="screen"/>
            <a:stretch>
              <a:fillRect/>
            </a:stretch>
          </p:blipFill>
          <p:spPr>
            <a:xfrm>
              <a:off x="9415558" y="4820194"/>
              <a:ext cx="523156" cy="2060429"/>
            </a:xfrm>
            <a:prstGeom prst="rect">
              <a:avLst/>
            </a:prstGeom>
          </p:spPr>
        </p:pic>
        <p:pic>
          <p:nvPicPr>
            <p:cNvPr id="62" name="图片 61"/>
            <p:cNvPicPr>
              <a:picLocks noChangeAspect="1"/>
            </p:cNvPicPr>
            <p:nvPr/>
          </p:nvPicPr>
          <p:blipFill>
            <a:blip r:embed="rId3" cstate="screen"/>
            <a:stretch>
              <a:fillRect/>
            </a:stretch>
          </p:blipFill>
          <p:spPr>
            <a:xfrm>
              <a:off x="7824652" y="5737939"/>
              <a:ext cx="523156" cy="2060429"/>
            </a:xfrm>
            <a:prstGeom prst="rect">
              <a:avLst/>
            </a:prstGeom>
          </p:spPr>
        </p:pic>
      </p:grpSp>
      <p:grpSp>
        <p:nvGrpSpPr>
          <p:cNvPr id="20" name="组合 19"/>
          <p:cNvGrpSpPr/>
          <p:nvPr/>
        </p:nvGrpSpPr>
        <p:grpSpPr>
          <a:xfrm>
            <a:off x="4986880" y="1417863"/>
            <a:ext cx="2218240" cy="438775"/>
            <a:chOff x="6597917" y="1796661"/>
            <a:chExt cx="2218240" cy="438775"/>
          </a:xfrm>
        </p:grpSpPr>
        <p:sp>
          <p:nvSpPr>
            <p:cNvPr id="21" name="六边形 20"/>
            <p:cNvSpPr/>
            <p:nvPr/>
          </p:nvSpPr>
          <p:spPr>
            <a:xfrm>
              <a:off x="6597917" y="1796661"/>
              <a:ext cx="2218240" cy="438775"/>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cs typeface="+mn-ea"/>
                <a:sym typeface="+mn-lt"/>
              </a:endParaRPr>
            </a:p>
          </p:txBody>
        </p:sp>
        <p:sp>
          <p:nvSpPr>
            <p:cNvPr id="22" name="Rectangle 3"/>
            <p:cNvSpPr txBox="1">
              <a:spLocks noChangeArrowheads="1"/>
            </p:cNvSpPr>
            <p:nvPr/>
          </p:nvSpPr>
          <p:spPr>
            <a:xfrm>
              <a:off x="6790303" y="1815993"/>
              <a:ext cx="2015463" cy="400110"/>
            </a:xfrm>
            <a:prstGeom prst="rect">
              <a:avLst/>
            </a:prstGeom>
            <a:noFill/>
          </p:spPr>
          <p:txBody>
            <a:bodyPr vert="horz" wrap="square" rtlCol="0">
              <a:spAutoFit/>
            </a:bodyPr>
            <a:lstStyle>
              <a:defPPr>
                <a:defRPr lang="en-US"/>
              </a:defPPr>
              <a:lvl1pPr>
                <a:defRPr sz="2000" spc="300">
                  <a:solidFill>
                    <a:srgbClr val="0033B5"/>
                  </a:solidFill>
                  <a:latin typeface="字魂35号-经典雅黑" panose="00000500000000000000" pitchFamily="2" charset="-122"/>
                  <a:ea typeface="字魂35号-经典雅黑" panose="000005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mn-lt"/>
                  <a:ea typeface="+mn-ea"/>
                  <a:cs typeface="+mn-ea"/>
                  <a:sym typeface="+mn-lt"/>
                </a:rPr>
                <a:t>国有企业改革</a:t>
              </a:r>
              <a:endParaRPr lang="en-US" altLang="zh-CN" dirty="0">
                <a:solidFill>
                  <a:schemeClr val="bg1"/>
                </a:solidFill>
                <a:latin typeface="+mn-lt"/>
                <a:ea typeface="+mn-ea"/>
                <a:cs typeface="+mn-ea"/>
                <a:sym typeface="+mn-lt"/>
              </a:endParaRPr>
            </a:p>
          </p:txBody>
        </p:sp>
      </p:grpSp>
      <p:grpSp>
        <p:nvGrpSpPr>
          <p:cNvPr id="26" name="组合 25"/>
          <p:cNvGrpSpPr/>
          <p:nvPr/>
        </p:nvGrpSpPr>
        <p:grpSpPr>
          <a:xfrm>
            <a:off x="2012812" y="2169477"/>
            <a:ext cx="3565161" cy="1374704"/>
            <a:chOff x="4893254" y="2215352"/>
            <a:chExt cx="3565161" cy="1374704"/>
          </a:xfrm>
        </p:grpSpPr>
        <p:grpSp>
          <p:nvGrpSpPr>
            <p:cNvPr id="27" name="组合 26"/>
            <p:cNvGrpSpPr/>
            <p:nvPr/>
          </p:nvGrpSpPr>
          <p:grpSpPr>
            <a:xfrm>
              <a:off x="4893254" y="2215352"/>
              <a:ext cx="3157286" cy="1330140"/>
              <a:chOff x="4893254" y="2459562"/>
              <a:chExt cx="3157286" cy="1330140"/>
            </a:xfrm>
          </p:grpSpPr>
          <p:sp>
            <p:nvSpPr>
              <p:cNvPr id="29" name="矩形: 圆角 28"/>
              <p:cNvSpPr/>
              <p:nvPr/>
            </p:nvSpPr>
            <p:spPr>
              <a:xfrm>
                <a:off x="4893254" y="2459562"/>
                <a:ext cx="3157286" cy="1330140"/>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0" name="Rectangle 6"/>
              <p:cNvSpPr>
                <a:spLocks noChangeArrowheads="1"/>
              </p:cNvSpPr>
              <p:nvPr/>
            </p:nvSpPr>
            <p:spPr bwMode="auto">
              <a:xfrm>
                <a:off x="5280515" y="2726061"/>
                <a:ext cx="2362150" cy="792012"/>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企业没有独立的经济利益，缺乏内在动力</a:t>
                </a:r>
                <a:endParaRPr lang="zh-CN" altLang="en-US" sz="1600" spc="300" dirty="0">
                  <a:cs typeface="+mn-ea"/>
                  <a:sym typeface="+mn-lt"/>
                </a:endParaRPr>
              </a:p>
            </p:txBody>
          </p:sp>
        </p:grpSp>
        <p:sp>
          <p:nvSpPr>
            <p:cNvPr id="28" name="椭圆 27"/>
            <p:cNvSpPr/>
            <p:nvPr/>
          </p:nvSpPr>
          <p:spPr>
            <a:xfrm>
              <a:off x="7709389" y="2841030"/>
              <a:ext cx="749026" cy="749026"/>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01</a:t>
              </a:r>
              <a:endParaRPr lang="zh-CN" altLang="en-US" b="1" dirty="0">
                <a:solidFill>
                  <a:srgbClr val="536482"/>
                </a:solidFill>
                <a:cs typeface="+mn-ea"/>
                <a:sym typeface="+mn-lt"/>
              </a:endParaRPr>
            </a:p>
          </p:txBody>
        </p:sp>
      </p:grpSp>
      <p:grpSp>
        <p:nvGrpSpPr>
          <p:cNvPr id="31" name="组合 30"/>
          <p:cNvGrpSpPr/>
          <p:nvPr/>
        </p:nvGrpSpPr>
        <p:grpSpPr>
          <a:xfrm>
            <a:off x="2012812" y="3867123"/>
            <a:ext cx="3565161" cy="1520917"/>
            <a:chOff x="4893254" y="2069139"/>
            <a:chExt cx="3565161" cy="1520917"/>
          </a:xfrm>
        </p:grpSpPr>
        <p:grpSp>
          <p:nvGrpSpPr>
            <p:cNvPr id="32" name="组合 31"/>
            <p:cNvGrpSpPr/>
            <p:nvPr/>
          </p:nvGrpSpPr>
          <p:grpSpPr>
            <a:xfrm>
              <a:off x="4893254" y="2069139"/>
              <a:ext cx="3157286" cy="1476353"/>
              <a:chOff x="4893254" y="2313349"/>
              <a:chExt cx="3157286" cy="1476353"/>
            </a:xfrm>
          </p:grpSpPr>
          <p:sp>
            <p:nvSpPr>
              <p:cNvPr id="34" name="矩形: 圆角 33"/>
              <p:cNvSpPr/>
              <p:nvPr/>
            </p:nvSpPr>
            <p:spPr>
              <a:xfrm>
                <a:off x="4893254" y="2313349"/>
                <a:ext cx="3157286" cy="1476353"/>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5" name="Rectangle 6"/>
              <p:cNvSpPr>
                <a:spLocks noChangeArrowheads="1"/>
              </p:cNvSpPr>
              <p:nvPr/>
            </p:nvSpPr>
            <p:spPr bwMode="auto">
              <a:xfrm>
                <a:off x="5276915" y="2435189"/>
                <a:ext cx="2362150"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企业身兼多种功能，负担重</a:t>
                </a:r>
                <a:r>
                  <a:rPr lang="en-US" altLang="zh-CN" sz="1600" spc="300" dirty="0">
                    <a:cs typeface="+mn-ea"/>
                    <a:sym typeface="+mn-lt"/>
                  </a:rPr>
                  <a:t>(</a:t>
                </a:r>
                <a:r>
                  <a:rPr lang="zh-CN" altLang="en-US" sz="1600" spc="300" dirty="0">
                    <a:cs typeface="+mn-ea"/>
                    <a:sym typeface="+mn-lt"/>
                  </a:rPr>
                  <a:t>政治功能、社会功能和经济功能</a:t>
                </a:r>
                <a:r>
                  <a:rPr lang="en-US" altLang="zh-CN" sz="1600" spc="300" dirty="0">
                    <a:cs typeface="+mn-ea"/>
                    <a:sym typeface="+mn-lt"/>
                  </a:rPr>
                  <a:t>)</a:t>
                </a:r>
                <a:endParaRPr lang="zh-CN" altLang="en-US" sz="1600" spc="300" dirty="0">
                  <a:cs typeface="+mn-ea"/>
                  <a:sym typeface="+mn-lt"/>
                </a:endParaRPr>
              </a:p>
            </p:txBody>
          </p:sp>
        </p:grpSp>
        <p:sp>
          <p:nvSpPr>
            <p:cNvPr id="33" name="椭圆 32"/>
            <p:cNvSpPr/>
            <p:nvPr/>
          </p:nvSpPr>
          <p:spPr>
            <a:xfrm>
              <a:off x="7709389" y="2841030"/>
              <a:ext cx="749026" cy="749026"/>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03</a:t>
              </a:r>
              <a:endParaRPr lang="zh-CN" altLang="en-US" b="1" dirty="0">
                <a:solidFill>
                  <a:srgbClr val="536482"/>
                </a:solidFill>
                <a:cs typeface="+mn-ea"/>
                <a:sym typeface="+mn-lt"/>
              </a:endParaRPr>
            </a:p>
          </p:txBody>
        </p:sp>
      </p:grpSp>
      <p:grpSp>
        <p:nvGrpSpPr>
          <p:cNvPr id="36" name="组合 35"/>
          <p:cNvGrpSpPr/>
          <p:nvPr/>
        </p:nvGrpSpPr>
        <p:grpSpPr>
          <a:xfrm>
            <a:off x="6812904" y="3864177"/>
            <a:ext cx="3565161" cy="1577126"/>
            <a:chOff x="4893254" y="2012930"/>
            <a:chExt cx="3565161" cy="1577126"/>
          </a:xfrm>
        </p:grpSpPr>
        <p:grpSp>
          <p:nvGrpSpPr>
            <p:cNvPr id="37" name="组合 36"/>
            <p:cNvGrpSpPr/>
            <p:nvPr/>
          </p:nvGrpSpPr>
          <p:grpSpPr>
            <a:xfrm>
              <a:off x="4893254" y="2012930"/>
              <a:ext cx="3157286" cy="1476353"/>
              <a:chOff x="4893254" y="2257140"/>
              <a:chExt cx="3157286" cy="1476353"/>
            </a:xfrm>
          </p:grpSpPr>
          <p:sp>
            <p:nvSpPr>
              <p:cNvPr id="39" name="矩形: 圆角 38"/>
              <p:cNvSpPr/>
              <p:nvPr/>
            </p:nvSpPr>
            <p:spPr>
              <a:xfrm>
                <a:off x="4893254" y="2257140"/>
                <a:ext cx="3157286" cy="1476353"/>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0" name="Rectangle 6"/>
              <p:cNvSpPr>
                <a:spLocks noChangeArrowheads="1"/>
              </p:cNvSpPr>
              <p:nvPr/>
            </p:nvSpPr>
            <p:spPr bwMode="auto">
              <a:xfrm>
                <a:off x="5276915" y="2381926"/>
                <a:ext cx="2432474" cy="1208023"/>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企业完全受上级行政机关指挥，失去了主体地位</a:t>
                </a:r>
                <a:r>
                  <a:rPr lang="en-US" altLang="zh-CN" sz="1600" spc="300" dirty="0">
                    <a:cs typeface="+mn-ea"/>
                    <a:sym typeface="+mn-lt"/>
                  </a:rPr>
                  <a:t>(</a:t>
                </a:r>
                <a:r>
                  <a:rPr lang="zh-CN" altLang="en-US" sz="1600" spc="300" dirty="0">
                    <a:cs typeface="+mn-ea"/>
                    <a:sym typeface="+mn-lt"/>
                  </a:rPr>
                  <a:t>企业</a:t>
                </a:r>
                <a:r>
                  <a:rPr lang="en-US" altLang="zh-CN" sz="1600" spc="300" dirty="0">
                    <a:cs typeface="+mn-ea"/>
                    <a:sym typeface="+mn-lt"/>
                  </a:rPr>
                  <a:t>)</a:t>
                </a:r>
                <a:endParaRPr lang="zh-CN" altLang="en-US" sz="1600" dirty="0">
                  <a:cs typeface="+mn-ea"/>
                  <a:sym typeface="+mn-lt"/>
                </a:endParaRPr>
              </a:p>
            </p:txBody>
          </p:sp>
        </p:grpSp>
        <p:sp>
          <p:nvSpPr>
            <p:cNvPr id="38" name="椭圆 37"/>
            <p:cNvSpPr/>
            <p:nvPr/>
          </p:nvSpPr>
          <p:spPr>
            <a:xfrm>
              <a:off x="7709389" y="2841030"/>
              <a:ext cx="749026" cy="749026"/>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04</a:t>
              </a:r>
              <a:endParaRPr lang="zh-CN" altLang="en-US" b="1" dirty="0">
                <a:solidFill>
                  <a:srgbClr val="536482"/>
                </a:solidFill>
                <a:cs typeface="+mn-ea"/>
                <a:sym typeface="+mn-lt"/>
              </a:endParaRPr>
            </a:p>
          </p:txBody>
        </p:sp>
      </p:grpSp>
      <p:grpSp>
        <p:nvGrpSpPr>
          <p:cNvPr id="41" name="组合 40"/>
          <p:cNvGrpSpPr/>
          <p:nvPr/>
        </p:nvGrpSpPr>
        <p:grpSpPr>
          <a:xfrm>
            <a:off x="6812904" y="2169477"/>
            <a:ext cx="3565161" cy="1309158"/>
            <a:chOff x="4893254" y="2280898"/>
            <a:chExt cx="3565161" cy="1309158"/>
          </a:xfrm>
        </p:grpSpPr>
        <p:grpSp>
          <p:nvGrpSpPr>
            <p:cNvPr id="42" name="组合 41"/>
            <p:cNvGrpSpPr/>
            <p:nvPr/>
          </p:nvGrpSpPr>
          <p:grpSpPr>
            <a:xfrm>
              <a:off x="4893254" y="2280898"/>
              <a:ext cx="3157286" cy="1309158"/>
              <a:chOff x="4893254" y="2525108"/>
              <a:chExt cx="3157286" cy="1309158"/>
            </a:xfrm>
          </p:grpSpPr>
          <p:sp>
            <p:nvSpPr>
              <p:cNvPr id="44" name="矩形: 圆角 43"/>
              <p:cNvSpPr/>
              <p:nvPr/>
            </p:nvSpPr>
            <p:spPr>
              <a:xfrm>
                <a:off x="4893254" y="2525108"/>
                <a:ext cx="3157286" cy="1309158"/>
              </a:xfrm>
              <a:prstGeom prst="roundRect">
                <a:avLst>
                  <a:gd name="adj" fmla="val 27603"/>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5" name="Rectangle 6"/>
              <p:cNvSpPr>
                <a:spLocks noChangeArrowheads="1"/>
              </p:cNvSpPr>
              <p:nvPr/>
            </p:nvSpPr>
            <p:spPr bwMode="auto">
              <a:xfrm>
                <a:off x="5276915" y="2738362"/>
                <a:ext cx="2432474" cy="792012"/>
              </a:xfrm>
              <a:prstGeom prst="rect">
                <a:avLst/>
              </a:prstGeom>
            </p:spPr>
            <p:txBody>
              <a:bodyPr wrap="square">
                <a:spAutoFit/>
              </a:bodyPr>
              <a:lstStyle/>
              <a:p>
                <a:pPr algn="just">
                  <a:lnSpc>
                    <a:spcPts val="2900"/>
                  </a:lnSpc>
                  <a:buClr>
                    <a:srgbClr val="000066"/>
                  </a:buClr>
                </a:pPr>
                <a:r>
                  <a:rPr lang="zh-CN" altLang="en-US" sz="1600" spc="300" dirty="0">
                    <a:cs typeface="+mn-ea"/>
                    <a:sym typeface="+mn-lt"/>
                  </a:rPr>
                  <a:t>企业内部机构庞杂，难以指挥协调</a:t>
                </a:r>
                <a:endParaRPr lang="zh-CN" altLang="en-US" sz="1600" spc="300" dirty="0">
                  <a:cs typeface="+mn-ea"/>
                  <a:sym typeface="+mn-lt"/>
                </a:endParaRPr>
              </a:p>
            </p:txBody>
          </p:sp>
        </p:grpSp>
        <p:sp>
          <p:nvSpPr>
            <p:cNvPr id="43" name="椭圆 42"/>
            <p:cNvSpPr/>
            <p:nvPr/>
          </p:nvSpPr>
          <p:spPr>
            <a:xfrm>
              <a:off x="7709389" y="2841030"/>
              <a:ext cx="749026" cy="749026"/>
            </a:xfrm>
            <a:prstGeom prst="ellipse">
              <a:avLst/>
            </a:prstGeom>
            <a:solidFill>
              <a:srgbClr val="EDEDED"/>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536482"/>
                  </a:solidFill>
                  <a:cs typeface="+mn-ea"/>
                  <a:sym typeface="+mn-lt"/>
                </a:rPr>
                <a:t>02</a:t>
              </a:r>
              <a:endParaRPr lang="zh-CN" altLang="en-US" b="1" dirty="0">
                <a:solidFill>
                  <a:srgbClr val="536482"/>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randombar(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ppt_x"/>
                                          </p:val>
                                        </p:tav>
                                        <p:tav tm="100000">
                                          <p:val>
                                            <p:strVal val="#ppt_x"/>
                                          </p:val>
                                        </p:tav>
                                      </p:tavLst>
                                    </p:anim>
                                    <p:anim calcmode="lin" valueType="num">
                                      <p:cBhvr additive="base">
                                        <p:cTn id="3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ppt_x"/>
                                          </p:val>
                                        </p:tav>
                                        <p:tav tm="100000">
                                          <p:val>
                                            <p:strVal val="#ppt_x"/>
                                          </p:val>
                                        </p:tav>
                                      </p:tavLst>
                                    </p:anim>
                                    <p:anim calcmode="lin" valueType="num">
                                      <p:cBhvr additive="base">
                                        <p:cTn id="3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7" name="组合 26"/>
          <p:cNvGrpSpPr/>
          <p:nvPr/>
        </p:nvGrpSpPr>
        <p:grpSpPr>
          <a:xfrm>
            <a:off x="224643" y="4774774"/>
            <a:ext cx="11900598" cy="3666159"/>
            <a:chOff x="145701" y="4173883"/>
            <a:chExt cx="11900598" cy="3666159"/>
          </a:xfrm>
        </p:grpSpPr>
        <p:pic>
          <p:nvPicPr>
            <p:cNvPr id="22" name="图片 21"/>
            <p:cNvPicPr>
              <a:picLocks noChangeAspect="1"/>
            </p:cNvPicPr>
            <p:nvPr/>
          </p:nvPicPr>
          <p:blipFill>
            <a:blip r:embed="rId1" cstate="screen"/>
            <a:stretch>
              <a:fillRect/>
            </a:stretch>
          </p:blipFill>
          <p:spPr>
            <a:xfrm>
              <a:off x="329613" y="4454433"/>
              <a:ext cx="681514" cy="2426189"/>
            </a:xfrm>
            <a:prstGeom prst="rect">
              <a:avLst/>
            </a:prstGeom>
          </p:spPr>
        </p:pic>
        <p:pic>
          <p:nvPicPr>
            <p:cNvPr id="24" name="图片 23"/>
            <p:cNvPicPr>
              <a:picLocks noChangeAspect="1"/>
            </p:cNvPicPr>
            <p:nvPr/>
          </p:nvPicPr>
          <p:blipFill>
            <a:blip r:embed="rId2" cstate="screen"/>
            <a:stretch>
              <a:fillRect/>
            </a:stretch>
          </p:blipFill>
          <p:spPr>
            <a:xfrm>
              <a:off x="145701" y="5303520"/>
              <a:ext cx="349913" cy="1554480"/>
            </a:xfrm>
            <a:prstGeom prst="rect">
              <a:avLst/>
            </a:prstGeom>
          </p:spPr>
        </p:pic>
        <p:pic>
          <p:nvPicPr>
            <p:cNvPr id="26" name="图片 25"/>
            <p:cNvPicPr>
              <a:picLocks noChangeAspect="1"/>
            </p:cNvPicPr>
            <p:nvPr/>
          </p:nvPicPr>
          <p:blipFill>
            <a:blip r:embed="rId3" cstate="screen"/>
            <a:stretch>
              <a:fillRect/>
            </a:stretch>
          </p:blipFill>
          <p:spPr>
            <a:xfrm>
              <a:off x="1306037" y="4797571"/>
              <a:ext cx="523156" cy="2060429"/>
            </a:xfrm>
            <a:prstGeom prst="rect">
              <a:avLst/>
            </a:prstGeom>
          </p:spPr>
        </p:pic>
        <p:pic>
          <p:nvPicPr>
            <p:cNvPr id="32" name="图片 31"/>
            <p:cNvPicPr>
              <a:picLocks noChangeAspect="1"/>
            </p:cNvPicPr>
            <p:nvPr/>
          </p:nvPicPr>
          <p:blipFill>
            <a:blip r:embed="rId4" cstate="screen"/>
            <a:stretch>
              <a:fillRect/>
            </a:stretch>
          </p:blipFill>
          <p:spPr>
            <a:xfrm>
              <a:off x="2124104" y="5812970"/>
              <a:ext cx="235236" cy="1045029"/>
            </a:xfrm>
            <a:prstGeom prst="rect">
              <a:avLst/>
            </a:prstGeom>
          </p:spPr>
        </p:pic>
        <p:pic>
          <p:nvPicPr>
            <p:cNvPr id="33" name="图片 32"/>
            <p:cNvPicPr>
              <a:picLocks noChangeAspect="1"/>
            </p:cNvPicPr>
            <p:nvPr/>
          </p:nvPicPr>
          <p:blipFill>
            <a:blip r:embed="rId5" cstate="screen"/>
            <a:stretch>
              <a:fillRect/>
            </a:stretch>
          </p:blipFill>
          <p:spPr>
            <a:xfrm>
              <a:off x="2465023" y="4557474"/>
              <a:ext cx="523155" cy="2324101"/>
            </a:xfrm>
            <a:prstGeom prst="rect">
              <a:avLst/>
            </a:prstGeom>
          </p:spPr>
        </p:pic>
        <p:pic>
          <p:nvPicPr>
            <p:cNvPr id="34" name="图片 33"/>
            <p:cNvPicPr>
              <a:picLocks noChangeAspect="1"/>
            </p:cNvPicPr>
            <p:nvPr/>
          </p:nvPicPr>
          <p:blipFill>
            <a:blip r:embed="rId3" cstate="screen"/>
            <a:stretch>
              <a:fillRect/>
            </a:stretch>
          </p:blipFill>
          <p:spPr>
            <a:xfrm>
              <a:off x="3255264" y="4173883"/>
              <a:ext cx="681514" cy="2684116"/>
            </a:xfrm>
            <a:prstGeom prst="rect">
              <a:avLst/>
            </a:prstGeom>
          </p:spPr>
        </p:pic>
        <p:pic>
          <p:nvPicPr>
            <p:cNvPr id="35" name="图片 34"/>
            <p:cNvPicPr>
              <a:picLocks noChangeAspect="1"/>
            </p:cNvPicPr>
            <p:nvPr/>
          </p:nvPicPr>
          <p:blipFill>
            <a:blip r:embed="rId5" cstate="screen"/>
            <a:stretch>
              <a:fillRect/>
            </a:stretch>
          </p:blipFill>
          <p:spPr>
            <a:xfrm>
              <a:off x="4080322" y="5515941"/>
              <a:ext cx="523155" cy="2324101"/>
            </a:xfrm>
            <a:prstGeom prst="rect">
              <a:avLst/>
            </a:prstGeom>
          </p:spPr>
        </p:pic>
        <p:pic>
          <p:nvPicPr>
            <p:cNvPr id="36" name="图片 35"/>
            <p:cNvPicPr>
              <a:picLocks noChangeAspect="1"/>
            </p:cNvPicPr>
            <p:nvPr/>
          </p:nvPicPr>
          <p:blipFill>
            <a:blip r:embed="rId3"/>
            <a:stretch>
              <a:fillRect/>
            </a:stretch>
          </p:blipFill>
          <p:spPr>
            <a:xfrm>
              <a:off x="4603477" y="4425404"/>
              <a:ext cx="816077" cy="3214087"/>
            </a:xfrm>
            <a:prstGeom prst="rect">
              <a:avLst/>
            </a:prstGeom>
          </p:spPr>
        </p:pic>
        <p:pic>
          <p:nvPicPr>
            <p:cNvPr id="37" name="图片 36"/>
            <p:cNvPicPr>
              <a:picLocks noChangeAspect="1"/>
            </p:cNvPicPr>
            <p:nvPr/>
          </p:nvPicPr>
          <p:blipFill>
            <a:blip r:embed="rId6" cstate="screen"/>
            <a:stretch>
              <a:fillRect/>
            </a:stretch>
          </p:blipFill>
          <p:spPr>
            <a:xfrm>
              <a:off x="5252314" y="5303520"/>
              <a:ext cx="443307" cy="1578173"/>
            </a:xfrm>
            <a:prstGeom prst="rect">
              <a:avLst/>
            </a:prstGeom>
          </p:spPr>
        </p:pic>
        <p:pic>
          <p:nvPicPr>
            <p:cNvPr id="38" name="图片 37"/>
            <p:cNvPicPr>
              <a:picLocks noChangeAspect="1"/>
            </p:cNvPicPr>
            <p:nvPr/>
          </p:nvPicPr>
          <p:blipFill>
            <a:blip r:embed="rId1" cstate="screen"/>
            <a:stretch>
              <a:fillRect/>
            </a:stretch>
          </p:blipFill>
          <p:spPr>
            <a:xfrm>
              <a:off x="8443949" y="4395407"/>
              <a:ext cx="687984" cy="2449223"/>
            </a:xfrm>
            <a:prstGeom prst="rect">
              <a:avLst/>
            </a:prstGeom>
          </p:spPr>
        </p:pic>
        <p:pic>
          <p:nvPicPr>
            <p:cNvPr id="39" name="图片 38"/>
            <p:cNvPicPr>
              <a:picLocks noChangeAspect="1"/>
            </p:cNvPicPr>
            <p:nvPr/>
          </p:nvPicPr>
          <p:blipFill>
            <a:blip r:embed="rId3" cstate="screen"/>
            <a:stretch>
              <a:fillRect/>
            </a:stretch>
          </p:blipFill>
          <p:spPr>
            <a:xfrm>
              <a:off x="5873541" y="4784202"/>
              <a:ext cx="523156" cy="2060429"/>
            </a:xfrm>
            <a:prstGeom prst="rect">
              <a:avLst/>
            </a:prstGeom>
          </p:spPr>
        </p:pic>
        <p:pic>
          <p:nvPicPr>
            <p:cNvPr id="40" name="图片 39"/>
            <p:cNvPicPr>
              <a:picLocks noChangeAspect="1"/>
            </p:cNvPicPr>
            <p:nvPr/>
          </p:nvPicPr>
          <p:blipFill>
            <a:blip r:embed="rId4" cstate="screen"/>
            <a:stretch>
              <a:fillRect/>
            </a:stretch>
          </p:blipFill>
          <p:spPr>
            <a:xfrm>
              <a:off x="6691608" y="5799601"/>
              <a:ext cx="235236" cy="1045029"/>
            </a:xfrm>
            <a:prstGeom prst="rect">
              <a:avLst/>
            </a:prstGeom>
          </p:spPr>
        </p:pic>
        <p:pic>
          <p:nvPicPr>
            <p:cNvPr id="41" name="图片 40"/>
            <p:cNvPicPr>
              <a:picLocks noChangeAspect="1"/>
            </p:cNvPicPr>
            <p:nvPr/>
          </p:nvPicPr>
          <p:blipFill>
            <a:blip r:embed="rId5" cstate="screen"/>
            <a:stretch>
              <a:fillRect/>
            </a:stretch>
          </p:blipFill>
          <p:spPr>
            <a:xfrm>
              <a:off x="7061171" y="4537314"/>
              <a:ext cx="523155" cy="2324101"/>
            </a:xfrm>
            <a:prstGeom prst="rect">
              <a:avLst/>
            </a:prstGeom>
          </p:spPr>
        </p:pic>
        <p:pic>
          <p:nvPicPr>
            <p:cNvPr id="43" name="图片 42"/>
            <p:cNvPicPr>
              <a:picLocks noChangeAspect="1"/>
            </p:cNvPicPr>
            <p:nvPr/>
          </p:nvPicPr>
          <p:blipFill>
            <a:blip r:embed="rId2" cstate="screen"/>
            <a:stretch>
              <a:fillRect/>
            </a:stretch>
          </p:blipFill>
          <p:spPr>
            <a:xfrm>
              <a:off x="8255222" y="5326143"/>
              <a:ext cx="349913" cy="1554480"/>
            </a:xfrm>
            <a:prstGeom prst="rect">
              <a:avLst/>
            </a:prstGeom>
          </p:spPr>
        </p:pic>
        <p:pic>
          <p:nvPicPr>
            <p:cNvPr id="44" name="图片 43"/>
            <p:cNvPicPr>
              <a:picLocks noChangeAspect="1"/>
            </p:cNvPicPr>
            <p:nvPr/>
          </p:nvPicPr>
          <p:blipFill>
            <a:blip r:embed="rId3" cstate="screen"/>
            <a:stretch>
              <a:fillRect/>
            </a:stretch>
          </p:blipFill>
          <p:spPr>
            <a:xfrm>
              <a:off x="9415558" y="4820194"/>
              <a:ext cx="523156" cy="2060429"/>
            </a:xfrm>
            <a:prstGeom prst="rect">
              <a:avLst/>
            </a:prstGeom>
          </p:spPr>
        </p:pic>
        <p:pic>
          <p:nvPicPr>
            <p:cNvPr id="45" name="图片 44"/>
            <p:cNvPicPr>
              <a:picLocks noChangeAspect="1"/>
            </p:cNvPicPr>
            <p:nvPr/>
          </p:nvPicPr>
          <p:blipFill>
            <a:blip r:embed="rId4" cstate="screen"/>
            <a:stretch>
              <a:fillRect/>
            </a:stretch>
          </p:blipFill>
          <p:spPr>
            <a:xfrm>
              <a:off x="10233625" y="5835593"/>
              <a:ext cx="235236" cy="1045029"/>
            </a:xfrm>
            <a:prstGeom prst="rect">
              <a:avLst/>
            </a:prstGeom>
          </p:spPr>
        </p:pic>
        <p:pic>
          <p:nvPicPr>
            <p:cNvPr id="46" name="图片 45"/>
            <p:cNvPicPr>
              <a:picLocks noChangeAspect="1"/>
            </p:cNvPicPr>
            <p:nvPr/>
          </p:nvPicPr>
          <p:blipFill>
            <a:blip r:embed="rId5" cstate="screen"/>
            <a:stretch>
              <a:fillRect/>
            </a:stretch>
          </p:blipFill>
          <p:spPr>
            <a:xfrm>
              <a:off x="10574544" y="4580097"/>
              <a:ext cx="523155" cy="2324101"/>
            </a:xfrm>
            <a:prstGeom prst="rect">
              <a:avLst/>
            </a:prstGeom>
          </p:spPr>
        </p:pic>
        <p:pic>
          <p:nvPicPr>
            <p:cNvPr id="47" name="图片 46"/>
            <p:cNvPicPr>
              <a:picLocks noChangeAspect="1"/>
            </p:cNvPicPr>
            <p:nvPr/>
          </p:nvPicPr>
          <p:blipFill>
            <a:blip r:embed="rId3" cstate="screen"/>
            <a:stretch>
              <a:fillRect/>
            </a:stretch>
          </p:blipFill>
          <p:spPr>
            <a:xfrm>
              <a:off x="11364785" y="4196506"/>
              <a:ext cx="681514" cy="2684116"/>
            </a:xfrm>
            <a:prstGeom prst="rect">
              <a:avLst/>
            </a:prstGeom>
          </p:spPr>
        </p:pic>
        <p:pic>
          <p:nvPicPr>
            <p:cNvPr id="48" name="图片 47"/>
            <p:cNvPicPr>
              <a:picLocks noChangeAspect="1"/>
            </p:cNvPicPr>
            <p:nvPr/>
          </p:nvPicPr>
          <p:blipFill>
            <a:blip r:embed="rId3" cstate="screen"/>
            <a:stretch>
              <a:fillRect/>
            </a:stretch>
          </p:blipFill>
          <p:spPr>
            <a:xfrm>
              <a:off x="7606374" y="5437105"/>
              <a:ext cx="523156" cy="2060429"/>
            </a:xfrm>
            <a:prstGeom prst="rect">
              <a:avLst/>
            </a:prstGeom>
          </p:spPr>
        </p:pic>
      </p:grpSp>
      <p:grpSp>
        <p:nvGrpSpPr>
          <p:cNvPr id="29" name="组合 28"/>
          <p:cNvGrpSpPr/>
          <p:nvPr/>
        </p:nvGrpSpPr>
        <p:grpSpPr>
          <a:xfrm>
            <a:off x="1672602" y="1776446"/>
            <a:ext cx="8846795" cy="2810791"/>
            <a:chOff x="1593660" y="1641553"/>
            <a:chExt cx="8846795" cy="2810791"/>
          </a:xfrm>
        </p:grpSpPr>
        <p:sp>
          <p:nvSpPr>
            <p:cNvPr id="52" name="矩形: 圆角 51"/>
            <p:cNvSpPr/>
            <p:nvPr/>
          </p:nvSpPr>
          <p:spPr>
            <a:xfrm>
              <a:off x="2036020" y="1947380"/>
              <a:ext cx="8003838" cy="1618781"/>
            </a:xfrm>
            <a:prstGeom prst="roundRect">
              <a:avLst>
                <a:gd name="adj" fmla="val 50000"/>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3" name="文本框 72"/>
            <p:cNvSpPr txBox="1"/>
            <p:nvPr/>
          </p:nvSpPr>
          <p:spPr>
            <a:xfrm>
              <a:off x="2572925" y="2150041"/>
              <a:ext cx="7046150" cy="1323439"/>
            </a:xfrm>
            <a:prstGeom prst="rect">
              <a:avLst/>
            </a:prstGeom>
            <a:noFill/>
          </p:spPr>
          <p:txBody>
            <a:bodyPr wrap="square" rtlCol="0">
              <a:spAutoFit/>
            </a:bodyPr>
            <a:lstStyle/>
            <a:p>
              <a:pPr algn="ctr"/>
              <a:r>
                <a:rPr lang="zh-CN" altLang="en-US" sz="8000" spc="600" dirty="0">
                  <a:solidFill>
                    <a:srgbClr val="536482"/>
                  </a:solidFill>
                  <a:latin typeface="方正正黑简体" panose="02000000000000000000" pitchFamily="2" charset="-122"/>
                  <a:ea typeface="方正正黑简体" panose="02000000000000000000" pitchFamily="2" charset="-122"/>
                  <a:cs typeface="+mn-ea"/>
                  <a:sym typeface="+mn-lt"/>
                </a:rPr>
                <a:t>感谢您的观看</a:t>
              </a:r>
              <a:endParaRPr lang="zh-CN" altLang="en-US" sz="8000" spc="600" dirty="0">
                <a:solidFill>
                  <a:srgbClr val="536482"/>
                </a:solidFill>
                <a:latin typeface="方正正黑简体" panose="02000000000000000000" pitchFamily="2" charset="-122"/>
                <a:ea typeface="方正正黑简体" panose="02000000000000000000" pitchFamily="2" charset="-122"/>
                <a:cs typeface="+mn-ea"/>
                <a:sym typeface="+mn-lt"/>
              </a:endParaRPr>
            </a:p>
          </p:txBody>
        </p:sp>
        <p:sp>
          <p:nvSpPr>
            <p:cNvPr id="55" name="文本框 54"/>
            <p:cNvSpPr txBox="1"/>
            <p:nvPr/>
          </p:nvSpPr>
          <p:spPr>
            <a:xfrm>
              <a:off x="3182855" y="4083012"/>
              <a:ext cx="6269799" cy="369332"/>
            </a:xfrm>
            <a:prstGeom prst="rect">
              <a:avLst/>
            </a:prstGeom>
            <a:noFill/>
          </p:spPr>
          <p:txBody>
            <a:bodyPr wrap="square" rtlCol="0">
              <a:spAutoFit/>
            </a:bodyPr>
            <a:lstStyle/>
            <a:p>
              <a:r>
                <a:rPr lang="zh-CN" altLang="en-US" dirty="0">
                  <a:solidFill>
                    <a:srgbClr val="536482"/>
                  </a:solidFill>
                  <a:cs typeface="+mn-ea"/>
                  <a:sym typeface="+mn-lt"/>
                </a:rPr>
                <a:t>汇报人：第一</a:t>
              </a:r>
              <a:r>
                <a:rPr lang="en-US" altLang="zh-CN" dirty="0">
                  <a:solidFill>
                    <a:srgbClr val="536482"/>
                  </a:solidFill>
                  <a:cs typeface="+mn-ea"/>
                  <a:sym typeface="+mn-lt"/>
                </a:rPr>
                <a:t>PPT</a:t>
              </a:r>
              <a:r>
                <a:rPr lang="zh-CN" altLang="en-US" dirty="0">
                  <a:solidFill>
                    <a:srgbClr val="536482"/>
                  </a:solidFill>
                  <a:cs typeface="+mn-ea"/>
                  <a:sym typeface="+mn-lt"/>
                </a:rPr>
                <a:t>         汇报时间：</a:t>
              </a:r>
              <a:r>
                <a:rPr lang="en-US" altLang="zh-CN" dirty="0">
                  <a:solidFill>
                    <a:srgbClr val="536482"/>
                  </a:solidFill>
                  <a:cs typeface="+mn-ea"/>
                  <a:sym typeface="+mn-lt"/>
                </a:rPr>
                <a:t>20XX</a:t>
              </a:r>
              <a:r>
                <a:rPr lang="zh-CN" altLang="en-US" dirty="0">
                  <a:solidFill>
                    <a:srgbClr val="536482"/>
                  </a:solidFill>
                  <a:cs typeface="+mn-ea"/>
                  <a:sym typeface="+mn-lt"/>
                </a:rPr>
                <a:t>年</a:t>
              </a:r>
              <a:r>
                <a:rPr lang="en-US" altLang="zh-CN" dirty="0">
                  <a:solidFill>
                    <a:srgbClr val="536482"/>
                  </a:solidFill>
                  <a:cs typeface="+mn-ea"/>
                  <a:sym typeface="+mn-lt"/>
                </a:rPr>
                <a:t>X</a:t>
              </a:r>
              <a:r>
                <a:rPr lang="zh-CN" altLang="en-US" dirty="0">
                  <a:solidFill>
                    <a:srgbClr val="536482"/>
                  </a:solidFill>
                  <a:cs typeface="+mn-ea"/>
                  <a:sym typeface="+mn-lt"/>
                </a:rPr>
                <a:t>月</a:t>
              </a:r>
              <a:r>
                <a:rPr lang="en-US" altLang="zh-CN" dirty="0">
                  <a:solidFill>
                    <a:srgbClr val="536482"/>
                  </a:solidFill>
                  <a:cs typeface="+mn-ea"/>
                  <a:sym typeface="+mn-lt"/>
                </a:rPr>
                <a:t>X</a:t>
              </a:r>
              <a:r>
                <a:rPr lang="zh-CN" altLang="en-US" dirty="0">
                  <a:solidFill>
                    <a:srgbClr val="536482"/>
                  </a:solidFill>
                  <a:cs typeface="+mn-ea"/>
                  <a:sym typeface="+mn-lt"/>
                </a:rPr>
                <a:t>号</a:t>
              </a:r>
              <a:endParaRPr lang="zh-CN" altLang="en-US" dirty="0">
                <a:solidFill>
                  <a:srgbClr val="536482"/>
                </a:solidFill>
                <a:cs typeface="+mn-ea"/>
                <a:sym typeface="+mn-lt"/>
              </a:endParaRPr>
            </a:p>
          </p:txBody>
        </p:sp>
        <p:sp>
          <p:nvSpPr>
            <p:cNvPr id="56" name="矩形: 圆角 55"/>
            <p:cNvSpPr/>
            <p:nvPr/>
          </p:nvSpPr>
          <p:spPr>
            <a:xfrm>
              <a:off x="1593660" y="1641553"/>
              <a:ext cx="8846795" cy="2230691"/>
            </a:xfrm>
            <a:prstGeom prst="roundRect">
              <a:avLst>
                <a:gd name="adj" fmla="val 50000"/>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31" name="组合 30"/>
          <p:cNvGrpSpPr/>
          <p:nvPr/>
        </p:nvGrpSpPr>
        <p:grpSpPr>
          <a:xfrm>
            <a:off x="4804384" y="1031269"/>
            <a:ext cx="2583229" cy="426529"/>
            <a:chOff x="4781808" y="1483448"/>
            <a:chExt cx="2988473" cy="493441"/>
          </a:xfrm>
        </p:grpSpPr>
        <p:sp>
          <p:nvSpPr>
            <p:cNvPr id="84" name="六边形 83"/>
            <p:cNvSpPr/>
            <p:nvPr/>
          </p:nvSpPr>
          <p:spPr>
            <a:xfrm>
              <a:off x="4781808"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实</a:t>
              </a:r>
              <a:endParaRPr lang="zh-CN" altLang="en-US" sz="1400" dirty="0">
                <a:cs typeface="+mn-ea"/>
                <a:sym typeface="+mn-lt"/>
              </a:endParaRPr>
            </a:p>
          </p:txBody>
        </p:sp>
        <p:sp>
          <p:nvSpPr>
            <p:cNvPr id="85" name="六边形 84"/>
            <p:cNvSpPr/>
            <p:nvPr/>
          </p:nvSpPr>
          <p:spPr>
            <a:xfrm>
              <a:off x="558716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事</a:t>
              </a:r>
              <a:endParaRPr lang="zh-CN" altLang="en-US" sz="1400" dirty="0">
                <a:cs typeface="+mn-ea"/>
                <a:sym typeface="+mn-lt"/>
              </a:endParaRPr>
            </a:p>
          </p:txBody>
        </p:sp>
        <p:sp>
          <p:nvSpPr>
            <p:cNvPr id="86" name="六边形 85"/>
            <p:cNvSpPr/>
            <p:nvPr/>
          </p:nvSpPr>
          <p:spPr>
            <a:xfrm>
              <a:off x="6392530"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求</a:t>
              </a:r>
              <a:endParaRPr lang="zh-CN" altLang="en-US" sz="1400" dirty="0">
                <a:cs typeface="+mn-ea"/>
                <a:sym typeface="+mn-lt"/>
              </a:endParaRPr>
            </a:p>
          </p:txBody>
        </p:sp>
        <p:sp>
          <p:nvSpPr>
            <p:cNvPr id="87" name="六边形 86"/>
            <p:cNvSpPr/>
            <p:nvPr/>
          </p:nvSpPr>
          <p:spPr>
            <a:xfrm>
              <a:off x="7197889" y="1483448"/>
              <a:ext cx="572392" cy="493441"/>
            </a:xfrm>
            <a:prstGeom prst="hexagon">
              <a:avLst/>
            </a:prstGeom>
            <a:solidFill>
              <a:srgbClr val="536482"/>
            </a:solidFill>
            <a:ln>
              <a:noFill/>
            </a:ln>
            <a:effectLst>
              <a:outerShdw blurRad="127000" sx="106000" sy="106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cs typeface="+mn-ea"/>
                  <a:sym typeface="+mn-lt"/>
                </a:rPr>
                <a:t>是</a:t>
              </a:r>
              <a:endParaRPr lang="zh-CN" altLang="en-US" sz="14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500" fill="hold"/>
                                        <p:tgtEl>
                                          <p:spTgt spid="29"/>
                                        </p:tgtEl>
                                        <p:attrNameLst>
                                          <p:attrName>ppt_x</p:attrName>
                                        </p:attrNameLst>
                                      </p:cBhvr>
                                      <p:tavLst>
                                        <p:tav tm="0">
                                          <p:val>
                                            <p:strVal val="#ppt_x"/>
                                          </p:val>
                                        </p:tav>
                                        <p:tav tm="100000">
                                          <p:val>
                                            <p:strVal val="#ppt_x"/>
                                          </p:val>
                                        </p:tav>
                                      </p:tavLst>
                                    </p:anim>
                                    <p:anim calcmode="lin" valueType="num">
                                      <p:cBhvr additive="base">
                                        <p:cTn id="1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02</a:t>
            </a:r>
            <a:endParaRPr lang="zh-CN" altLang="en-US" sz="6600" dirty="0">
              <a:solidFill>
                <a:srgbClr val="536482"/>
              </a:solidFill>
              <a:cs typeface="+mn-ea"/>
              <a:sym typeface="+mn-lt"/>
            </a:endParaRPr>
          </a:p>
        </p:txBody>
      </p:sp>
      <p:sp>
        <p:nvSpPr>
          <p:cNvPr id="9" name="文本框 8"/>
          <p:cNvSpPr txBox="1"/>
          <p:nvPr/>
        </p:nvSpPr>
        <p:spPr>
          <a:xfrm>
            <a:off x="4426674" y="2367171"/>
            <a:ext cx="3461931" cy="2192718"/>
          </a:xfrm>
          <a:prstGeom prst="rect">
            <a:avLst/>
          </a:prstGeom>
          <a:noFill/>
        </p:spPr>
        <p:txBody>
          <a:bodyPr wrap="square" rtlCol="0">
            <a:spAutoFit/>
          </a:bodyPr>
          <a:lstStyle/>
          <a:p>
            <a:pPr algn="ctr"/>
            <a:r>
              <a:rPr lang="zh-CN" altLang="en-US" sz="4400" spc="300" dirty="0">
                <a:solidFill>
                  <a:srgbClr val="536482"/>
                </a:solidFill>
                <a:cs typeface="+mn-ea"/>
                <a:sym typeface="+mn-lt"/>
              </a:rPr>
              <a:t>启动第四次变革原因</a:t>
            </a:r>
            <a:endParaRPr lang="en-US" altLang="zh-CN" sz="4400" spc="300" dirty="0">
              <a:solidFill>
                <a:srgbClr val="536482"/>
              </a:solidFill>
              <a:cs typeface="+mn-ea"/>
              <a:sym typeface="+mn-lt"/>
            </a:endParaRPr>
          </a:p>
          <a:p>
            <a:pPr algn="ctr"/>
            <a:r>
              <a:rPr lang="zh-CN" altLang="en-US" sz="4400" spc="300" dirty="0">
                <a:solidFill>
                  <a:srgbClr val="536482"/>
                </a:solidFill>
                <a:cs typeface="+mn-ea"/>
                <a:sym typeface="+mn-lt"/>
              </a:rPr>
              <a:t>及推动措施</a:t>
            </a: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917593" y="1897677"/>
            <a:ext cx="10647489" cy="3986045"/>
            <a:chOff x="145701" y="4173883"/>
            <a:chExt cx="9793013" cy="3666159"/>
          </a:xfrm>
        </p:grpSpPr>
        <p:pic>
          <p:nvPicPr>
            <p:cNvPr id="12" name="图片 11"/>
            <p:cNvPicPr>
              <a:picLocks noChangeAspect="1"/>
            </p:cNvPicPr>
            <p:nvPr/>
          </p:nvPicPr>
          <p:blipFill>
            <a:blip r:embed="rId1" cstate="screen"/>
            <a:stretch>
              <a:fillRect/>
            </a:stretch>
          </p:blipFill>
          <p:spPr>
            <a:xfrm>
              <a:off x="329613" y="4454433"/>
              <a:ext cx="681514" cy="2426189"/>
            </a:xfrm>
            <a:prstGeom prst="rect">
              <a:avLst/>
            </a:prstGeom>
          </p:spPr>
        </p:pic>
        <p:pic>
          <p:nvPicPr>
            <p:cNvPr id="13" name="图片 12"/>
            <p:cNvPicPr>
              <a:picLocks noChangeAspect="1"/>
            </p:cNvPicPr>
            <p:nvPr/>
          </p:nvPicPr>
          <p:blipFill>
            <a:blip r:embed="rId2" cstate="screen"/>
            <a:stretch>
              <a:fillRect/>
            </a:stretch>
          </p:blipFill>
          <p:spPr>
            <a:xfrm>
              <a:off x="145701" y="5303520"/>
              <a:ext cx="349913" cy="1554480"/>
            </a:xfrm>
            <a:prstGeom prst="rect">
              <a:avLst/>
            </a:prstGeom>
          </p:spPr>
        </p:pic>
        <p:pic>
          <p:nvPicPr>
            <p:cNvPr id="14" name="图片 13"/>
            <p:cNvPicPr>
              <a:picLocks noChangeAspect="1"/>
            </p:cNvPicPr>
            <p:nvPr/>
          </p:nvPicPr>
          <p:blipFill>
            <a:blip r:embed="rId3" cstate="screen"/>
            <a:stretch>
              <a:fillRect/>
            </a:stretch>
          </p:blipFill>
          <p:spPr>
            <a:xfrm>
              <a:off x="1306037" y="4797571"/>
              <a:ext cx="523156" cy="2060429"/>
            </a:xfrm>
            <a:prstGeom prst="rect">
              <a:avLst/>
            </a:prstGeom>
          </p:spPr>
        </p:pic>
        <p:pic>
          <p:nvPicPr>
            <p:cNvPr id="15" name="图片 14"/>
            <p:cNvPicPr>
              <a:picLocks noChangeAspect="1"/>
            </p:cNvPicPr>
            <p:nvPr/>
          </p:nvPicPr>
          <p:blipFill>
            <a:blip r:embed="rId4" cstate="screen"/>
            <a:stretch>
              <a:fillRect/>
            </a:stretch>
          </p:blipFill>
          <p:spPr>
            <a:xfrm>
              <a:off x="2124104" y="5812970"/>
              <a:ext cx="235236" cy="1045029"/>
            </a:xfrm>
            <a:prstGeom prst="rect">
              <a:avLst/>
            </a:prstGeom>
          </p:spPr>
        </p:pic>
        <p:pic>
          <p:nvPicPr>
            <p:cNvPr id="16" name="图片 15"/>
            <p:cNvPicPr>
              <a:picLocks noChangeAspect="1"/>
            </p:cNvPicPr>
            <p:nvPr/>
          </p:nvPicPr>
          <p:blipFill>
            <a:blip r:embed="rId5" cstate="screen"/>
            <a:stretch>
              <a:fillRect/>
            </a:stretch>
          </p:blipFill>
          <p:spPr>
            <a:xfrm>
              <a:off x="2465023" y="4557474"/>
              <a:ext cx="523155" cy="2324101"/>
            </a:xfrm>
            <a:prstGeom prst="rect">
              <a:avLst/>
            </a:prstGeom>
          </p:spPr>
        </p:pic>
        <p:pic>
          <p:nvPicPr>
            <p:cNvPr id="17" name="图片 16"/>
            <p:cNvPicPr>
              <a:picLocks noChangeAspect="1"/>
            </p:cNvPicPr>
            <p:nvPr/>
          </p:nvPicPr>
          <p:blipFill>
            <a:blip r:embed="rId3" cstate="screen"/>
            <a:stretch>
              <a:fillRect/>
            </a:stretch>
          </p:blipFill>
          <p:spPr>
            <a:xfrm>
              <a:off x="3255264" y="4173883"/>
              <a:ext cx="681514" cy="2684116"/>
            </a:xfrm>
            <a:prstGeom prst="rect">
              <a:avLst/>
            </a:prstGeom>
          </p:spPr>
        </p:pic>
        <p:pic>
          <p:nvPicPr>
            <p:cNvPr id="18" name="图片 17"/>
            <p:cNvPicPr>
              <a:picLocks noChangeAspect="1"/>
            </p:cNvPicPr>
            <p:nvPr/>
          </p:nvPicPr>
          <p:blipFill>
            <a:blip r:embed="rId5" cstate="screen"/>
            <a:stretch>
              <a:fillRect/>
            </a:stretch>
          </p:blipFill>
          <p:spPr>
            <a:xfrm>
              <a:off x="4080322" y="5515941"/>
              <a:ext cx="523155" cy="2324101"/>
            </a:xfrm>
            <a:prstGeom prst="rect">
              <a:avLst/>
            </a:prstGeom>
          </p:spPr>
        </p:pic>
        <p:pic>
          <p:nvPicPr>
            <p:cNvPr id="19" name="图片 18"/>
            <p:cNvPicPr>
              <a:picLocks noChangeAspect="1"/>
            </p:cNvPicPr>
            <p:nvPr/>
          </p:nvPicPr>
          <p:blipFill>
            <a:blip r:embed="rId3"/>
            <a:stretch>
              <a:fillRect/>
            </a:stretch>
          </p:blipFill>
          <p:spPr>
            <a:xfrm>
              <a:off x="4603477" y="4425404"/>
              <a:ext cx="816077" cy="3214087"/>
            </a:xfrm>
            <a:prstGeom prst="rect">
              <a:avLst/>
            </a:prstGeom>
          </p:spPr>
        </p:pic>
        <p:pic>
          <p:nvPicPr>
            <p:cNvPr id="20" name="图片 19"/>
            <p:cNvPicPr>
              <a:picLocks noChangeAspect="1"/>
            </p:cNvPicPr>
            <p:nvPr/>
          </p:nvPicPr>
          <p:blipFill>
            <a:blip r:embed="rId6" cstate="screen"/>
            <a:stretch>
              <a:fillRect/>
            </a:stretch>
          </p:blipFill>
          <p:spPr>
            <a:xfrm>
              <a:off x="5252314" y="5303520"/>
              <a:ext cx="443307" cy="1578173"/>
            </a:xfrm>
            <a:prstGeom prst="rect">
              <a:avLst/>
            </a:prstGeom>
          </p:spPr>
        </p:pic>
        <p:pic>
          <p:nvPicPr>
            <p:cNvPr id="21" name="图片 20"/>
            <p:cNvPicPr>
              <a:picLocks noChangeAspect="1"/>
            </p:cNvPicPr>
            <p:nvPr/>
          </p:nvPicPr>
          <p:blipFill>
            <a:blip r:embed="rId1" cstate="screen"/>
            <a:stretch>
              <a:fillRect/>
            </a:stretch>
          </p:blipFill>
          <p:spPr>
            <a:xfrm>
              <a:off x="8443949" y="4395407"/>
              <a:ext cx="687984" cy="2449223"/>
            </a:xfrm>
            <a:prstGeom prst="rect">
              <a:avLst/>
            </a:prstGeom>
          </p:spPr>
        </p:pic>
        <p:pic>
          <p:nvPicPr>
            <p:cNvPr id="22" name="图片 21"/>
            <p:cNvPicPr>
              <a:picLocks noChangeAspect="1"/>
            </p:cNvPicPr>
            <p:nvPr/>
          </p:nvPicPr>
          <p:blipFill>
            <a:blip r:embed="rId3" cstate="screen"/>
            <a:stretch>
              <a:fillRect/>
            </a:stretch>
          </p:blipFill>
          <p:spPr>
            <a:xfrm>
              <a:off x="5873541" y="4784202"/>
              <a:ext cx="523156" cy="2060429"/>
            </a:xfrm>
            <a:prstGeom prst="rect">
              <a:avLst/>
            </a:prstGeom>
          </p:spPr>
        </p:pic>
        <p:pic>
          <p:nvPicPr>
            <p:cNvPr id="23" name="图片 22"/>
            <p:cNvPicPr>
              <a:picLocks noChangeAspect="1"/>
            </p:cNvPicPr>
            <p:nvPr/>
          </p:nvPicPr>
          <p:blipFill>
            <a:blip r:embed="rId4" cstate="screen"/>
            <a:stretch>
              <a:fillRect/>
            </a:stretch>
          </p:blipFill>
          <p:spPr>
            <a:xfrm>
              <a:off x="6691608" y="5799601"/>
              <a:ext cx="235236" cy="1045029"/>
            </a:xfrm>
            <a:prstGeom prst="rect">
              <a:avLst/>
            </a:prstGeom>
          </p:spPr>
        </p:pic>
        <p:pic>
          <p:nvPicPr>
            <p:cNvPr id="24" name="图片 23"/>
            <p:cNvPicPr>
              <a:picLocks noChangeAspect="1"/>
            </p:cNvPicPr>
            <p:nvPr/>
          </p:nvPicPr>
          <p:blipFill>
            <a:blip r:embed="rId5" cstate="screen"/>
            <a:stretch>
              <a:fillRect/>
            </a:stretch>
          </p:blipFill>
          <p:spPr>
            <a:xfrm>
              <a:off x="7061171" y="4537314"/>
              <a:ext cx="523155" cy="2324101"/>
            </a:xfrm>
            <a:prstGeom prst="rect">
              <a:avLst/>
            </a:prstGeom>
          </p:spPr>
        </p:pic>
        <p:pic>
          <p:nvPicPr>
            <p:cNvPr id="25" name="图片 24"/>
            <p:cNvPicPr>
              <a:picLocks noChangeAspect="1"/>
            </p:cNvPicPr>
            <p:nvPr/>
          </p:nvPicPr>
          <p:blipFill>
            <a:blip r:embed="rId2" cstate="screen"/>
            <a:stretch>
              <a:fillRect/>
            </a:stretch>
          </p:blipFill>
          <p:spPr>
            <a:xfrm>
              <a:off x="8255222" y="5326143"/>
              <a:ext cx="349913" cy="1554480"/>
            </a:xfrm>
            <a:prstGeom prst="rect">
              <a:avLst/>
            </a:prstGeom>
          </p:spPr>
        </p:pic>
        <p:pic>
          <p:nvPicPr>
            <p:cNvPr id="26" name="图片 25"/>
            <p:cNvPicPr>
              <a:picLocks noChangeAspect="1"/>
            </p:cNvPicPr>
            <p:nvPr/>
          </p:nvPicPr>
          <p:blipFill>
            <a:blip r:embed="rId3" cstate="screen"/>
            <a:stretch>
              <a:fillRect/>
            </a:stretch>
          </p:blipFill>
          <p:spPr>
            <a:xfrm>
              <a:off x="9415558" y="4820194"/>
              <a:ext cx="523156" cy="2060429"/>
            </a:xfrm>
            <a:prstGeom prst="rect">
              <a:avLst/>
            </a:prstGeom>
          </p:spPr>
        </p:pic>
        <p:pic>
          <p:nvPicPr>
            <p:cNvPr id="27" name="图片 26"/>
            <p:cNvPicPr>
              <a:picLocks noChangeAspect="1"/>
            </p:cNvPicPr>
            <p:nvPr/>
          </p:nvPicPr>
          <p:blipFill>
            <a:blip r:embed="rId3" cstate="screen"/>
            <a:stretch>
              <a:fillRect/>
            </a:stretch>
          </p:blipFill>
          <p:spPr>
            <a:xfrm>
              <a:off x="7824652" y="5737939"/>
              <a:ext cx="523156" cy="2060429"/>
            </a:xfrm>
            <a:prstGeom prst="rect">
              <a:avLst/>
            </a:prstGeom>
          </p:spPr>
        </p:pic>
      </p:grpSp>
      <p:sp>
        <p:nvSpPr>
          <p:cNvPr id="6" name="椭圆 5"/>
          <p:cNvSpPr/>
          <p:nvPr/>
        </p:nvSpPr>
        <p:spPr>
          <a:xfrm>
            <a:off x="3492910" y="825910"/>
            <a:ext cx="5206180" cy="5206180"/>
          </a:xfrm>
          <a:prstGeom prst="ellipse">
            <a:avLst/>
          </a:prstGeom>
          <a:noFill/>
          <a:ln w="53975" cap="rnd">
            <a:solidFill>
              <a:srgbClr val="536482"/>
            </a:solidFill>
            <a:prstDash val="sysDot"/>
            <a:round/>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椭圆 1"/>
          <p:cNvSpPr/>
          <p:nvPr/>
        </p:nvSpPr>
        <p:spPr>
          <a:xfrm>
            <a:off x="4116000" y="1449000"/>
            <a:ext cx="3960000" cy="3960000"/>
          </a:xfrm>
          <a:prstGeom prst="ellipse">
            <a:avLst/>
          </a:prstGeom>
          <a:solidFill>
            <a:schemeClr val="bg1"/>
          </a:solidFill>
          <a:ln>
            <a:noFill/>
          </a:ln>
          <a:effectLst>
            <a:outerShdw blurRad="381000" sx="102000" sy="102000" algn="ct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5556161" y="890550"/>
            <a:ext cx="1301839" cy="1107996"/>
          </a:xfrm>
          <a:prstGeom prst="rect">
            <a:avLst/>
          </a:prstGeom>
          <a:noFill/>
        </p:spPr>
        <p:txBody>
          <a:bodyPr wrap="square" rtlCol="0">
            <a:spAutoFit/>
          </a:bodyPr>
          <a:lstStyle/>
          <a:p>
            <a:r>
              <a:rPr lang="en-US" altLang="zh-CN" sz="6600" dirty="0">
                <a:solidFill>
                  <a:srgbClr val="536482"/>
                </a:solidFill>
                <a:cs typeface="+mn-ea"/>
                <a:sym typeface="+mn-lt"/>
              </a:rPr>
              <a:t>02</a:t>
            </a:r>
            <a:endParaRPr lang="zh-CN" altLang="en-US" sz="6600" dirty="0">
              <a:solidFill>
                <a:srgbClr val="536482"/>
              </a:solidFill>
              <a:cs typeface="+mn-ea"/>
              <a:sym typeface="+mn-lt"/>
            </a:endParaRPr>
          </a:p>
        </p:txBody>
      </p:sp>
      <p:sp>
        <p:nvSpPr>
          <p:cNvPr id="9" name="文本框 8"/>
          <p:cNvSpPr txBox="1"/>
          <p:nvPr/>
        </p:nvSpPr>
        <p:spPr>
          <a:xfrm>
            <a:off x="4426674" y="2367171"/>
            <a:ext cx="3461931" cy="2192718"/>
          </a:xfrm>
          <a:prstGeom prst="rect">
            <a:avLst/>
          </a:prstGeom>
          <a:noFill/>
        </p:spPr>
        <p:txBody>
          <a:bodyPr wrap="square" rtlCol="0">
            <a:spAutoFit/>
          </a:bodyPr>
          <a:lstStyle/>
          <a:p>
            <a:pPr algn="ctr"/>
            <a:r>
              <a:rPr lang="zh-CN" altLang="en-US" sz="4400" spc="300" dirty="0">
                <a:solidFill>
                  <a:srgbClr val="536482"/>
                </a:solidFill>
                <a:cs typeface="+mn-ea"/>
                <a:sym typeface="+mn-lt"/>
              </a:rPr>
              <a:t>启动第四次变革原因</a:t>
            </a:r>
            <a:endParaRPr lang="en-US" altLang="zh-CN" sz="4400" spc="300" dirty="0">
              <a:solidFill>
                <a:srgbClr val="536482"/>
              </a:solidFill>
              <a:cs typeface="+mn-ea"/>
              <a:sym typeface="+mn-lt"/>
            </a:endParaRPr>
          </a:p>
          <a:p>
            <a:pPr algn="ctr"/>
            <a:r>
              <a:rPr lang="zh-CN" altLang="en-US" sz="4400" spc="300" dirty="0">
                <a:solidFill>
                  <a:srgbClr val="536482"/>
                </a:solidFill>
                <a:cs typeface="+mn-ea"/>
                <a:sym typeface="+mn-lt"/>
              </a:rPr>
              <a:t>及推动措施</a:t>
            </a:r>
            <a:endParaRPr lang="zh-CN" altLang="en-US" sz="4400" spc="300" dirty="0">
              <a:solidFill>
                <a:srgbClr val="53648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p:bldLst>
  </p:timing>
</p:sld>
</file>

<file path=ppt/tags/tag1.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2.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3.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4.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5.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6.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7.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1.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2.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3.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4.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5.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6.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7.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8.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9.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20.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1.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2.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3.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4.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5.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6.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7.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8.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29.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0.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1.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2.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3.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4.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5.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6.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7.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8.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39.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40.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41.xml><?xml version="1.0" encoding="utf-8"?>
<p:tagLst xmlns:p="http://schemas.openxmlformats.org/presentationml/2006/main">
  <p:tag name="KSO_WM_DIAGRAM_VIRTUALLY_FRAME" val="{&quot;height&quot;:381.877874015748,&quot;left&quot;:0,&quot;top&quot;:118.00669291338582,&quot;width&quot;:950.2}"/>
</p:tagLst>
</file>

<file path=ppt/tags/tag42.xml><?xml version="1.0" encoding="utf-8"?>
<p:tagLst xmlns:p="http://schemas.openxmlformats.org/presentationml/2006/main">
  <p:tag name="KSO_WM_DIAGRAM_VIRTUALLY_FRAME" val="{&quot;height&quot;:381.877874015748,&quot;left&quot;:0,&quot;top&quot;:118.00669291338582,&quot;width&quot;:950.2}"/>
</p:tagLst>
</file>

<file path=ppt/tags/tag43.xml><?xml version="1.0" encoding="utf-8"?>
<p:tagLst xmlns:p="http://schemas.openxmlformats.org/presentationml/2006/main">
  <p:tag name="KSO_WM_DIAGRAM_VIRTUALLY_FRAME" val="{&quot;height&quot;:381.877874015748,&quot;left&quot;:0,&quot;top&quot;:118.00669291338582,&quot;width&quot;:950.2}"/>
</p:tagLst>
</file>

<file path=ppt/tags/tag44.xml><?xml version="1.0" encoding="utf-8"?>
<p:tagLst xmlns:p="http://schemas.openxmlformats.org/presentationml/2006/main">
  <p:tag name="KSO_WM_DIAGRAM_VIRTUALLY_FRAME" val="{&quot;height&quot;:381.877874015748,&quot;left&quot;:0,&quot;top&quot;:118.00669291338582,&quot;width&quot;:950.2}"/>
</p:tagLst>
</file>

<file path=ppt/tags/tag45.xml><?xml version="1.0" encoding="utf-8"?>
<p:tagLst xmlns:p="http://schemas.openxmlformats.org/presentationml/2006/main">
  <p:tag name="KSO_WM_DIAGRAM_VIRTUALLY_FRAME" val="{&quot;height&quot;:381.877874015748,&quot;left&quot;:0,&quot;top&quot;:118.00669291338582,&quot;width&quot;:950.2}"/>
</p:tagLst>
</file>

<file path=ppt/tags/tag46.xml><?xml version="1.0" encoding="utf-8"?>
<p:tagLst xmlns:p="http://schemas.openxmlformats.org/presentationml/2006/main">
  <p:tag name="KSO_WM_DIAGRAM_VIRTUALLY_FRAME" val="{&quot;height&quot;:381.877874015748,&quot;left&quot;:0,&quot;top&quot;:118.00669291338582,&quot;width&quot;:950.2}"/>
</p:tagLst>
</file>

<file path=ppt/tags/tag47.xml><?xml version="1.0" encoding="utf-8"?>
<p:tagLst xmlns:p="http://schemas.openxmlformats.org/presentationml/2006/main">
  <p:tag name="KSO_WM_DIAGRAM_VIRTUALLY_FRAME" val="{&quot;height&quot;:381.877874015748,&quot;left&quot;:0,&quot;top&quot;:118.00669291338582,&quot;width&quot;:950.2}"/>
</p:tagLst>
</file>

<file path=ppt/tags/tag48.xml><?xml version="1.0" encoding="utf-8"?>
<p:tagLst xmlns:p="http://schemas.openxmlformats.org/presentationml/2006/main">
  <p:tag name="KSO_WM_DIAGRAM_VIRTUALLY_FRAME" val="{&quot;height&quot;:381.877874015748,&quot;left&quot;:0,&quot;top&quot;:118.00669291338582,&quot;width&quot;:950.2}"/>
</p:tagLst>
</file>

<file path=ppt/tags/tag49.xml><?xml version="1.0" encoding="utf-8"?>
<p:tagLst xmlns:p="http://schemas.openxmlformats.org/presentationml/2006/main">
  <p:tag name="KSO_WM_DIAGRAM_VIRTUALLY_FRAME" val="{&quot;height&quot;:381.877874015748,&quot;left&quot;:0,&quot;top&quot;:118.00669291338582,&quot;width&quot;:950.2}"/>
</p:tagLst>
</file>

<file path=ppt/tags/tag50.xml><?xml version="1.0" encoding="utf-8"?>
<p:tagLst xmlns:p="http://schemas.openxmlformats.org/presentationml/2006/main">
  <p:tag name="KSO_WM_DIAGRAM_VIRTUALLY_FRAME" val="{&quot;height&quot;:381.877874015748,&quot;left&quot;:0,&quot;top&quot;:118.00669291338582,&quot;width&quot;:950.2}"/>
</p:tagLst>
</file>

<file path=ppt/tags/tag51.xml><?xml version="1.0" encoding="utf-8"?>
<p:tagLst xmlns:p="http://schemas.openxmlformats.org/presentationml/2006/main">
  <p:tag name="KSO_WM_DIAGRAM_VIRTUALLY_FRAME" val="{&quot;height&quot;:381.877874015748,&quot;left&quot;:0,&quot;top&quot;:118.00669291338582,&quot;width&quot;:950.2}"/>
</p:tagLst>
</file>

<file path=ppt/tags/tag52.xml><?xml version="1.0" encoding="utf-8"?>
<p:tagLst xmlns:p="http://schemas.openxmlformats.org/presentationml/2006/main">
  <p:tag name="KSO_WM_DIAGRAM_VIRTUALLY_FRAME" val="{&quot;height&quot;:381.877874015748,&quot;left&quot;:0,&quot;top&quot;:118.00669291338582,&quot;width&quot;:950.2}"/>
</p:tagLst>
</file>

<file path=ppt/tags/tag53.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4.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5.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6.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7.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8.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59.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0.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1.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2.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3.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4.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5.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6.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7.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8.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69.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70.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71.xml><?xml version="1.0" encoding="utf-8"?>
<p:tagLst xmlns:p="http://schemas.openxmlformats.org/presentationml/2006/main">
  <p:tag name="KSO_WM_DIAGRAM_VIRTUALLY_FRAME" val="{&quot;height&quot;:367.17653543307085,&quot;left&quot;:70.78385826771654,&quot;top&quot;:110.94133858267716,&quot;width&quot;:520.601968503937}"/>
</p:tagLst>
</file>

<file path=ppt/tags/tag72.xml><?xml version="1.0" encoding="utf-8"?>
<p:tagLst xmlns:p="http://schemas.openxmlformats.org/presentationml/2006/main">
  <p:tag name="KSO_WM_DIAGRAM_VIRTUALLY_FRAME" val="{&quot;height&quot;:326.45937007874016,&quot;left&quot;:0,&quot;top&quot;:122.60669291338581,&quot;width&quot;:960}"/>
</p:tagLst>
</file>

<file path=ppt/tags/tag73.xml><?xml version="1.0" encoding="utf-8"?>
<p:tagLst xmlns:p="http://schemas.openxmlformats.org/presentationml/2006/main">
  <p:tag name="KSO_WM_DIAGRAM_VIRTUALLY_FRAME" val="{&quot;height&quot;:326.45937007874016,&quot;left&quot;:0,&quot;top&quot;:122.60669291338581,&quot;width&quot;:960}"/>
</p:tagLst>
</file>

<file path=ppt/tags/tag74.xml><?xml version="1.0" encoding="utf-8"?>
<p:tagLst xmlns:p="http://schemas.openxmlformats.org/presentationml/2006/main">
  <p:tag name="KSO_WM_DIAGRAM_VIRTUALLY_FRAME" val="{&quot;height&quot;:326.45937007874016,&quot;left&quot;:0,&quot;top&quot;:122.60669291338581,&quot;width&quot;:960}"/>
</p:tagLst>
</file>

<file path=ppt/tags/tag75.xml><?xml version="1.0" encoding="utf-8"?>
<p:tagLst xmlns:p="http://schemas.openxmlformats.org/presentationml/2006/main">
  <p:tag name="KSO_WM_DIAGRAM_VIRTUALLY_FRAME" val="{&quot;height&quot;:326.45937007874016,&quot;left&quot;:0,&quot;top&quot;:122.60669291338581,&quot;width&quot;:960}"/>
</p:tagLst>
</file>

<file path=ppt/tags/tag76.xml><?xml version="1.0" encoding="utf-8"?>
<p:tagLst xmlns:p="http://schemas.openxmlformats.org/presentationml/2006/main">
  <p:tag name="KSO_WM_DIAGRAM_VIRTUALLY_FRAME" val="{&quot;height&quot;:326.45937007874016,&quot;left&quot;:0,&quot;top&quot;:122.60669291338581,&quot;width&quot;:960}"/>
</p:tagLst>
</file>

<file path=ppt/tags/tag77.xml><?xml version="1.0" encoding="utf-8"?>
<p:tagLst xmlns:p="http://schemas.openxmlformats.org/presentationml/2006/main">
  <p:tag name="KSO_WM_DIAGRAM_VIRTUALLY_FRAME" val="{&quot;height&quot;:326.45937007874016,&quot;left&quot;:0,&quot;top&quot;:122.60669291338581,&quot;width&quot;:960}"/>
</p:tagLst>
</file>

<file path=ppt/tags/tag78.xml><?xml version="1.0" encoding="utf-8"?>
<p:tagLst xmlns:p="http://schemas.openxmlformats.org/presentationml/2006/main">
  <p:tag name="KSO_WM_DIAGRAM_VIRTUALLY_FRAME" val="{&quot;height&quot;:326.45937007874016,&quot;left&quot;:0,&quot;top&quot;:122.60669291338581,&quot;width&quot;:960}"/>
</p:tagLst>
</file>

<file path=ppt/tags/tag79.xml><?xml version="1.0" encoding="utf-8"?>
<p:tagLst xmlns:p="http://schemas.openxmlformats.org/presentationml/2006/main">
  <p:tag name="KSO_WM_DIAGRAM_VIRTUALLY_FRAME" val="{&quot;height&quot;:326.45937007874016,&quot;left&quot;:0,&quot;top&quot;:122.60669291338581,&quot;width&quot;:960}"/>
</p:tagLst>
</file>

<file path=ppt/tags/tag80.xml><?xml version="1.0" encoding="utf-8"?>
<p:tagLst xmlns:p="http://schemas.openxmlformats.org/presentationml/2006/main">
  <p:tag name="KSO_WM_DIAGRAM_VIRTUALLY_FRAME" val="{&quot;height&quot;:326.45937007874016,&quot;left&quot;:0,&quot;top&quot;:122.60669291338581,&quot;width&quot;:960}"/>
</p:tagLst>
</file>

<file path=ppt/tags/tag81.xml><?xml version="1.0" encoding="utf-8"?>
<p:tagLst xmlns:p="http://schemas.openxmlformats.org/presentationml/2006/main">
  <p:tag name="KSO_WM_DIAGRAM_VIRTUALLY_FRAME" val="{&quot;height&quot;:326.45937007874016,&quot;left&quot;:0,&quot;top&quot;:122.60669291338581,&quot;width&quot;:960}"/>
</p:tagLst>
</file>

<file path=ppt/tags/tag82.xml><?xml version="1.0" encoding="utf-8"?>
<p:tagLst xmlns:p="http://schemas.openxmlformats.org/presentationml/2006/main">
  <p:tag name="KSO_WM_DIAGRAM_VIRTUALLY_FRAME" val="{&quot;height&quot;:326.45937007874016,&quot;left&quot;:0,&quot;top&quot;:122.60669291338581,&quot;width&quot;:960}"/>
</p:tagLst>
</file>

<file path=ppt/tags/tag83.xml><?xml version="1.0" encoding="utf-8"?>
<p:tagLst xmlns:p="http://schemas.openxmlformats.org/presentationml/2006/main">
  <p:tag name="KSO_WM_DIAGRAM_VIRTUALLY_FRAME" val="{&quot;height&quot;:326.45937007874016,&quot;left&quot;:0,&quot;top&quot;:122.60669291338581,&quot;width&quot;:960}"/>
</p:tagLst>
</file>

<file path=ppt/tags/tag84.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5.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6.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7.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8.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89.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0.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1.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2.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3.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4.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5.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6.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7.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8.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99.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0.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1.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2.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3.xml><?xml version="1.0" encoding="utf-8"?>
<p:tagLst xmlns:p="http://schemas.openxmlformats.org/presentationml/2006/main">
  <p:tag name="KSO_WM_DIAGRAM_VIRTUALLY_FRAME" val="{&quot;height&quot;:305.10141732283466,&quot;left&quot;:414.6358267716535,&quot;top&quot;:140.8064566929134,&quot;width&quot;:491.0914173228347}"/>
</p:tagLst>
</file>

<file path=ppt/tags/tag104.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05.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06.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07.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08.xml><?xml version="1.0" encoding="utf-8"?>
<p:tagLst xmlns:p="http://schemas.openxmlformats.org/presentationml/2006/main">
  <p:tag name="KSO_WM_DIAGRAM_VIRTUALLY_FRAME" val="{&quot;height&quot;:241.07637795275596,&quot;left&quot;:96.56322834645671,&quot;top&quot;:201.43787401574804,&quot;width&quot;:789.7725984251969}"/>
</p:tagLst>
</file>

<file path=ppt/tags/tag109.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0.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1.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2.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3.xml><?xml version="1.0" encoding="utf-8"?>
<p:tagLst xmlns:p="http://schemas.openxmlformats.org/presentationml/2006/main">
  <p:tag name="KSO_WM_DIAGRAM_VIRTUALLY_FRAME" val="{&quot;height&quot;:241.07637795275596,&quot;left&quot;:96.56322834645671,&quot;top&quot;:201.43787401574804,&quot;width&quot;:789.7725984251969}"/>
</p:tagLst>
</file>

<file path=ppt/tags/tag114.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5.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6.xml><?xml version="1.0" encoding="utf-8"?>
<p:tagLst xmlns:p="http://schemas.openxmlformats.org/presentationml/2006/main">
  <p:tag name="KSO_WM_DIAGRAM_VIRTUALLY_FRAME" val="{&quot;height&quot;:241.07637795275596,&quot;left&quot;:96.56322834645671,&quot;top&quot;:201.43787401574804,&quot;width&quot;:789.7725984251969}"/>
</p:tagLst>
</file>

<file path=ppt/tags/tag117.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8.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19.xml><?xml version="1.0" encoding="utf-8"?>
<p:tagLst xmlns:p="http://schemas.openxmlformats.org/presentationml/2006/main">
  <p:tag name="KSO_WM_DIAGRAM_VIRTUALLY_FRAME" val="{&quot;height&quot;:241.07637795275596,&quot;left&quot;:96.56322834645671,&quot;top&quot;:201.43787401574804,&quot;width&quot;:789.7725984251969}"/>
</p:tagLst>
</file>

<file path=ppt/tags/tag120.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21.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22.xml><?xml version="1.0" encoding="utf-8"?>
<p:tagLst xmlns:p="http://schemas.openxmlformats.org/presentationml/2006/main">
  <p:tag name="KSO_WM_DIAGRAM_VIRTUALLY_FRAME" val="{&quot;height&quot;:241.07637795275596,&quot;left&quot;:96.56322834645671,&quot;top&quot;:201.43787401574804,&quot;width&quot;:789.7725984251969}"/>
</p:tagLst>
</file>

<file path=ppt/tags/tag123.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24.xml><?xml version="1.0" encoding="utf-8"?>
<p:tagLst xmlns:p="http://schemas.openxmlformats.org/presentationml/2006/main">
  <p:tag name="KSO_WM_DIAGRAM_VIRTUALLY_FRAME" val="{&quot;height&quot;:241.07637795275596,&quot;left&quot;:97.11322834645671,&quot;top&quot;:201.43787401574804,&quot;width&quot;:789.7725984251969}"/>
</p:tagLst>
</file>

<file path=ppt/tags/tag125.xml><?xml version="1.0" encoding="utf-8"?>
<p:tagLst xmlns:p="http://schemas.openxmlformats.org/presentationml/2006/main">
  <p:tag name="ISPRING_PRESENTATION_TITLE" val="1103"/>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rhzbpe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3614</Words>
  <Application>WPS 演示</Application>
  <PresentationFormat>宽屏</PresentationFormat>
  <Paragraphs>368</Paragraphs>
  <Slides>36</Slides>
  <Notes>36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36</vt:i4>
      </vt:variant>
    </vt:vector>
  </HeadingPairs>
  <TitlesOfParts>
    <vt:vector size="49" baseType="lpstr">
      <vt:lpstr>Arial</vt:lpstr>
      <vt:lpstr>宋体</vt:lpstr>
      <vt:lpstr>Wingdings</vt:lpstr>
      <vt:lpstr>字魂35号-经典雅黑</vt:lpstr>
      <vt:lpstr>黑体</vt:lpstr>
      <vt:lpstr>方正正黑简体</vt:lpstr>
      <vt:lpstr>微软雅黑</vt:lpstr>
      <vt:lpstr>Arial Unicode MS</vt:lpstr>
      <vt:lpstr>等线</vt:lpstr>
      <vt:lpstr>思源黑体 CN Regular</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dc:title>
  <dc:creator>22</dc:creator>
  <cp:keywords>www.1ppt.com</cp:keywords>
  <dc:description>www.1ppt.com</dc:description>
  <cp:lastModifiedBy>猫巷 ° -</cp:lastModifiedBy>
  <cp:revision>243</cp:revision>
  <dcterms:created xsi:type="dcterms:W3CDTF">2019-11-06T07:08:00Z</dcterms:created>
  <dcterms:modified xsi:type="dcterms:W3CDTF">2024-11-27T13:35:09Z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ED88A5F3170446139FAB5763D70CD88C_12</vt:lpwstr>
  </property>
  <property fmtid="{D5CDD505-2E9C-101B-9397-08002B2CF9AE}" pid="3" name="KSOProductBuildVer">
    <vt:lpwstr>2052-12.1.0.18912</vt:lpwstr>
  </property>
</Properties>
</file>